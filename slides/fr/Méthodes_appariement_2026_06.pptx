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99" r:id="rId3"/>
    <p:sldId id="298" r:id="rId4"/>
    <p:sldId id="292" r:id="rId5"/>
    <p:sldId id="257" r:id="rId6"/>
    <p:sldId id="296" r:id="rId7"/>
    <p:sldId id="29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90" r:id="rId16"/>
    <p:sldId id="295" r:id="rId17"/>
    <p:sldId id="285" r:id="rId18"/>
    <p:sldId id="267" r:id="rId19"/>
    <p:sldId id="287" r:id="rId20"/>
    <p:sldId id="269" r:id="rId21"/>
    <p:sldId id="270" r:id="rId22"/>
    <p:sldId id="288" r:id="rId23"/>
    <p:sldId id="291" r:id="rId24"/>
    <p:sldId id="272" r:id="rId25"/>
    <p:sldId id="293" r:id="rId26"/>
    <p:sldId id="294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7458" autoAdjust="0"/>
  </p:normalViewPr>
  <p:slideViewPr>
    <p:cSldViewPr snapToGrid="0" snapToObjects="1">
      <p:cViewPr varScale="1">
        <p:scale>
          <a:sx n="85" d="100"/>
          <a:sy n="85" d="100"/>
        </p:scale>
        <p:origin x="403" y="5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1825625"/>
            <a:ext cx="5486400" cy="531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32285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9982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28408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A8C43-F76D-5ACE-F361-CF3C708A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041F1-3484-1462-9F18-6BA6CCB18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82393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43059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450709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6092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5301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Notes (français)</a:t>
            </a:r>
            <a:endParaRPr lang="fr-FR" dirty="0"/>
          </a:p>
          <a:p>
            <a:r>
              <a:rPr lang="fr-FR" dirty="0"/>
              <a:t>Là il faut être honnête : ce n’est pas qu’un détail technique.</a:t>
            </a:r>
          </a:p>
          <a:p>
            <a:r>
              <a:rPr lang="fr-FR" dirty="0"/>
              <a:t>Quand on restreint l’analyse au support commun, on change la population sur laquelle porte le résultat.</a:t>
            </a:r>
          </a:p>
          <a:p>
            <a:r>
              <a:rPr lang="fr-FR" dirty="0"/>
              <a:t>Du coup, l’effet qu’on estime ne vaut plus pour toutes les aires protégées, mais seulement pour celles qu’on a réussi à apparier. Il faut le dire clairement quand on communique les résultats.</a:t>
            </a:r>
          </a:p>
          <a:p>
            <a:endParaRPr lang="fr-FR"/>
          </a:p>
          <a:p>
            <a:r>
              <a:rPr lang="de-DE" b="1" dirty="0"/>
              <a:t>Notizen (Deutsch)</a:t>
            </a:r>
            <a:endParaRPr lang="de-DE" dirty="0"/>
          </a:p>
          <a:p>
            <a:r>
              <a:rPr lang="de-DE" dirty="0"/>
              <a:t>Hier wichtig: nicht nur ein technisches Detail.</a:t>
            </a:r>
          </a:p>
          <a:p>
            <a:r>
              <a:rPr lang="de-DE" dirty="0"/>
              <a:t>Die Beschneidung auf den gemeinsamen Träger verändert die Zielpopulation.</a:t>
            </a:r>
          </a:p>
          <a:p>
            <a:r>
              <a:rPr lang="de-DE" dirty="0"/>
              <a:t>Der geschätzte Effekt gilt dann nicht für alle Schutzgebiete, sondern nur für die gematchten. Bei der Kommunikation klar sagen.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77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20000"/>
            <a:ext cx="8229600" cy="7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Title Accent Bar"/>
          <p:cNvSpPr/>
          <p:nvPr userDrawn="1"/>
        </p:nvSpPr>
        <p:spPr>
          <a:xfrm>
            <a:off x="457200" y="1100000"/>
            <a:ext cx="685800" cy="45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ooter Accent Bar"/>
          <p:cNvSpPr/>
          <p:nvPr userDrawn="1"/>
        </p:nvSpPr>
        <p:spPr>
          <a:xfrm>
            <a:off x="0" y="5121275"/>
            <a:ext cx="9144000" cy="228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342900" rtl="0" eaLnBrk="1" latinLnBrk="0" hangingPunct="1">
        <a:spcBef>
          <a:spcPct val="0"/>
        </a:spcBef>
        <a:buNone/>
        <a:defRPr sz="30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5000"/>
        </a:spcBef>
        <a:buClr>
          <a:schemeClr val="accent1"/>
        </a:buClr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Clr>
          <a:schemeClr val="accent2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d’appariement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Atelier </a:t>
            </a:r>
            <a:r>
              <a:rPr dirty="0" err="1"/>
              <a:t>Mapme</a:t>
            </a:r>
            <a:r>
              <a:rPr dirty="0"/>
              <a:t> : Evaluation </a:t>
            </a:r>
            <a:r>
              <a:rPr dirty="0" err="1"/>
              <a:t>d’impact</a:t>
            </a:r>
            <a:r>
              <a:rPr dirty="0"/>
              <a:t> sur données </a:t>
            </a:r>
            <a:r>
              <a:rPr dirty="0" err="1"/>
              <a:t>spatiales</a:t>
            </a:r>
            <a:br>
              <a:rPr dirty="0"/>
            </a:br>
            <a:br>
              <a:rPr dirty="0"/>
            </a:br>
            <a:r>
              <a:rPr dirty="0"/>
              <a:t>Florent </a:t>
            </a:r>
            <a:r>
              <a:rPr dirty="0" err="1"/>
              <a:t>Bédécarrats</a:t>
            </a:r>
            <a:r>
              <a:rPr dirty="0"/>
              <a:t>, Melvin Wong (sur </a:t>
            </a:r>
            <a:r>
              <a:rPr dirty="0" err="1"/>
              <a:t>une</a:t>
            </a:r>
            <a:r>
              <a:rPr dirty="0"/>
              <a:t> base </a:t>
            </a:r>
            <a:r>
              <a:rPr dirty="0" err="1"/>
              <a:t>élaborée</a:t>
            </a:r>
            <a:r>
              <a:rPr dirty="0"/>
              <a:t> par Jeanne de Montalembert et Marin Ferry)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2026-06-18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Agenda</a:t>
            </a:r>
          </a:p>
        </p:txBody>
      </p:sp>
      <p:sp>
        <p:nvSpPr>
          <p:cNvPr id="10" name="Triangle haut"/>
          <p:cNvSpPr/>
          <p:nvPr/>
        </p:nvSpPr>
        <p:spPr>
          <a:xfrm>
            <a:off x="1200000" y="1500000"/>
            <a:ext cx="3000000" cy="1000000"/>
          </a:xfrm>
          <a:custGeom>
            <a:avLst/>
            <a:gdLst/>
            <a:ahLst/>
            <a:cxnLst/>
            <a:rect l="0" t="0" r="3000000" b="1000000"/>
            <a:pathLst>
              <a:path w="3000000" h="1000000">
                <a:moveTo>
                  <a:pt x="0" y="0"/>
                </a:moveTo>
                <a:lnTo>
                  <a:pt x="3000000" y="0"/>
                </a:lnTo>
                <a:lnTo>
                  <a:pt x="2500000" y="1000000"/>
                </a:lnTo>
                <a:lnTo>
                  <a:pt x="500000" y="1000000"/>
                </a:lnTo>
                <a:close/>
              </a:path>
            </a:pathLst>
          </a:custGeom>
          <a:solidFill>
            <a:srgbClr val="0F6CBD"/>
          </a:solidFill>
          <a:ln w="9525">
            <a:solidFill>
              <a:srgbClr val="1E3A5F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Triangle milieu"/>
          <p:cNvSpPr/>
          <p:nvPr/>
        </p:nvSpPr>
        <p:spPr>
          <a:xfrm>
            <a:off x="1700000" y="2500000"/>
            <a:ext cx="2000000" cy="1000000"/>
          </a:xfrm>
          <a:custGeom>
            <a:avLst/>
            <a:gdLst/>
            <a:ahLst/>
            <a:cxnLst/>
            <a:rect l="0" t="0" r="2000000" b="1000000"/>
            <a:pathLst>
              <a:path w="2000000" h="1000000">
                <a:moveTo>
                  <a:pt x="0" y="0"/>
                </a:moveTo>
                <a:lnTo>
                  <a:pt x="2000000" y="0"/>
                </a:lnTo>
                <a:lnTo>
                  <a:pt x="1500000" y="1000000"/>
                </a:lnTo>
                <a:lnTo>
                  <a:pt x="500000" y="1000000"/>
                </a:lnTo>
                <a:close/>
              </a:path>
            </a:pathLst>
          </a:custGeom>
          <a:solidFill>
            <a:srgbClr val="5B9BD5"/>
          </a:solidFill>
          <a:ln w="9525">
            <a:solidFill>
              <a:srgbClr val="1E3A5F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Triangle bas"/>
          <p:cNvSpPr/>
          <p:nvPr/>
        </p:nvSpPr>
        <p:spPr>
          <a:xfrm>
            <a:off x="2200000" y="3500000"/>
            <a:ext cx="1000000" cy="1000000"/>
          </a:xfrm>
          <a:custGeom>
            <a:avLst/>
            <a:gdLst/>
            <a:ahLst/>
            <a:cxnLst/>
            <a:rect l="0" t="0" r="1000000" b="1000000"/>
            <a:pathLst>
              <a:path w="1000000" h="1000000">
                <a:moveTo>
                  <a:pt x="0" y="0"/>
                </a:moveTo>
                <a:lnTo>
                  <a:pt x="1000000" y="0"/>
                </a:lnTo>
                <a:lnTo>
                  <a:pt x="500000" y="1000000"/>
                </a:lnTo>
                <a:close/>
              </a:path>
            </a:pathLst>
          </a:custGeom>
          <a:solidFill>
            <a:srgbClr val="A9CCE3"/>
          </a:solidFill>
          <a:ln w="9525">
            <a:solidFill>
              <a:srgbClr val="1E3A5F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" name="Swatch 1"/>
          <p:cNvSpPr/>
          <p:nvPr/>
        </p:nvSpPr>
        <p:spPr>
          <a:xfrm>
            <a:off x="4600000" y="1875000"/>
            <a:ext cx="250000" cy="25000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" name="Swatch 2"/>
          <p:cNvSpPr/>
          <p:nvPr/>
        </p:nvSpPr>
        <p:spPr>
          <a:xfrm>
            <a:off x="4600000" y="2875000"/>
            <a:ext cx="250000" cy="25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" name="Swatch 3"/>
          <p:cNvSpPr/>
          <p:nvPr/>
        </p:nvSpPr>
        <p:spPr>
          <a:xfrm>
            <a:off x="4600000" y="3875000"/>
            <a:ext cx="250000" cy="250000"/>
          </a:xfrm>
          <a:prstGeom prst="rect">
            <a:avLst/>
          </a:prstGeom>
          <a:solidFill>
            <a:srgbClr val="A9CCE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0" name="Label 1"/>
          <p:cNvSpPr txBox="1"/>
          <p:nvPr/>
        </p:nvSpPr>
        <p:spPr>
          <a:xfrm>
            <a:off x="5000000" y="1650000"/>
            <a:ext cx="3500000" cy="700000"/>
          </a:xfrm>
          <a:prstGeom prst="rect">
            <a:avLst/>
          </a:prstGeom>
        </p:spPr>
        <p:txBody>
          <a:bodyPr wrap="square" rtlCol="0" anchor="ctr">
            <a:normAutofit lnSpcReduction="10000"/>
          </a:bodyPr>
          <a:lstStyle/>
          <a:p>
            <a:r>
              <a:rPr lang="fr-FR" sz="2000" b="1" dirty="0">
                <a:solidFill>
                  <a:srgbClr val="0F6CBD"/>
                </a:solidFill>
              </a:rPr>
              <a:t>1. </a:t>
            </a:r>
            <a:r>
              <a:rPr lang="de-DE" sz="2000" b="1" dirty="0" err="1">
                <a:solidFill>
                  <a:srgbClr val="1E3A5F"/>
                </a:solidFill>
              </a:rPr>
              <a:t>Méthodes</a:t>
            </a:r>
            <a:r>
              <a:rPr lang="de-DE" sz="2000" b="1" dirty="0">
                <a:solidFill>
                  <a:srgbClr val="1E3A5F"/>
                </a:solidFill>
              </a:rPr>
              <a:t> </a:t>
            </a:r>
            <a:r>
              <a:rPr lang="de-DE" sz="2000" b="1" dirty="0" err="1">
                <a:solidFill>
                  <a:srgbClr val="1E3A5F"/>
                </a:solidFill>
              </a:rPr>
              <a:t>d’appariement</a:t>
            </a:r>
            <a:r>
              <a:rPr lang="de-DE" sz="2000" b="1" dirty="0">
                <a:solidFill>
                  <a:srgbClr val="1E3A5F"/>
                </a:solidFill>
              </a:rPr>
              <a:t>: </a:t>
            </a:r>
            <a:r>
              <a:rPr lang="fr-FR" sz="2000" b="1" dirty="0">
                <a:solidFill>
                  <a:srgbClr val="1E3A5F"/>
                </a:solidFill>
              </a:rPr>
              <a:t>Mais pourquoi ?</a:t>
            </a:r>
          </a:p>
        </p:txBody>
      </p:sp>
      <p:sp>
        <p:nvSpPr>
          <p:cNvPr id="31" name="Label 2"/>
          <p:cNvSpPr txBox="1"/>
          <p:nvPr/>
        </p:nvSpPr>
        <p:spPr>
          <a:xfrm>
            <a:off x="5000000" y="2650000"/>
            <a:ext cx="3500000" cy="7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r>
              <a:rPr lang="fr-FR" sz="2000" b="1">
                <a:solidFill>
                  <a:srgbClr val="5B9BD5"/>
                </a:solidFill>
              </a:rPr>
              <a:t>2.  </a:t>
            </a:r>
            <a:r>
              <a:rPr lang="fr-FR" sz="2000" b="1">
                <a:solidFill>
                  <a:srgbClr val="1E3A5F"/>
                </a:solidFill>
              </a:rPr>
              <a:t>Méthodes d’appariement</a:t>
            </a:r>
          </a:p>
        </p:txBody>
      </p:sp>
      <p:sp>
        <p:nvSpPr>
          <p:cNvPr id="32" name="Label 3"/>
          <p:cNvSpPr txBox="1"/>
          <p:nvPr/>
        </p:nvSpPr>
        <p:spPr>
          <a:xfrm>
            <a:off x="5000000" y="3650000"/>
            <a:ext cx="3500000" cy="700000"/>
          </a:xfrm>
          <a:prstGeom prst="rect">
            <a:avLst/>
          </a:prstGeom>
        </p:spPr>
        <p:txBody>
          <a:bodyPr wrap="square" rtlCol="0" anchor="ctr">
            <a:normAutofit/>
          </a:bodyPr>
          <a:lstStyle/>
          <a:p>
            <a:r>
              <a:rPr lang="fr-FR" sz="2000" b="1">
                <a:solidFill>
                  <a:srgbClr val="A9CCE3"/>
                </a:solidFill>
              </a:rPr>
              <a:t>3.  </a:t>
            </a:r>
            <a:r>
              <a:rPr lang="fr-FR" sz="2000" b="1">
                <a:solidFill>
                  <a:srgbClr val="1E3A5F"/>
                </a:solidFill>
              </a:rPr>
              <a:t>Propensity Score Matching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1BCE3FC-846B-BD5B-CBAB-1EBBF161B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Méthodes</a:t>
            </a:r>
            <a:r>
              <a:rPr lang="de-DE" dirty="0"/>
              <a:t> </a:t>
            </a:r>
            <a:r>
              <a:rPr lang="de-DE" dirty="0" err="1"/>
              <a:t>d’appariement</a:t>
            </a:r>
            <a:r>
              <a:rPr lang="de-DE" dirty="0"/>
              <a:t>: Mais </a:t>
            </a:r>
            <a:r>
              <a:rPr lang="de-DE" dirty="0" err="1"/>
              <a:t>Pourqoui</a:t>
            </a:r>
            <a:r>
              <a:rPr lang="de-DE" dirty="0"/>
              <a:t>?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FFA6EDAE-52A2-2F57-8193-46F71BE58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DF46DD12-63CF-4013-7934-ED425BDC1FFA}"/>
              </a:ext>
            </a:extLst>
          </p:cNvPr>
          <p:cNvGrpSpPr/>
          <p:nvPr/>
        </p:nvGrpSpPr>
        <p:grpSpPr>
          <a:xfrm>
            <a:off x="7352330" y="180000"/>
            <a:ext cx="1343435" cy="1500000"/>
            <a:chOff x="3380965" y="180000"/>
            <a:chExt cx="1343435" cy="1500000"/>
          </a:xfrm>
        </p:grpSpPr>
        <p:sp>
          <p:nvSpPr>
            <p:cNvPr id="50" name="Outline triangle - haut"/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1" name="Outline triangle - milieu"/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2" name="Outline triangle - bas"/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249420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A0D478-1F21-3166-AC9A-861DD0BD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Inférence</a:t>
            </a:r>
            <a:r>
              <a:rPr lang="de-DE" dirty="0"/>
              <a:t> </a:t>
            </a:r>
            <a:r>
              <a:rPr lang="de-DE" dirty="0" err="1"/>
              <a:t>causale</a:t>
            </a:r>
            <a:r>
              <a:rPr lang="de-DE" dirty="0"/>
              <a:t> </a:t>
            </a:r>
            <a:r>
              <a:rPr lang="de-DE" dirty="0" err="1"/>
              <a:t>sans</a:t>
            </a:r>
            <a:r>
              <a:rPr lang="de-DE" dirty="0"/>
              <a:t> </a:t>
            </a:r>
            <a:r>
              <a:rPr lang="de-DE" dirty="0" err="1"/>
              <a:t>randomisation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4754F1C-4734-8CE6-5548-1C9FDCAD5C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u="sng" dirty="0"/>
              <a:t>Le problème</a:t>
            </a:r>
          </a:p>
          <a:p>
            <a:pPr marL="0" indent="0">
              <a:buNone/>
            </a:pPr>
            <a:r>
              <a:rPr lang="fr-FR" dirty="0"/>
              <a:t>Les </a:t>
            </a:r>
            <a:r>
              <a:rPr lang="fr-FR" b="1" dirty="0"/>
              <a:t>essais contrôlés randomisés (ECR) sont considérés comme la référence absolue </a:t>
            </a:r>
            <a:r>
              <a:rPr lang="fr-FR" dirty="0"/>
              <a:t>de l'inférence causale. Dans de nombreuses disciplines: économie, épidémiologie, conservation, sciences politiques. Ils restent </a:t>
            </a:r>
            <a:r>
              <a:rPr lang="fr-FR" b="1" dirty="0"/>
              <a:t>toutefois impossibles à mettre en œuvre </a:t>
            </a:r>
            <a:r>
              <a:rPr lang="fr-FR" dirty="0"/>
              <a:t>pour des raisons éthiques, logistiques ou politiques.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u="sng" dirty="0"/>
              <a:t>Biais de sélection</a:t>
            </a:r>
          </a:p>
          <a:p>
            <a:pPr marL="0" indent="0">
              <a:buNone/>
            </a:pPr>
            <a:r>
              <a:rPr lang="fr-FR" b="1" dirty="0"/>
              <a:t>Dans les études d'observation</a:t>
            </a:r>
            <a:r>
              <a:rPr lang="fr-FR" dirty="0"/>
              <a:t>, le traitement n'est pas attribué aléatoirement. Les </a:t>
            </a:r>
            <a:r>
              <a:rPr lang="fr-FR" b="1" dirty="0"/>
              <a:t>groupes traité et contrôle diffèrent systématiquement </a:t>
            </a:r>
            <a:r>
              <a:rPr lang="fr-FR" dirty="0"/>
              <a:t>sur des caractéristiques observées et non observées — les comparaisons naïves des moyennes sont biaisées.</a:t>
            </a:r>
          </a:p>
          <a:p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3DA97A5-B79B-F98E-5F34-E11611FC4F80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42C90FC2-8B4C-1C30-FDF5-C4AE75ACE98A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30DA5F80-C006-67C0-6ECC-36BA74AFF798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6E7799DA-A0AA-E219-91AA-9708E3CEEFB8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332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Aire</a:t>
            </a:r>
            <a:r>
              <a:rPr lang="de-DE" dirty="0"/>
              <a:t> </a:t>
            </a:r>
            <a:r>
              <a:rPr lang="de-DE" dirty="0" err="1"/>
              <a:t>Protégée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6014545" cy="3394472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fr-FR" sz="1600" noProof="0" dirty="0"/>
                  <a:t>Est-ce que le statut d’Aire Protégée a un impact sur le couvert forestier ?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C’est-à-dire 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de-DE" sz="1600" b="0" i="0" noProof="0" smtClean="0">
                          <a:latin typeface="Cambria Math" panose="02040503050406030204" pitchFamily="18" charset="0"/>
                        </a:rPr>
                        <m:t>CF</m:t>
                      </m:r>
                      <m:r>
                        <a:rPr lang="de-DE" sz="1600" b="0" i="0" noProof="0" smtClean="0">
                          <a:latin typeface="Cambria Math" panose="02040503050406030204" pitchFamily="18" charset="0"/>
                        </a:rPr>
                        <m:t>1|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=1]−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de-DE" sz="1600" b="0" i="0" noProof="0" smtClean="0">
                          <a:latin typeface="Cambria Math" panose="02040503050406030204" pitchFamily="18" charset="0"/>
                        </a:rPr>
                        <m:t>CF</m:t>
                      </m:r>
                      <m:r>
                        <a:rPr lang="de-DE" sz="1600" b="0" i="0" noProof="0" smtClean="0">
                          <a:latin typeface="Cambria Math" panose="02040503050406030204" pitchFamily="18" charset="0"/>
                        </a:rPr>
                        <m:t>0|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=1]</m:t>
                      </m:r>
                    </m:oMath>
                  </m:oMathPara>
                </a14:m>
                <a:endParaRPr lang="fr-FR" sz="1600" noProof="0" dirty="0"/>
              </a:p>
              <a:p>
                <a:pPr marL="0" lvl="0" indent="0">
                  <a:buNone/>
                </a:pPr>
                <a:r>
                  <a:rPr lang="fr-FR" sz="1600" noProof="0" dirty="0"/>
                  <a:t>avec </a:t>
                </a:r>
                <a14:m>
                  <m:oMath xmlns:m="http://schemas.openxmlformats.org/officeDocument/2006/math">
                    <m:r>
                      <a:rPr lang="fr-FR" sz="1600" noProof="0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fr-FR" sz="1600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sz="1600" noProof="0" dirty="0"/>
                  <a:t> le couvert forestier d’une zone si c’est une AP et </a:t>
                </a:r>
                <a14:m>
                  <m:oMath xmlns:m="http://schemas.openxmlformats.org/officeDocument/2006/math">
                    <m:r>
                      <a:rPr lang="fr-FR" sz="1600" noProof="0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fr-FR" sz="1600" noProof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1600" noProof="0" dirty="0"/>
                  <a:t> le couvert forestier si ce n’est pas une AP, </a:t>
                </a:r>
                <a:r>
                  <a:rPr lang="fr-FR" sz="1600" b="1" noProof="0" dirty="0"/>
                  <a:t>pour la même zone et au même moment</a:t>
                </a:r>
                <a:r>
                  <a:rPr lang="fr-FR" sz="1600" noProof="0" dirty="0"/>
                  <a:t>.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. . .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Le problème évident est qu’on n’observe jamais simultanément les deux états pour la même unité. On a déjà vu le problème: </a:t>
                </a:r>
                <a:r>
                  <a:rPr lang="fr-FR" sz="1600" b="1" noProof="0" dirty="0">
                    <a:solidFill>
                      <a:srgbClr val="FF0000"/>
                    </a:solidFill>
                  </a:rPr>
                  <a:t>𝐸[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b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de-DE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FR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de-DE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noProof="0" dirty="0">
                    <a:solidFill>
                      <a:srgbClr val="FF0000"/>
                    </a:solidFill>
                  </a:rPr>
                  <a:t>] </a:t>
                </a:r>
                <a:r>
                  <a:rPr lang="fr-FR" sz="1600" noProof="0" dirty="0"/>
                  <a:t>n‘est pas observable.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. . 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fr-FR" sz="1600" noProof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fr-FR" sz="1600" noProof="0" dirty="0">
                    <a:solidFill>
                      <a:schemeClr val="bg1"/>
                    </a:solidFill>
                  </a:rPr>
                  <a:t> Quel contrefactuel utiliser ?</a:t>
                </a:r>
              </a:p>
              <a:p>
                <a:pPr lvl="0"/>
                <a:r>
                  <a:rPr lang="fr-FR" sz="1600" noProof="0" dirty="0">
                    <a:solidFill>
                      <a:schemeClr val="bg1"/>
                    </a:solidFill>
                  </a:rPr>
                  <a:t>Comparer des zones différentes ?</a:t>
                </a:r>
              </a:p>
              <a:p>
                <a:pPr lvl="0"/>
                <a:r>
                  <a:rPr lang="fr-FR" sz="1600" noProof="0" dirty="0">
                    <a:solidFill>
                      <a:schemeClr val="bg1"/>
                    </a:solidFill>
                  </a:rPr>
                  <a:t>Risque de confusion avec des effets structurels.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6014545" cy="3394472"/>
              </a:xfrm>
              <a:blipFill>
                <a:blip r:embed="rId3"/>
                <a:stretch>
                  <a:fillRect l="-405" t="-8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13">
            <a:extLst>
              <a:ext uri="{FF2B5EF4-FFF2-40B4-BE49-F238E27FC236}">
                <a16:creationId xmlns:a16="http://schemas.microsoft.com/office/drawing/2014/main" id="{8879B642-8AE9-FC7A-9F07-CA6C47605E45}"/>
              </a:ext>
            </a:extLst>
          </p:cNvPr>
          <p:cNvSpPr/>
          <p:nvPr/>
        </p:nvSpPr>
        <p:spPr>
          <a:xfrm>
            <a:off x="6676697" y="1548331"/>
            <a:ext cx="2320684" cy="3108960"/>
          </a:xfrm>
          <a:prstGeom prst="rect">
            <a:avLst/>
          </a:prstGeom>
          <a:solidFill>
            <a:srgbClr val="FAF7F1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B0EC976A-CED3-69FC-A58E-854E07B5825D}"/>
              </a:ext>
            </a:extLst>
          </p:cNvPr>
          <p:cNvSpPr/>
          <p:nvPr/>
        </p:nvSpPr>
        <p:spPr>
          <a:xfrm>
            <a:off x="6965205" y="1588139"/>
            <a:ext cx="203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Le </a:t>
            </a:r>
            <a:r>
              <a:rPr lang="en-US" sz="1300" b="1" i="1" dirty="0" err="1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problème</a:t>
            </a:r>
            <a:r>
              <a:rPr lang="en-US" sz="1300" b="1" i="1" dirty="0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i="1" dirty="0" err="1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contrefactuel</a:t>
            </a:r>
            <a:endParaRPr lang="en-US" sz="1300" dirty="0"/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E8AEC39D-BD05-6F94-28C3-FE923869F46E}"/>
              </a:ext>
            </a:extLst>
          </p:cNvPr>
          <p:cNvSpPr/>
          <p:nvPr/>
        </p:nvSpPr>
        <p:spPr>
          <a:xfrm>
            <a:off x="6965206" y="1900454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31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B6B4C4FD-6C15-414D-2327-629569881C0A}"/>
              </a:ext>
            </a:extLst>
          </p:cNvPr>
          <p:cNvSpPr/>
          <p:nvPr/>
        </p:nvSpPr>
        <p:spPr>
          <a:xfrm>
            <a:off x="6965206" y="199189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>
                <a:solidFill>
                  <a:srgbClr val="10314B"/>
                </a:solidFill>
                <a:ea typeface="Calibri" pitchFamily="34" charset="-122"/>
                <a:cs typeface="Calibri" pitchFamily="34" charset="-120"/>
              </a:rPr>
              <a:t>Traité</a:t>
            </a:r>
            <a:endParaRPr lang="en-US" sz="1000" dirty="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B789EA42-932E-5273-BFB8-1B248E78B407}"/>
              </a:ext>
            </a:extLst>
          </p:cNvPr>
          <p:cNvSpPr/>
          <p:nvPr/>
        </p:nvSpPr>
        <p:spPr>
          <a:xfrm>
            <a:off x="6965206" y="231193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Y(1) </a:t>
            </a:r>
            <a:r>
              <a:rPr lang="en-US" sz="110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observé</a:t>
            </a:r>
            <a:endParaRPr lang="en-US" sz="110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4F983EBA-D7F9-D1DF-CC5B-607AA409C664}"/>
              </a:ext>
            </a:extLst>
          </p:cNvPr>
          <p:cNvSpPr/>
          <p:nvPr/>
        </p:nvSpPr>
        <p:spPr>
          <a:xfrm>
            <a:off x="6965206" y="261368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0000"/>
                </a:solidFill>
                <a:ea typeface="Cambria" pitchFamily="34" charset="-122"/>
                <a:cs typeface="Cambria" pitchFamily="34" charset="-120"/>
              </a:rPr>
              <a:t>Y(0) inconnu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F85B35E6-B7BD-6C8E-7985-176CEA462604}"/>
              </a:ext>
            </a:extLst>
          </p:cNvPr>
          <p:cNvSpPr/>
          <p:nvPr/>
        </p:nvSpPr>
        <p:spPr>
          <a:xfrm>
            <a:off x="6965206" y="3203474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20">
            <a:extLst>
              <a:ext uri="{FF2B5EF4-FFF2-40B4-BE49-F238E27FC236}">
                <a16:creationId xmlns:a16="http://schemas.microsoft.com/office/drawing/2014/main" id="{A55BBB66-7E6A-42B8-566A-71FFAD23A85C}"/>
              </a:ext>
            </a:extLst>
          </p:cNvPr>
          <p:cNvSpPr/>
          <p:nvPr/>
        </p:nvSpPr>
        <p:spPr>
          <a:xfrm>
            <a:off x="6965206" y="329491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 err="1">
                <a:solidFill>
                  <a:srgbClr val="1E4D74"/>
                </a:solidFill>
                <a:ea typeface="Calibri" pitchFamily="34" charset="-122"/>
                <a:cs typeface="Calibri" pitchFamily="34" charset="-120"/>
              </a:rPr>
              <a:t>Controlle</a:t>
            </a:r>
            <a:endParaRPr lang="en-US" sz="1000" dirty="0"/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D4ECA8A6-8514-3558-56CB-58ED9BA1CC67}"/>
              </a:ext>
            </a:extLst>
          </p:cNvPr>
          <p:cNvSpPr/>
          <p:nvPr/>
        </p:nvSpPr>
        <p:spPr>
          <a:xfrm>
            <a:off x="6965206" y="361495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Y(0) </a:t>
            </a:r>
            <a:r>
              <a:rPr lang="en-US" sz="110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observé</a:t>
            </a:r>
            <a:endParaRPr lang="en-US" sz="1100" dirty="0"/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3BB486E6-727E-9235-47E4-21D17273086A}"/>
              </a:ext>
            </a:extLst>
          </p:cNvPr>
          <p:cNvSpPr/>
          <p:nvPr/>
        </p:nvSpPr>
        <p:spPr>
          <a:xfrm>
            <a:off x="6965206" y="39167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0"/>
                </a:solidFill>
                <a:ea typeface="Cambria" pitchFamily="34" charset="-122"/>
                <a:cs typeface="Cambria" pitchFamily="34" charset="-120"/>
              </a:rPr>
              <a:t>Y(1) </a:t>
            </a:r>
            <a:r>
              <a:rPr lang="en-US" sz="1100" i="1">
                <a:solidFill>
                  <a:srgbClr val="5A6470"/>
                </a:solidFill>
                <a:ea typeface="Cambria" pitchFamily="34" charset="-122"/>
                <a:cs typeface="Cambria" pitchFamily="34" charset="-120"/>
              </a:rPr>
              <a:t>inconnu</a:t>
            </a:r>
            <a:endParaRPr lang="en-US" sz="1100" dirty="0"/>
          </a:p>
        </p:txBody>
      </p: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C92B6A6-98D3-2EE4-4366-BFC98364EDAE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17" name="Outline triangle - haut">
              <a:extLst>
                <a:ext uri="{FF2B5EF4-FFF2-40B4-BE49-F238E27FC236}">
                  <a16:creationId xmlns:a16="http://schemas.microsoft.com/office/drawing/2014/main" id="{54FD0128-F5EA-FCE5-F9F9-098DE5B530E7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8" name="Outline triangle - milieu">
              <a:extLst>
                <a:ext uri="{FF2B5EF4-FFF2-40B4-BE49-F238E27FC236}">
                  <a16:creationId xmlns:a16="http://schemas.microsoft.com/office/drawing/2014/main" id="{46EFAC2E-A2E8-1B32-116A-03EC94C91935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9" name="Outline triangle - bas">
              <a:extLst>
                <a:ext uri="{FF2B5EF4-FFF2-40B4-BE49-F238E27FC236}">
                  <a16:creationId xmlns:a16="http://schemas.microsoft.com/office/drawing/2014/main" id="{4DFCF317-EE05-04E2-67B5-E2E78E31E7E9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Les sciences naturelles échappent	 à ce problème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00151"/>
            <a:ext cx="3500000" cy="339447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u="sng" dirty="0"/>
              <a:t>La solution expérimentale</a:t>
            </a:r>
          </a:p>
          <a:p>
            <a:pPr marL="0" indent="0">
              <a:buNone/>
            </a:pPr>
            <a:r>
              <a:rPr lang="fr-FR" dirty="0"/>
              <a:t>En laboratoire, le chercheur </a:t>
            </a:r>
            <a:r>
              <a:rPr lang="fr-FR" b="1" dirty="0"/>
              <a:t>contrôle entièrement l’attribution du traitement</a:t>
            </a:r>
            <a:r>
              <a:rPr lang="fr-FR" dirty="0"/>
              <a:t>. Il observe un état de référence </a:t>
            </a:r>
            <a:r>
              <a:rPr lang="fr-FR" b="1" dirty="0"/>
              <a:t>Y(0)</a:t>
            </a:r>
            <a:r>
              <a:rPr lang="fr-FR" dirty="0"/>
              <a:t> — l’unité sans traitement — puis l’état traité </a:t>
            </a:r>
            <a:r>
              <a:rPr lang="fr-FR" b="1" dirty="0"/>
              <a:t>Y(1)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Les unités sont </a:t>
            </a:r>
            <a:r>
              <a:rPr lang="fr-FR" b="1" dirty="0"/>
              <a:t>identiques au départ</a:t>
            </a:r>
            <a:r>
              <a:rPr lang="fr-FR" dirty="0"/>
              <a:t>, il n’y a aucun biais de sélection : la différence observée est l’effet causal.</a:t>
            </a:r>
          </a:p>
        </p:txBody>
      </p:sp>
      <p:pic>
        <p:nvPicPr>
          <p:cNvPr id="10" name="Petri Y0"/>
          <p:cNvPicPr>
            <a:picLocks noChangeAspect="1"/>
          </p:cNvPicPr>
          <p:nvPr/>
        </p:nvPicPr>
        <p:blipFill>
          <a:blip r:embed="rId3"/>
          <a:srcRect l="674" r="673"/>
          <a:stretch>
            <a:fillRect/>
          </a:stretch>
        </p:blipFill>
        <p:spPr>
          <a:xfrm>
            <a:off x="4150000" y="1450000"/>
            <a:ext cx="2050000" cy="2050000"/>
          </a:xfrm>
          <a:prstGeom prst="rect">
            <a:avLst/>
          </a:prstGeom>
        </p:spPr>
      </p:pic>
      <p:pic>
        <p:nvPicPr>
          <p:cNvPr id="11" name="Petri Y1"/>
          <p:cNvPicPr>
            <a:picLocks noChangeAspect="1"/>
          </p:cNvPicPr>
          <p:nvPr/>
        </p:nvPicPr>
        <p:blipFill>
          <a:blip r:embed="rId4"/>
          <a:srcRect t="1300" b="1300"/>
          <a:stretch>
            <a:fillRect/>
          </a:stretch>
        </p:blipFill>
        <p:spPr>
          <a:xfrm>
            <a:off x="6636800" y="1450000"/>
            <a:ext cx="2050000" cy="2050000"/>
          </a:xfrm>
          <a:prstGeom prst="rect">
            <a:avLst/>
          </a:prstGeom>
        </p:spPr>
      </p:pic>
      <p:sp>
        <p:nvSpPr>
          <p:cNvPr id="12" name="Caption Y0"/>
          <p:cNvSpPr txBox="1"/>
          <p:nvPr/>
        </p:nvSpPr>
        <p:spPr>
          <a:xfrm>
            <a:off x="4150000" y="3560000"/>
            <a:ext cx="2050000" cy="6000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fr-FR" b="1"/>
              <a:t>Y(0)</a:t>
            </a:r>
            <a:r>
              <a:rPr lang="fr-FR"/>
              <a:t> — témoin (sans bactéries)</a:t>
            </a:r>
          </a:p>
        </p:txBody>
      </p:sp>
      <p:sp>
        <p:nvSpPr>
          <p:cNvPr id="13" name="Caption Y1"/>
          <p:cNvSpPr txBox="1"/>
          <p:nvPr/>
        </p:nvSpPr>
        <p:spPr>
          <a:xfrm>
            <a:off x="6636800" y="3560000"/>
            <a:ext cx="2050000" cy="600000"/>
          </a:xfrm>
          <a:prstGeom prst="rect">
            <a:avLst/>
          </a:prstGeom>
        </p:spPr>
        <p:txBody>
          <a:bodyPr wrap="square" rtlCol="0">
            <a:normAutofit lnSpcReduction="10000"/>
          </a:bodyPr>
          <a:lstStyle/>
          <a:p>
            <a:pPr algn="ctr"/>
            <a:r>
              <a:rPr lang="fr-FR" b="1"/>
              <a:t>Y(1)</a:t>
            </a:r>
            <a:r>
              <a:rPr lang="fr-FR"/>
              <a:t> — traité (avec bactéries)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CB3C6FA-4F12-6F3C-B022-F5045FD7326F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C5A93DD0-D162-BFB3-52C4-88ABD0F92FF6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276326C9-2753-1EA4-B1C2-B9EADD362F9C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9FA20E50-25D5-F02F-DD57-110BBEA6B917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743590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FEF27-45FF-1A8B-0E23-EE058E771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0D689-965C-1693-6025-8CD65E550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Aire</a:t>
            </a:r>
            <a:r>
              <a:rPr lang="de-DE" dirty="0"/>
              <a:t> </a:t>
            </a:r>
            <a:r>
              <a:rPr lang="de-DE" dirty="0" err="1"/>
              <a:t>Protégée</a:t>
            </a:r>
            <a:endParaRPr lang="de-DE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76DDE6-39E9-76B2-305F-DA63059AA1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6014545" cy="3394472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fr-FR" sz="1600" noProof="0" dirty="0"/>
                  <a:t>Est-ce que le statut d’Aire Protégée a un impact sur le couvert forestier ?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C’est-à-dire 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de-DE" sz="1600" b="0" i="0" noProof="0" smtClean="0">
                          <a:latin typeface="Cambria Math" panose="02040503050406030204" pitchFamily="18" charset="0"/>
                        </a:rPr>
                        <m:t>CF</m:t>
                      </m:r>
                      <m:r>
                        <a:rPr lang="de-DE" sz="1600" b="0" i="0" noProof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]−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[</m:t>
                      </m:r>
                      <m:r>
                        <m:rPr>
                          <m:sty m:val="p"/>
                        </m:rPr>
                        <a:rPr lang="de-DE" sz="1600" b="0" i="0" noProof="0" smtClean="0">
                          <a:latin typeface="Cambria Math" panose="02040503050406030204" pitchFamily="18" charset="0"/>
                        </a:rPr>
                        <m:t>CF</m:t>
                      </m:r>
                      <m:r>
                        <a:rPr lang="de-DE" sz="1600" b="0" i="0" noProof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𝐴𝑃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b="0" i="0" noProof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sz="1600" noProof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sz="1600" noProof="0" dirty="0"/>
              </a:p>
              <a:p>
                <a:pPr marL="0" lvl="0" indent="0">
                  <a:buNone/>
                </a:pPr>
                <a:r>
                  <a:rPr lang="fr-FR" sz="1600" noProof="0" dirty="0"/>
                  <a:t>avec </a:t>
                </a:r>
                <a14:m>
                  <m:oMath xmlns:m="http://schemas.openxmlformats.org/officeDocument/2006/math">
                    <m:r>
                      <a:rPr lang="fr-FR" sz="1600" noProof="0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fr-FR" sz="1600" noProof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fr-FR" sz="1600" noProof="0" dirty="0"/>
                  <a:t> le couvert forestier d’une zone si c’est une AP et </a:t>
                </a:r>
                <a14:m>
                  <m:oMath xmlns:m="http://schemas.openxmlformats.org/officeDocument/2006/math">
                    <m:r>
                      <a:rPr lang="fr-FR" sz="1600" noProof="0">
                        <a:latin typeface="Cambria Math" panose="02040503050406030204" pitchFamily="18" charset="0"/>
                      </a:rPr>
                      <m:t>𝐶𝐹</m:t>
                    </m:r>
                    <m:r>
                      <a:rPr lang="fr-FR" sz="1600" noProof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fr-FR" sz="1600" noProof="0" dirty="0"/>
                  <a:t> le couvert forestier si ce n’est pas une AP, </a:t>
                </a:r>
                <a:r>
                  <a:rPr lang="fr-FR" sz="1600" b="1" noProof="0" dirty="0"/>
                  <a:t>pour la même zone et au même moment</a:t>
                </a:r>
                <a:r>
                  <a:rPr lang="fr-FR" sz="1600" noProof="0" dirty="0"/>
                  <a:t>.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. . .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Le problème évident est qu’on n’observe jamais simultanément les deux états pour la même unité. On a déjà vu le problème: </a:t>
                </a:r>
                <a:r>
                  <a:rPr lang="fr-FR" sz="1600" b="1" noProof="0" dirty="0">
                    <a:solidFill>
                      <a:srgbClr val="FF0000"/>
                    </a:solidFill>
                  </a:rPr>
                  <a:t>𝐸[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b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de-DE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fr-FR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de-DE" sz="1600" b="1" i="1" noProof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de-DE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de-DE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fr-FR" sz="1600" b="1" i="1" noProof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600" b="1" noProof="0" dirty="0">
                    <a:solidFill>
                      <a:srgbClr val="FF0000"/>
                    </a:solidFill>
                  </a:rPr>
                  <a:t>] </a:t>
                </a:r>
                <a:r>
                  <a:rPr lang="fr-FR" sz="1600" noProof="0" dirty="0"/>
                  <a:t>n‘est pas observable.</a:t>
                </a:r>
              </a:p>
              <a:p>
                <a:pPr marL="0" lvl="0" indent="0">
                  <a:buNone/>
                </a:pPr>
                <a:r>
                  <a:rPr lang="fr-FR" sz="1600" noProof="0" dirty="0"/>
                  <a:t>. . 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 lang="fr-FR" sz="1600" noProof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fr-FR" sz="1600" noProof="0" dirty="0"/>
                  <a:t> Quel contrefactuel utiliser ?</a:t>
                </a:r>
              </a:p>
              <a:p>
                <a:pPr lvl="0"/>
                <a:r>
                  <a:rPr lang="fr-FR" sz="1600" noProof="0" dirty="0"/>
                  <a:t>Comparer des zones différentes ?</a:t>
                </a:r>
              </a:p>
              <a:p>
                <a:pPr lvl="0"/>
                <a:r>
                  <a:rPr lang="fr-FR" sz="1600" noProof="0" dirty="0"/>
                  <a:t>Risque de confusion avec des effets structurels.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F76DDE6-39E9-76B2-305F-DA63059AA1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6014545" cy="3394472"/>
              </a:xfrm>
              <a:blipFill>
                <a:blip r:embed="rId3"/>
                <a:stretch>
                  <a:fillRect l="-405" t="-89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13">
            <a:extLst>
              <a:ext uri="{FF2B5EF4-FFF2-40B4-BE49-F238E27FC236}">
                <a16:creationId xmlns:a16="http://schemas.microsoft.com/office/drawing/2014/main" id="{63587DAB-FAE0-1C91-1F03-B57A02D1452C}"/>
              </a:ext>
            </a:extLst>
          </p:cNvPr>
          <p:cNvSpPr/>
          <p:nvPr/>
        </p:nvSpPr>
        <p:spPr>
          <a:xfrm>
            <a:off x="6676697" y="1548331"/>
            <a:ext cx="2320684" cy="3108960"/>
          </a:xfrm>
          <a:prstGeom prst="rect">
            <a:avLst/>
          </a:prstGeom>
          <a:solidFill>
            <a:srgbClr val="FAF7F1"/>
          </a:solidFill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ABAC888B-AD4F-E798-6FEA-1496B5AF3C16}"/>
              </a:ext>
            </a:extLst>
          </p:cNvPr>
          <p:cNvSpPr/>
          <p:nvPr/>
        </p:nvSpPr>
        <p:spPr>
          <a:xfrm>
            <a:off x="6965205" y="1588139"/>
            <a:ext cx="203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Le </a:t>
            </a:r>
            <a:r>
              <a:rPr lang="en-US" sz="1300" b="1" i="1" dirty="0" err="1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problème</a:t>
            </a:r>
            <a:r>
              <a:rPr lang="en-US" sz="1300" b="1" i="1" dirty="0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 </a:t>
            </a:r>
            <a:r>
              <a:rPr lang="en-US" sz="1300" b="1" i="1" dirty="0" err="1">
                <a:solidFill>
                  <a:srgbClr val="10314B"/>
                </a:solidFill>
                <a:ea typeface="Cambria" pitchFamily="34" charset="-122"/>
                <a:cs typeface="Cambria" pitchFamily="34" charset="-120"/>
              </a:rPr>
              <a:t>contrefactuel</a:t>
            </a:r>
            <a:endParaRPr lang="en-US" sz="1300" dirty="0"/>
          </a:p>
        </p:txBody>
      </p:sp>
      <p:sp>
        <p:nvSpPr>
          <p:cNvPr id="6" name="Shape 15">
            <a:extLst>
              <a:ext uri="{FF2B5EF4-FFF2-40B4-BE49-F238E27FC236}">
                <a16:creationId xmlns:a16="http://schemas.microsoft.com/office/drawing/2014/main" id="{C083D5B5-42C5-6854-AAD2-DDE2F7E5C200}"/>
              </a:ext>
            </a:extLst>
          </p:cNvPr>
          <p:cNvSpPr/>
          <p:nvPr/>
        </p:nvSpPr>
        <p:spPr>
          <a:xfrm>
            <a:off x="6965206" y="1900454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31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16">
            <a:extLst>
              <a:ext uri="{FF2B5EF4-FFF2-40B4-BE49-F238E27FC236}">
                <a16:creationId xmlns:a16="http://schemas.microsoft.com/office/drawing/2014/main" id="{871C303D-35D0-A15D-DB3F-A11624B60303}"/>
              </a:ext>
            </a:extLst>
          </p:cNvPr>
          <p:cNvSpPr/>
          <p:nvPr/>
        </p:nvSpPr>
        <p:spPr>
          <a:xfrm>
            <a:off x="6965206" y="199189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>
                <a:solidFill>
                  <a:srgbClr val="10314B"/>
                </a:solidFill>
                <a:ea typeface="Calibri" pitchFamily="34" charset="-122"/>
                <a:cs typeface="Calibri" pitchFamily="34" charset="-120"/>
              </a:rPr>
              <a:t>Traité</a:t>
            </a:r>
            <a:endParaRPr lang="en-US" sz="1000" dirty="0"/>
          </a:p>
        </p:txBody>
      </p:sp>
      <p:sp>
        <p:nvSpPr>
          <p:cNvPr id="8" name="Text 17">
            <a:extLst>
              <a:ext uri="{FF2B5EF4-FFF2-40B4-BE49-F238E27FC236}">
                <a16:creationId xmlns:a16="http://schemas.microsoft.com/office/drawing/2014/main" id="{08D6CEE9-DCD5-B9BC-24A0-9C035CBB1179}"/>
              </a:ext>
            </a:extLst>
          </p:cNvPr>
          <p:cNvSpPr/>
          <p:nvPr/>
        </p:nvSpPr>
        <p:spPr>
          <a:xfrm>
            <a:off x="6965206" y="231193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Y(1) </a:t>
            </a:r>
            <a:r>
              <a:rPr lang="en-US" sz="110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observé</a:t>
            </a:r>
            <a:endParaRPr lang="en-US" sz="1100" dirty="0"/>
          </a:p>
        </p:txBody>
      </p:sp>
      <p:sp>
        <p:nvSpPr>
          <p:cNvPr id="9" name="Text 18">
            <a:extLst>
              <a:ext uri="{FF2B5EF4-FFF2-40B4-BE49-F238E27FC236}">
                <a16:creationId xmlns:a16="http://schemas.microsoft.com/office/drawing/2014/main" id="{A643E8DD-85CF-0827-5FC0-07850FBE38C5}"/>
              </a:ext>
            </a:extLst>
          </p:cNvPr>
          <p:cNvSpPr/>
          <p:nvPr/>
        </p:nvSpPr>
        <p:spPr>
          <a:xfrm>
            <a:off x="6965206" y="261368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0000"/>
                </a:solidFill>
                <a:ea typeface="Cambria" pitchFamily="34" charset="-122"/>
                <a:cs typeface="Cambria" pitchFamily="34" charset="-120"/>
              </a:rPr>
              <a:t>Y(0) inconnu</a:t>
            </a:r>
            <a:endParaRPr lang="en-US" sz="1100" dirty="0">
              <a:solidFill>
                <a:srgbClr val="FF0000"/>
              </a:solidFill>
            </a:endParaRPr>
          </a:p>
        </p:txBody>
      </p:sp>
      <p:sp>
        <p:nvSpPr>
          <p:cNvPr id="10" name="Shape 19">
            <a:extLst>
              <a:ext uri="{FF2B5EF4-FFF2-40B4-BE49-F238E27FC236}">
                <a16:creationId xmlns:a16="http://schemas.microsoft.com/office/drawing/2014/main" id="{66278FA1-B455-F0AF-0942-94526955D78E}"/>
              </a:ext>
            </a:extLst>
          </p:cNvPr>
          <p:cNvSpPr/>
          <p:nvPr/>
        </p:nvSpPr>
        <p:spPr>
          <a:xfrm>
            <a:off x="6965206" y="3203474"/>
            <a:ext cx="1737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4D74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20">
            <a:extLst>
              <a:ext uri="{FF2B5EF4-FFF2-40B4-BE49-F238E27FC236}">
                <a16:creationId xmlns:a16="http://schemas.microsoft.com/office/drawing/2014/main" id="{8C58FFC4-EE14-F2D9-A1B7-058BF84FD5CC}"/>
              </a:ext>
            </a:extLst>
          </p:cNvPr>
          <p:cNvSpPr/>
          <p:nvPr/>
        </p:nvSpPr>
        <p:spPr>
          <a:xfrm>
            <a:off x="6965206" y="329491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 err="1">
                <a:solidFill>
                  <a:srgbClr val="1E4D74"/>
                </a:solidFill>
                <a:ea typeface="Calibri" pitchFamily="34" charset="-122"/>
                <a:cs typeface="Calibri" pitchFamily="34" charset="-120"/>
              </a:rPr>
              <a:t>Controlle</a:t>
            </a:r>
            <a:endParaRPr lang="en-US" sz="1000" dirty="0"/>
          </a:p>
        </p:txBody>
      </p:sp>
      <p:sp>
        <p:nvSpPr>
          <p:cNvPr id="12" name="Text 21">
            <a:extLst>
              <a:ext uri="{FF2B5EF4-FFF2-40B4-BE49-F238E27FC236}">
                <a16:creationId xmlns:a16="http://schemas.microsoft.com/office/drawing/2014/main" id="{9D8B7F77-1D92-C96D-68CE-0A48290F6B76}"/>
              </a:ext>
            </a:extLst>
          </p:cNvPr>
          <p:cNvSpPr/>
          <p:nvPr/>
        </p:nvSpPr>
        <p:spPr>
          <a:xfrm>
            <a:off x="6965206" y="361495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Y(0) </a:t>
            </a:r>
            <a:r>
              <a:rPr lang="en-US" sz="1100">
                <a:solidFill>
                  <a:srgbClr val="1A1A1A"/>
                </a:solidFill>
                <a:ea typeface="Cambria" pitchFamily="34" charset="-122"/>
                <a:cs typeface="Cambria" pitchFamily="34" charset="-120"/>
              </a:rPr>
              <a:t>observé</a:t>
            </a:r>
            <a:endParaRPr lang="en-US" sz="1100" dirty="0"/>
          </a:p>
        </p:txBody>
      </p:sp>
      <p:sp>
        <p:nvSpPr>
          <p:cNvPr id="13" name="Text 22">
            <a:extLst>
              <a:ext uri="{FF2B5EF4-FFF2-40B4-BE49-F238E27FC236}">
                <a16:creationId xmlns:a16="http://schemas.microsoft.com/office/drawing/2014/main" id="{E1C649FF-5691-7CC6-7527-0526AE6EC1FA}"/>
              </a:ext>
            </a:extLst>
          </p:cNvPr>
          <p:cNvSpPr/>
          <p:nvPr/>
        </p:nvSpPr>
        <p:spPr>
          <a:xfrm>
            <a:off x="6965206" y="391670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A6470"/>
                </a:solidFill>
                <a:ea typeface="Cambria" pitchFamily="34" charset="-122"/>
                <a:cs typeface="Cambria" pitchFamily="34" charset="-120"/>
              </a:rPr>
              <a:t>Y(1) </a:t>
            </a:r>
            <a:r>
              <a:rPr lang="en-US" sz="1100" i="1">
                <a:solidFill>
                  <a:srgbClr val="5A6470"/>
                </a:solidFill>
                <a:ea typeface="Cambria" pitchFamily="34" charset="-122"/>
                <a:cs typeface="Cambria" pitchFamily="34" charset="-120"/>
              </a:rPr>
              <a:t>inconnu</a:t>
            </a:r>
            <a:endParaRPr lang="en-US" sz="1100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7972BAB1-6753-405E-93E8-E1DBC1BA60B8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15" name="Outline triangle - haut">
              <a:extLst>
                <a:ext uri="{FF2B5EF4-FFF2-40B4-BE49-F238E27FC236}">
                  <a16:creationId xmlns:a16="http://schemas.microsoft.com/office/drawing/2014/main" id="{96FCCE57-BEB6-9348-7053-A74993A8C02B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6" name="Outline triangle - milieu">
              <a:extLst>
                <a:ext uri="{FF2B5EF4-FFF2-40B4-BE49-F238E27FC236}">
                  <a16:creationId xmlns:a16="http://schemas.microsoft.com/office/drawing/2014/main" id="{C5449F83-F66D-2F5C-C745-B3E71CE7B58E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7" name="Outline triangle - bas">
              <a:extLst>
                <a:ext uri="{FF2B5EF4-FFF2-40B4-BE49-F238E27FC236}">
                  <a16:creationId xmlns:a16="http://schemas.microsoft.com/office/drawing/2014/main" id="{FA3778D1-97ED-D960-5AF5-71731818353A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89246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491EE3C-489B-1FA0-05CC-46CBBD27E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b="0" dirty="0"/>
              <a:t>Illustration intuitive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D63D97F-6338-BBFB-E387-856E16CD3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71080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e-DE" b="1" dirty="0" err="1"/>
              <a:t>Comparaison</a:t>
            </a:r>
            <a:r>
              <a:rPr lang="de-DE" b="1" dirty="0"/>
              <a:t> </a:t>
            </a:r>
            <a:r>
              <a:rPr lang="de-DE" b="1" dirty="0" err="1"/>
              <a:t>naïve</a:t>
            </a:r>
            <a:r>
              <a:rPr lang="de-DE" b="1" dirty="0"/>
              <a:t> entre deux </a:t>
            </a:r>
            <a:r>
              <a:rPr lang="de-DE" b="1" dirty="0" err="1"/>
              <a:t>zones</a:t>
            </a:r>
            <a:r>
              <a:rPr lang="de-DE" b="1" dirty="0"/>
              <a:t> :</a:t>
            </a:r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endParaRPr lang="de-DE" b="1" dirty="0"/>
          </a:p>
          <a:p>
            <a:pPr marL="0" indent="0">
              <a:buNone/>
            </a:pPr>
            <a:r>
              <a:rPr lang="de-DE" sz="1500" i="1" dirty="0"/>
              <a:t>Remarque :</a:t>
            </a:r>
            <a:br>
              <a:rPr lang="de-DE" sz="1500" dirty="0"/>
            </a:br>
            <a:r>
              <a:rPr lang="de-DE" sz="1500" dirty="0"/>
              <a:t> </a:t>
            </a:r>
            <a:r>
              <a:rPr lang="de-DE" sz="1500" b="1" dirty="0"/>
              <a:t>M</a:t>
            </a:r>
            <a:r>
              <a:rPr lang="de-DE" sz="1500" dirty="0"/>
              <a:t> = </a:t>
            </a:r>
            <a:r>
              <a:rPr lang="de-DE" sz="1500" dirty="0" err="1"/>
              <a:t>caractéristiques</a:t>
            </a:r>
            <a:r>
              <a:rPr lang="de-DE" sz="1500" dirty="0"/>
              <a:t> propres à Makira (</a:t>
            </a:r>
            <a:r>
              <a:rPr lang="de-DE" sz="1500" dirty="0" err="1"/>
              <a:t>relief</a:t>
            </a:r>
            <a:r>
              <a:rPr lang="de-DE" sz="1500" dirty="0"/>
              <a:t>, </a:t>
            </a:r>
            <a:r>
              <a:rPr lang="de-DE" sz="1500" dirty="0" err="1"/>
              <a:t>climat</a:t>
            </a:r>
            <a:r>
              <a:rPr lang="de-DE" sz="1500" dirty="0"/>
              <a:t>, </a:t>
            </a:r>
            <a:r>
              <a:rPr lang="de-DE" sz="1500" dirty="0" err="1"/>
              <a:t>accès</a:t>
            </a:r>
            <a:r>
              <a:rPr lang="de-DE" sz="1500" dirty="0"/>
              <a:t>…)</a:t>
            </a:r>
            <a:br>
              <a:rPr lang="de-DE" sz="1500" dirty="0"/>
            </a:br>
            <a:r>
              <a:rPr lang="de-DE" sz="1500" b="1" dirty="0"/>
              <a:t>A</a:t>
            </a:r>
            <a:r>
              <a:rPr lang="de-DE" sz="1500" dirty="0"/>
              <a:t> = </a:t>
            </a:r>
            <a:r>
              <a:rPr lang="de-DE" sz="1500" dirty="0" err="1"/>
              <a:t>caractéristiques</a:t>
            </a:r>
            <a:r>
              <a:rPr lang="de-DE" sz="1500" dirty="0"/>
              <a:t> propres à la </a:t>
            </a:r>
            <a:r>
              <a:rPr lang="de-DE" sz="1500" dirty="0" err="1"/>
              <a:t>zone</a:t>
            </a:r>
            <a:r>
              <a:rPr lang="de-DE" sz="1500" dirty="0"/>
              <a:t> non </a:t>
            </a:r>
            <a:r>
              <a:rPr lang="de-DE" sz="1500" dirty="0" err="1"/>
              <a:t>protégée</a:t>
            </a:r>
            <a:br>
              <a:rPr lang="de-DE" sz="1500" dirty="0"/>
            </a:br>
            <a:r>
              <a:rPr lang="de-DE" sz="1500" b="1" dirty="0"/>
              <a:t>AP</a:t>
            </a:r>
            <a:r>
              <a:rPr lang="de-DE" sz="1500" dirty="0"/>
              <a:t> = </a:t>
            </a:r>
            <a:r>
              <a:rPr lang="de-DE" sz="1500" dirty="0" err="1"/>
              <a:t>effet</a:t>
            </a:r>
            <a:r>
              <a:rPr lang="de-DE" sz="1500" dirty="0"/>
              <a:t> de </a:t>
            </a:r>
            <a:r>
              <a:rPr lang="de-DE" sz="1500" dirty="0" err="1"/>
              <a:t>l’aire</a:t>
            </a:r>
            <a:r>
              <a:rPr lang="de-DE" sz="1500" dirty="0"/>
              <a:t> </a:t>
            </a:r>
            <a:r>
              <a:rPr lang="de-DE" sz="1500" dirty="0" err="1"/>
              <a:t>protégée</a:t>
            </a:r>
            <a:endParaRPr lang="de-DE" sz="15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66FA5722-DA99-E74D-8A63-0B2E78812D80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de-DE" b="1" dirty="0"/>
                  <a:t>Différence </a:t>
                </a:r>
                <a:r>
                  <a:rPr lang="de-DE" b="1" dirty="0" err="1"/>
                  <a:t>observée</a:t>
                </a:r>
                <a:r>
                  <a:rPr lang="de-DE" b="1" dirty="0"/>
                  <a:t> :</a:t>
                </a:r>
              </a:p>
              <a:p>
                <a:pPr marL="0" indent="0">
                  <a:buNone/>
                </a:pPr>
                <a:endParaRPr lang="de-DE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𝐶𝐹</m:t>
                          </m:r>
                        </m:e>
                        <m:sub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de-D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i="1" dirty="0">
                              <a:latin typeface="Cambria Math" panose="02040503050406030204" pitchFamily="18" charset="0"/>
                            </a:rPr>
                            <m:t>𝐶𝐹</m:t>
                          </m:r>
                        </m:e>
                        <m:sub>
                          <m:r>
                            <a:rPr lang="de-DE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de-DE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i="1" dirty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de-DE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de-DE" i="1" dirty="0" smtClean="0">
                              <a:latin typeface="Cambria Math" panose="02040503050406030204" pitchFamily="18" charset="0"/>
                            </a:rPr>
                            <m:t>𝐴𝑃</m:t>
                          </m:r>
                        </m:e>
                      </m:d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de-DE" i="1" dirty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de-DE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de-DE" b="0" i="1" dirty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de-DE" b="0" dirty="0"/>
              </a:p>
              <a:p>
                <a:pPr marL="0" indent="0">
                  <a:buNone/>
                </a:pPr>
                <a:endParaRPr lang="de-DE" b="1" dirty="0"/>
              </a:p>
              <a:p>
                <a:pPr fontAlgn="base"/>
                <a:r>
                  <a:rPr lang="de-DE" b="1" dirty="0" err="1"/>
                  <a:t>Problème</a:t>
                </a:r>
                <a:r>
                  <a:rPr lang="de-DE" b="1" dirty="0"/>
                  <a:t> :</a:t>
                </a:r>
                <a:br>
                  <a:rPr lang="de-DE" dirty="0"/>
                </a:br>
                <a:r>
                  <a:rPr lang="de-DE" dirty="0"/>
                  <a:t>On </a:t>
                </a:r>
                <a:r>
                  <a:rPr lang="de-DE" dirty="0" err="1"/>
                  <a:t>voudrait</a:t>
                </a:r>
                <a:r>
                  <a:rPr lang="de-DE" dirty="0"/>
                  <a:t> </a:t>
                </a:r>
                <a:r>
                  <a:rPr lang="de-DE" dirty="0" err="1"/>
                  <a:t>isoler</a:t>
                </a:r>
                <a:r>
                  <a:rPr lang="de-DE" dirty="0"/>
                  <a:t> </a:t>
                </a:r>
                <a:r>
                  <a:rPr lang="de-DE" sz="2400" b="1" dirty="0"/>
                  <a:t> AP</a:t>
                </a:r>
                <a:r>
                  <a:rPr lang="de-DE" dirty="0"/>
                  <a:t>,</a:t>
                </a:r>
                <a:br>
                  <a:rPr lang="de-DE" dirty="0"/>
                </a:br>
                <a:r>
                  <a:rPr lang="de-DE" dirty="0" err="1"/>
                  <a:t>mais</a:t>
                </a:r>
                <a:r>
                  <a:rPr lang="de-DE" dirty="0"/>
                  <a:t> on </a:t>
                </a:r>
                <a:r>
                  <a:rPr lang="de-DE" dirty="0" err="1"/>
                  <a:t>capte</a:t>
                </a:r>
                <a:r>
                  <a:rPr lang="de-DE" dirty="0"/>
                  <a:t> </a:t>
                </a:r>
                <a:r>
                  <a:rPr lang="de-DE" dirty="0" err="1"/>
                  <a:t>aussi</a:t>
                </a:r>
                <a:r>
                  <a:rPr lang="de-DE" dirty="0"/>
                  <a:t> </a:t>
                </a:r>
                <a:r>
                  <a:rPr lang="de-DE" b="1" dirty="0"/>
                  <a:t>(</a:t>
                </a:r>
                <a:r>
                  <a:rPr lang="de-DE" sz="2400" b="1" dirty="0"/>
                  <a:t>M-A)</a:t>
                </a:r>
                <a:r>
                  <a:rPr lang="de-DE" dirty="0"/>
                  <a:t>.</a:t>
                </a:r>
              </a:p>
              <a:p>
                <a:pPr fontAlgn="base"/>
                <a:r>
                  <a:rPr lang="de-DE" dirty="0"/>
                  <a:t> </a:t>
                </a:r>
                <a:r>
                  <a:rPr lang="de-DE" b="1" dirty="0" err="1"/>
                  <a:t>Biais</a:t>
                </a:r>
                <a:r>
                  <a:rPr lang="de-DE" b="1" dirty="0"/>
                  <a:t> de </a:t>
                </a:r>
                <a:r>
                  <a:rPr lang="de-DE" b="1" dirty="0" err="1"/>
                  <a:t>sélection</a:t>
                </a:r>
                <a:r>
                  <a:rPr lang="de-DE" dirty="0"/>
                  <a:t> </a:t>
                </a:r>
                <a:r>
                  <a:rPr lang="de-DE" dirty="0" err="1"/>
                  <a:t>dû</a:t>
                </a:r>
                <a:r>
                  <a:rPr lang="de-DE" dirty="0"/>
                  <a:t> </a:t>
                </a:r>
                <a:r>
                  <a:rPr lang="de-DE" dirty="0" err="1"/>
                  <a:t>aux</a:t>
                </a:r>
                <a:r>
                  <a:rPr lang="de-DE" dirty="0"/>
                  <a:t> </a:t>
                </a:r>
                <a:r>
                  <a:rPr lang="de-DE" dirty="0" err="1"/>
                  <a:t>différences</a:t>
                </a:r>
                <a:r>
                  <a:rPr lang="de-DE" dirty="0"/>
                  <a:t> </a:t>
                </a:r>
                <a:r>
                  <a:rPr lang="de-DE" dirty="0" err="1"/>
                  <a:t>structurelles</a:t>
                </a:r>
                <a:r>
                  <a:rPr lang="de-DE" dirty="0"/>
                  <a:t> entre </a:t>
                </a:r>
                <a:r>
                  <a:rPr lang="de-DE" dirty="0" err="1"/>
                  <a:t>zones</a:t>
                </a:r>
                <a:r>
                  <a:rPr lang="de-DE" dirty="0"/>
                  <a:t>.</a:t>
                </a:r>
              </a:p>
              <a:p>
                <a:pPr fontAlgn="base"/>
                <a:r>
                  <a:rPr lang="de-DE" dirty="0"/>
                  <a:t> </a:t>
                </a:r>
                <a:r>
                  <a:rPr lang="de-DE" dirty="0" err="1"/>
                  <a:t>L’appariement</a:t>
                </a:r>
                <a:r>
                  <a:rPr lang="de-DE" dirty="0"/>
                  <a:t> </a:t>
                </a:r>
                <a:r>
                  <a:rPr lang="de-DE" dirty="0" err="1"/>
                  <a:t>vise</a:t>
                </a:r>
                <a:r>
                  <a:rPr lang="de-DE" dirty="0"/>
                  <a:t> à </a:t>
                </a:r>
                <a:r>
                  <a:rPr lang="de-DE" dirty="0" err="1"/>
                  <a:t>trouver</a:t>
                </a:r>
                <a:r>
                  <a:rPr lang="de-DE" dirty="0"/>
                  <a:t> </a:t>
                </a:r>
                <a:r>
                  <a:rPr lang="de-DE" dirty="0" err="1"/>
                  <a:t>une</a:t>
                </a:r>
                <a:r>
                  <a:rPr lang="de-DE" dirty="0"/>
                  <a:t> </a:t>
                </a:r>
                <a:r>
                  <a:rPr lang="de-DE" dirty="0" err="1"/>
                  <a:t>zone</a:t>
                </a:r>
                <a:r>
                  <a:rPr lang="de-DE" dirty="0"/>
                  <a:t> non </a:t>
                </a:r>
                <a:r>
                  <a:rPr lang="de-DE" dirty="0" err="1"/>
                  <a:t>protégée</a:t>
                </a:r>
                <a:r>
                  <a:rPr lang="de-DE" dirty="0"/>
                  <a:t> </a:t>
                </a:r>
                <a:r>
                  <a:rPr lang="de-DE" dirty="0" err="1"/>
                  <a:t>où</a:t>
                </a:r>
                <a:r>
                  <a:rPr lang="de-DE" dirty="0"/>
                  <a:t> </a:t>
                </a:r>
                <a:r>
                  <a:rPr lang="de-DE" sz="2000" b="1" dirty="0"/>
                  <a:t>M≈A</a:t>
                </a:r>
                <a:r>
                  <a:rPr lang="de-DE" dirty="0"/>
                  <a:t>.</a:t>
                </a:r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66FA5722-DA99-E74D-8A63-0B2E78812D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511" t="-2334" b="-23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Grafik 10">
            <a:extLst>
              <a:ext uri="{FF2B5EF4-FFF2-40B4-BE49-F238E27FC236}">
                <a16:creationId xmlns:a16="http://schemas.microsoft.com/office/drawing/2014/main" id="{4AB84638-91C1-18C7-BD83-8E6139834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861" y="1702892"/>
            <a:ext cx="2455953" cy="1419685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D17E2BD-337C-99ED-CC1E-510C9170A0D0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3" name="Outline triangle - haut">
              <a:extLst>
                <a:ext uri="{FF2B5EF4-FFF2-40B4-BE49-F238E27FC236}">
                  <a16:creationId xmlns:a16="http://schemas.microsoft.com/office/drawing/2014/main" id="{C1CE7C70-807B-8BA8-6ABD-B5CD92510241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milieu">
              <a:extLst>
                <a:ext uri="{FF2B5EF4-FFF2-40B4-BE49-F238E27FC236}">
                  <a16:creationId xmlns:a16="http://schemas.microsoft.com/office/drawing/2014/main" id="{F8063D1C-6725-C47D-ED19-AB5B108373FB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" name="Outline triangle - bas">
              <a:extLst>
                <a:ext uri="{FF2B5EF4-FFF2-40B4-BE49-F238E27FC236}">
                  <a16:creationId xmlns:a16="http://schemas.microsoft.com/office/drawing/2014/main" id="{9E26FE27-AB35-5C21-7228-CFA8F9EC3802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Principe du matching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300000" cy="3394472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On </a:t>
                </a:r>
                <a:r>
                  <a:rPr dirty="0" err="1"/>
                  <a:t>cherche</a:t>
                </a:r>
                <a:r>
                  <a:rPr dirty="0"/>
                  <a:t> </a:t>
                </a:r>
                <a:r>
                  <a:rPr dirty="0" err="1"/>
                  <a:t>une</a:t>
                </a:r>
                <a:r>
                  <a:rPr dirty="0"/>
                  <a:t> zone non </a:t>
                </a:r>
                <a:r>
                  <a:rPr dirty="0" err="1"/>
                  <a:t>traitée</a:t>
                </a:r>
                <a:r>
                  <a:rPr dirty="0"/>
                  <a:t> </a:t>
                </a:r>
                <a:r>
                  <a:rPr b="1" dirty="0"/>
                  <a:t>qui </a:t>
                </a:r>
                <a:r>
                  <a:rPr b="1" dirty="0" err="1"/>
                  <a:t>ressemble</a:t>
                </a:r>
                <a:r>
                  <a:rPr b="1" dirty="0"/>
                  <a:t> le plus possible</a:t>
                </a:r>
                <a:r>
                  <a:rPr dirty="0"/>
                  <a:t> à la zone </a:t>
                </a:r>
                <a:r>
                  <a:rPr dirty="0" err="1"/>
                  <a:t>traitée</a:t>
                </a:r>
                <a:r>
                  <a:rPr dirty="0"/>
                  <a:t> : son “</a:t>
                </a:r>
                <a:r>
                  <a:rPr dirty="0" err="1"/>
                  <a:t>jumeau</a:t>
                </a:r>
                <a:r>
                  <a:rPr dirty="0"/>
                  <a:t>”.</a:t>
                </a:r>
              </a:p>
              <a:p>
                <a:pPr marL="0" lvl="0" indent="0">
                  <a:buNone/>
                </a:pPr>
                <a:r>
                  <a:rPr dirty="0" err="1"/>
                  <a:t>L’idée</a:t>
                </a:r>
                <a:r>
                  <a:rPr dirty="0"/>
                  <a:t> est de comparer les </a:t>
                </a:r>
                <a:r>
                  <a:rPr dirty="0" err="1"/>
                  <a:t>résultats</a:t>
                </a:r>
                <a:r>
                  <a:rPr dirty="0"/>
                  <a:t> entre </a:t>
                </a:r>
                <a:r>
                  <a:rPr dirty="0" err="1"/>
                  <a:t>unités</a:t>
                </a:r>
                <a:r>
                  <a:rPr dirty="0"/>
                  <a:t> aux </a:t>
                </a:r>
                <a:r>
                  <a:rPr dirty="0" err="1"/>
                  <a:t>caractéristiques</a:t>
                </a:r>
                <a:r>
                  <a:rPr dirty="0"/>
                  <a:t> observables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proches</a:t>
                </a:r>
                <a:r>
                  <a:rPr dirty="0"/>
                  <a:t>,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supposant</a:t>
                </a:r>
                <a:r>
                  <a:rPr dirty="0"/>
                  <a:t> </a:t>
                </a:r>
                <a:r>
                  <a:rPr dirty="0" err="1"/>
                  <a:t>que</a:t>
                </a:r>
                <a:r>
                  <a:rPr dirty="0"/>
                  <a:t> </a:t>
                </a:r>
                <a:r>
                  <a:rPr b="1" dirty="0"/>
                  <a:t>toute la </a:t>
                </a:r>
                <a:r>
                  <a:rPr b="1" dirty="0" err="1"/>
                  <a:t>sélection</a:t>
                </a:r>
                <a:r>
                  <a:rPr b="1" dirty="0"/>
                  <a:t> dans le </a:t>
                </a:r>
                <a:r>
                  <a:rPr b="1" dirty="0" err="1"/>
                  <a:t>traitement</a:t>
                </a:r>
                <a:r>
                  <a:rPr b="1" dirty="0"/>
                  <a:t> passe par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.</a:t>
                </a:r>
                <a:endParaRPr lang="de-DE" dirty="0"/>
              </a:p>
              <a:p>
                <a:pPr marL="0" lvl="0" indent="0">
                  <a:buNone/>
                </a:pPr>
                <a:endParaRPr lang="de-DE" dirty="0"/>
              </a:p>
              <a:p>
                <a:pPr marL="0" lvl="0" indent="0">
                  <a:buNone/>
                </a:pPr>
                <a:r>
                  <a:rPr lang="de-DE" dirty="0"/>
                  <a:t>Le </a:t>
                </a:r>
                <a:r>
                  <a:rPr lang="de-DE" dirty="0" err="1"/>
                  <a:t>matching</a:t>
                </a:r>
                <a:r>
                  <a:rPr lang="de-DE" dirty="0"/>
                  <a:t> </a:t>
                </a:r>
                <a:r>
                  <a:rPr lang="de-DE" dirty="0" err="1"/>
                  <a:t>est</a:t>
                </a:r>
                <a:r>
                  <a:rPr lang="de-DE" dirty="0"/>
                  <a:t> </a:t>
                </a:r>
                <a:r>
                  <a:rPr lang="de-DE" dirty="0" err="1"/>
                  <a:t>effectivement</a:t>
                </a:r>
                <a:r>
                  <a:rPr lang="de-DE" dirty="0"/>
                  <a:t> </a:t>
                </a:r>
                <a:r>
                  <a:rPr lang="de-DE" dirty="0" err="1"/>
                  <a:t>une</a:t>
                </a:r>
                <a:r>
                  <a:rPr lang="de-DE" dirty="0"/>
                  <a:t> </a:t>
                </a:r>
                <a:r>
                  <a:rPr lang="de-DE" dirty="0" err="1"/>
                  <a:t>méthode</a:t>
                </a:r>
                <a:r>
                  <a:rPr lang="de-DE" dirty="0"/>
                  <a:t> </a:t>
                </a:r>
                <a:r>
                  <a:rPr lang="de-DE" dirty="0" err="1"/>
                  <a:t>pour</a:t>
                </a:r>
                <a:r>
                  <a:rPr lang="de-DE" dirty="0"/>
                  <a:t> </a:t>
                </a:r>
                <a:r>
                  <a:rPr lang="de-DE" dirty="0" err="1"/>
                  <a:t>couper</a:t>
                </a:r>
                <a:r>
                  <a:rPr lang="de-DE" dirty="0"/>
                  <a:t>/</a:t>
                </a:r>
                <a:r>
                  <a:rPr lang="de-DE" dirty="0" err="1"/>
                  <a:t>elaguer</a:t>
                </a:r>
                <a:r>
                  <a:rPr lang="de-DE" dirty="0"/>
                  <a:t> des </a:t>
                </a:r>
                <a:r>
                  <a:rPr lang="de-DE" dirty="0" err="1"/>
                  <a:t>données</a:t>
                </a:r>
                <a:r>
                  <a:rPr lang="de-DE" dirty="0"/>
                  <a:t>. </a:t>
                </a:r>
                <a:r>
                  <a:rPr lang="fr-FR" dirty="0"/>
                  <a:t>on écarte les observations sans jumeau.</a:t>
                </a:r>
              </a:p>
              <a:p>
                <a:pPr marL="0" lvl="0" indent="0">
                  <a:buNone/>
                </a:pPr>
                <a:r>
                  <a:rPr lang="de-DE" dirty="0" err="1"/>
                  <a:t>Anglais</a:t>
                </a:r>
                <a:r>
                  <a:rPr lang="de-DE" dirty="0"/>
                  <a:t>: „</a:t>
                </a:r>
                <a:r>
                  <a:rPr lang="de-DE" dirty="0" err="1"/>
                  <a:t>pruning</a:t>
                </a:r>
                <a:r>
                  <a:rPr lang="de-DE" dirty="0"/>
                  <a:t>“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300000" cy="3394472"/>
              </a:xfrm>
              <a:blipFill>
                <a:blip r:embed="rId3"/>
                <a:stretch>
                  <a:fillRect l="-851" t="-14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ncipe du matching - jumeau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800" y="1063000"/>
            <a:ext cx="3614000" cy="3199000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619D3FC-1E71-0BB2-A3FD-FB52AE476C2D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41392402-712A-0511-F215-BBE1EB5AD38A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3B96A9DE-4930-EE48-8E10-65607E61F3EC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BAFA982B-AF38-428D-288D-07614D3C6E1A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Hypothèses fondamentales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a:rPr lang="de-DE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de-D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b="0" i="1" smtClean="0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de-DE" dirty="0"/>
              </a:p>
              <a:p>
                <a:pPr lvl="1"/>
                <a14:m>
                  <m:oMath xmlns:m="http://schemas.openxmlformats.org/officeDocument/2006/math">
                    <m:r>
                      <a:rPr lang="de-DE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de-DE" dirty="0">
                    <a:solidFill>
                      <a:srgbClr val="FF0000"/>
                    </a:solidFill>
                  </a:rPr>
                  <a:t> </a:t>
                </a:r>
                <a:r>
                  <a:rPr lang="de-DE" dirty="0" err="1"/>
                  <a:t>n‘existe</a:t>
                </a:r>
                <a:r>
                  <a:rPr lang="de-DE" dirty="0"/>
                  <a:t> </a:t>
                </a:r>
                <a:r>
                  <a:rPr lang="de-DE" dirty="0" err="1"/>
                  <a:t>pas</a:t>
                </a:r>
                <a:endParaRPr lang="de-DE" dirty="0"/>
              </a:p>
              <a:p>
                <a:pPr lvl="1"/>
                <a14:m>
                  <m:oMath xmlns:m="http://schemas.openxmlformats.org/officeDocument/2006/math">
                    <m:r>
                      <a:rPr lang="de-DE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de-DE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accent2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DE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DE" i="1">
                            <a:solidFill>
                              <a:schemeClr val="accent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de-DE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de-DE" dirty="0" err="1"/>
                  <a:t>exist</a:t>
                </a:r>
                <a:r>
                  <a:rPr lang="de-DE" dirty="0"/>
                  <a:t> </a:t>
                </a:r>
                <a:r>
                  <a:rPr lang="de-DE" dirty="0" err="1"/>
                  <a:t>mais</a:t>
                </a:r>
                <a:r>
                  <a:rPr lang="de-DE" dirty="0"/>
                  <a:t> </a:t>
                </a:r>
                <a:r>
                  <a:rPr lang="de-DE" dirty="0" err="1"/>
                  <a:t>doit</a:t>
                </a:r>
                <a:r>
                  <a:rPr lang="de-DE" dirty="0"/>
                  <a:t> </a:t>
                </a:r>
                <a:r>
                  <a:rPr lang="de-DE" dirty="0" err="1"/>
                  <a:t>satisfaire</a:t>
                </a:r>
                <a:r>
                  <a:rPr lang="de-DE" dirty="0"/>
                  <a:t> à deux </a:t>
                </a:r>
                <a:r>
                  <a:rPr lang="de-DE" dirty="0" err="1"/>
                  <a:t>conditions</a:t>
                </a:r>
                <a:r>
                  <a:rPr lang="de-DE" dirty="0"/>
                  <a:t>.</a:t>
                </a:r>
              </a:p>
              <a:p>
                <a:pPr lvl="0"/>
                <a:r>
                  <a:rPr lang="de-DE" b="1" dirty="0" err="1"/>
                  <a:t>Indépendance</a:t>
                </a:r>
                <a:r>
                  <a:rPr lang="de-DE" b="1" dirty="0"/>
                  <a:t> </a:t>
                </a:r>
                <a:r>
                  <a:rPr lang="de-DE" b="1" dirty="0" err="1"/>
                  <a:t>conditionnelle</a:t>
                </a:r>
                <a:r>
                  <a:rPr lang="de-DE" b="1" dirty="0"/>
                  <a:t> (CIA)</a:t>
                </a:r>
                <a:r>
                  <a:rPr lang="de-DE" dirty="0"/>
                  <a:t> :</a:t>
                </a:r>
                <a:br>
                  <a:rPr lang="de-DE" dirty="0"/>
                </a:br>
                <a:endParaRPr lang="de-DE" dirty="0"/>
              </a:p>
              <a:p>
                <a:pPr lvl="0"/>
                <a14:m>
                  <m:oMath xmlns:m="http://schemas.openxmlformats.org/officeDocument/2006/math">
                    <m:r>
                      <a:rPr lang="de-DE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>
                        <a:latin typeface="Cambria Math" panose="02040503050406030204" pitchFamily="18" charset="0"/>
                      </a:rPr>
                      <m:t>1</m:t>
                    </m:r>
                    <m:r>
                      <a:rPr lang="de-DE">
                        <a:latin typeface="Cambria Math" panose="02040503050406030204" pitchFamily="18" charset="0"/>
                      </a:rPr>
                      <m:t>),</m:t>
                    </m:r>
                    <m:r>
                      <a:rPr lang="de-DE">
                        <a:latin typeface="Cambria Math" panose="02040503050406030204" pitchFamily="18" charset="0"/>
                      </a:rPr>
                      <m:t>𝑌</m:t>
                    </m:r>
                    <m:r>
                      <a:rPr lang="de-DE">
                        <a:latin typeface="Cambria Math" panose="02040503050406030204" pitchFamily="18" charset="0"/>
                      </a:rPr>
                      <m:t>(</m:t>
                    </m:r>
                    <m:r>
                      <a:rPr lang="de-DE">
                        <a:latin typeface="Cambria Math" panose="02040503050406030204" pitchFamily="18" charset="0"/>
                      </a:rPr>
                      <m:t>0</m:t>
                    </m:r>
                    <m:r>
                      <a:rPr lang="de-DE">
                        <a:latin typeface="Cambria Math" panose="02040503050406030204" pitchFamily="18" charset="0"/>
                      </a:rPr>
                      <m:t>))</m:t>
                    </m:r>
                    <m:r>
                      <a:rPr lang="de-DE">
                        <a:latin typeface="Cambria Math" panose="02040503050406030204" pitchFamily="18" charset="0"/>
                      </a:rPr>
                      <m:t>⟂</m:t>
                    </m:r>
                    <m:r>
                      <a:rPr lang="de-DE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>
                        <a:latin typeface="Cambria Math" panose="02040503050406030204" pitchFamily="18" charset="0"/>
                      </a:rPr>
                      <m:t>∣</m:t>
                    </m:r>
                    <m:r>
                      <a:rPr lang="de-DE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de-DE" dirty="0"/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a:rPr lang="de-DE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DE" dirty="0"/>
                  <a:t> À </a:t>
                </a:r>
                <a:r>
                  <a:rPr lang="de-DE" dirty="0" err="1"/>
                  <a:t>caractéristiques</a:t>
                </a:r>
                <a:r>
                  <a:rPr lang="de-DE" dirty="0"/>
                  <a:t> observables </a:t>
                </a:r>
                <a:r>
                  <a:rPr lang="de-DE" dirty="0" err="1"/>
                  <a:t>identiques</a:t>
                </a:r>
                <a:r>
                  <a:rPr lang="de-DE" dirty="0"/>
                  <a:t>, </a:t>
                </a:r>
                <a:r>
                  <a:rPr lang="de-DE" dirty="0" err="1"/>
                  <a:t>l’assignation</a:t>
                </a:r>
                <a:r>
                  <a:rPr lang="de-DE" dirty="0"/>
                  <a:t> est as-if </a:t>
                </a:r>
                <a:r>
                  <a:rPr lang="de-DE" dirty="0" err="1"/>
                  <a:t>aléatoire</a:t>
                </a:r>
                <a:r>
                  <a:rPr lang="de-DE" dirty="0"/>
                  <a:t>.</a:t>
                </a:r>
              </a:p>
              <a:p>
                <a:pPr lvl="0"/>
                <a:r>
                  <a:rPr lang="de-DE" b="1" dirty="0"/>
                  <a:t>Support </a:t>
                </a:r>
                <a:r>
                  <a:rPr lang="de-DE" b="1" dirty="0" err="1"/>
                  <a:t>commun</a:t>
                </a:r>
                <a:r>
                  <a:rPr lang="de-DE" b="1" dirty="0"/>
                  <a:t> (overlap)</a:t>
                </a:r>
                <a:r>
                  <a:rPr lang="de-DE" dirty="0"/>
                  <a:t> :</a:t>
                </a:r>
                <a:br>
                  <a:rPr lang="de-DE" dirty="0"/>
                </a:br>
                <a:r>
                  <a:rPr lang="de-DE" dirty="0"/>
                  <a:t>Pour </a:t>
                </a:r>
                <a:r>
                  <a:rPr lang="de-DE" dirty="0" err="1"/>
                  <a:t>chaque</a:t>
                </a:r>
                <a:r>
                  <a:rPr lang="de-DE" dirty="0"/>
                  <a:t> </a:t>
                </a:r>
                <a14:m>
                  <m:oMath xmlns:m="http://schemas.openxmlformats.org/officeDocument/2006/math">
                    <m:r>
                      <a:rPr lang="de-DE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de-DE" dirty="0"/>
                  <a:t>, il </a:t>
                </a:r>
                <a:r>
                  <a:rPr lang="de-DE" dirty="0" err="1"/>
                  <a:t>existe</a:t>
                </a:r>
                <a:r>
                  <a:rPr lang="de-DE" dirty="0"/>
                  <a:t> des </a:t>
                </a:r>
                <a:r>
                  <a:rPr lang="de-DE" dirty="0" err="1"/>
                  <a:t>unités</a:t>
                </a:r>
                <a:r>
                  <a:rPr lang="de-DE" dirty="0"/>
                  <a:t> </a:t>
                </a:r>
                <a:r>
                  <a:rPr lang="de-DE" dirty="0" err="1"/>
                  <a:t>traitées</a:t>
                </a:r>
                <a:r>
                  <a:rPr lang="de-DE" dirty="0"/>
                  <a:t> et non </a:t>
                </a:r>
                <a:r>
                  <a:rPr lang="de-DE" dirty="0" err="1"/>
                  <a:t>traitées</a:t>
                </a:r>
                <a:r>
                  <a:rPr lang="de-DE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7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BC0751F-8193-94D2-740B-7AAB80AFA2CE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128376AF-6D75-69EA-0CE9-5A32BA681D46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2AA2A493-A840-E5DE-0C6E-9BE6557F80C5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4EC9FA96-74D1-4E0E-574D-566F49F80E2D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Hypothèse CIA : ATT vs 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Pour identifier l’</a:t>
                </a:r>
                <a:r>
                  <a:rPr b="1"/>
                  <a:t>ATT</a:t>
                </a:r>
                <a:r>
                  <a:t> (effet moyen sur les traités), on suppose seulement :</a:t>
                </a:r>
              </a:p>
              <a:p>
                <a:pPr lvl="0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  <m:r>
                      <a:rPr>
                        <a:latin typeface="Cambria Math" panose="02040503050406030204" pitchFamily="18" charset="0"/>
                      </a:rPr>
                      <m:t>(0)⟂</m:t>
                    </m:r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  <m:r>
                      <a:rPr>
                        <a:latin typeface="Cambria Math" panose="02040503050406030204" pitchFamily="18" charset="0"/>
                      </a:rPr>
                      <m:t>∣</m:t>
                    </m:r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/>
              </a:p>
              <a:p>
                <a:pPr lvl="0"/>
                <a:r>
                  <a:t>Pour identifier l’</a:t>
                </a:r>
                <a:r>
                  <a:rPr b="1"/>
                  <a:t>ATE</a:t>
                </a:r>
                <a:r>
                  <a:t>, il faut que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  <m:r>
                      <a:rPr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t> 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  <m:r>
                      <a:rPr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t> soient indépendants de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t> conditionnellement à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t> Hypothèse plus forte.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Risques liés à la CIA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300000" cy="3394472"/>
              </a:xfrm>
            </p:spPr>
            <p:txBody>
              <a:bodyPr>
                <a:normAutofit/>
              </a:bodyPr>
              <a:lstStyle/>
              <a:p>
                <a:pPr lvl="0"/>
                <a:r>
                  <a:rPr dirty="0"/>
                  <a:t>La CIA suppose </a:t>
                </a:r>
                <a:r>
                  <a:rPr dirty="0" err="1"/>
                  <a:t>qu’aucune</a:t>
                </a:r>
                <a:r>
                  <a:rPr dirty="0"/>
                  <a:t> variable </a:t>
                </a:r>
                <a:r>
                  <a:rPr dirty="0" err="1"/>
                  <a:t>inobservée</a:t>
                </a:r>
                <a:r>
                  <a:rPr dirty="0"/>
                  <a:t> ne </a:t>
                </a:r>
                <a:r>
                  <a:rPr dirty="0" err="1"/>
                  <a:t>détermine</a:t>
                </a:r>
                <a:r>
                  <a:rPr dirty="0"/>
                  <a:t> à la </a:t>
                </a:r>
                <a:r>
                  <a:rPr dirty="0" err="1"/>
                  <a:t>fois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dirty="0"/>
                  <a:t> et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300000" cy="3394472"/>
              </a:xfrm>
              <a:blipFill>
                <a:blip r:embed="rId3"/>
                <a:stretch>
                  <a:fillRect l="-1277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Diagramme causal CI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000" y="1290000"/>
            <a:ext cx="3700000" cy="3199000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1EDBCF66-74FB-60C4-AD9C-F262E8CA77FE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8C7C0431-5635-75EE-2CE2-5F6BC5661327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C4B0A7AC-8342-1EA9-0BE3-A76277486352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8706C322-6251-CDBB-A9DF-CB70112E3873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Hypothèse de support commun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4300000" cy="3394472"/>
              </a:xfrm>
            </p:spPr>
            <p:txBody>
              <a:bodyPr>
                <a:normAutofit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On suppose </a:t>
                </a:r>
                <a:r>
                  <a:rPr dirty="0" err="1"/>
                  <a:t>qu’il</a:t>
                </a:r>
                <a:r>
                  <a:rPr dirty="0"/>
                  <a:t> </a:t>
                </a:r>
                <a:r>
                  <a:rPr dirty="0" err="1"/>
                  <a:t>existe</a:t>
                </a:r>
                <a:r>
                  <a:rPr dirty="0"/>
                  <a:t>, pour </a:t>
                </a:r>
                <a:r>
                  <a:rPr dirty="0" err="1"/>
                  <a:t>chaque</a:t>
                </a:r>
                <a:r>
                  <a:rPr dirty="0"/>
                  <a:t> </a:t>
                </a:r>
                <a:r>
                  <a:rPr dirty="0" err="1"/>
                  <a:t>valeur</a:t>
                </a:r>
                <a:r>
                  <a:rPr dirty="0"/>
                  <a:t> de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, des </a:t>
                </a:r>
                <a:r>
                  <a:rPr dirty="0" err="1"/>
                  <a:t>unités</a:t>
                </a:r>
                <a:r>
                  <a:rPr dirty="0"/>
                  <a:t> </a:t>
                </a:r>
                <a:r>
                  <a:rPr dirty="0" err="1"/>
                  <a:t>traitées</a:t>
                </a:r>
                <a:r>
                  <a:rPr dirty="0"/>
                  <a:t> et non </a:t>
                </a:r>
                <a:r>
                  <a:rPr dirty="0" err="1"/>
                  <a:t>traitées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dirty="0"/>
                  <a:t>Sinon, impossible de </a:t>
                </a:r>
                <a:r>
                  <a:rPr dirty="0" err="1"/>
                  <a:t>construire</a:t>
                </a:r>
                <a:r>
                  <a:rPr dirty="0"/>
                  <a:t> un </a:t>
                </a:r>
                <a:r>
                  <a:rPr dirty="0" err="1"/>
                  <a:t>groupe</a:t>
                </a:r>
                <a:r>
                  <a:rPr dirty="0"/>
                  <a:t> de </a:t>
                </a:r>
                <a:r>
                  <a:rPr dirty="0" err="1"/>
                  <a:t>comparaison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dirty="0" err="1"/>
                  <a:t>Vérification</a:t>
                </a:r>
                <a:r>
                  <a:rPr dirty="0"/>
                  <a:t> </a:t>
                </a:r>
                <a:r>
                  <a:rPr dirty="0" err="1"/>
                  <a:t>graphique</a:t>
                </a:r>
                <a:r>
                  <a:rPr dirty="0"/>
                  <a:t> et exclusion des zones hors support.</a:t>
                </a:r>
                <a:endParaRPr lang="de-DE" dirty="0"/>
              </a:p>
              <a:p>
                <a:pPr marL="0" lv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fr-FR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fr-FR" dirty="0"/>
                  <a:t> Il faut des </a:t>
                </a:r>
                <a:r>
                  <a:rPr lang="fr-FR" dirty="0" err="1"/>
                  <a:t>jumeaux</a:t>
                </a:r>
                <a:r>
                  <a:rPr lang="fr-FR" dirty="0"/>
                  <a:t> </a:t>
                </a:r>
                <a:r>
                  <a:rPr lang="fr-FR" b="1" dirty="0"/>
                  <a:t>observables</a:t>
                </a:r>
                <a:r>
                  <a:rPr lang="fr-FR" dirty="0"/>
                  <a:t> et </a:t>
                </a:r>
                <a:r>
                  <a:rPr lang="fr-FR" b="1" dirty="0"/>
                  <a:t>non </a:t>
                </a:r>
                <a:r>
                  <a:rPr lang="fr-FR" b="1" dirty="0" err="1"/>
                  <a:t>systématiquement</a:t>
                </a:r>
                <a:r>
                  <a:rPr lang="fr-FR" b="1" dirty="0"/>
                  <a:t> </a:t>
                </a:r>
                <a:r>
                  <a:rPr lang="fr-FR" b="1" dirty="0" err="1"/>
                  <a:t>traités</a:t>
                </a:r>
                <a:r>
                  <a:rPr lang="fr-FR" dirty="0"/>
                  <a:t>.</a:t>
                </a:r>
              </a:p>
              <a:p>
                <a:pPr marL="0" lvl="0" indent="0">
                  <a:buNone/>
                </a:pP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4300000" cy="3394472"/>
              </a:xfrm>
              <a:blipFill>
                <a:blip r:embed="rId3"/>
                <a:stretch>
                  <a:fillRect l="-1418" t="-19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Support commun - covariabl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0000" y="1290000"/>
            <a:ext cx="3700000" cy="3199000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2E5A2E95-95F1-CE8B-C6CE-F2CBE9FFEA7E}"/>
              </a:ext>
            </a:extLst>
          </p:cNvPr>
          <p:cNvSpPr/>
          <p:nvPr/>
        </p:nvSpPr>
        <p:spPr>
          <a:xfrm>
            <a:off x="272000" y="3631776"/>
            <a:ext cx="4300000" cy="7430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7794F0A5-DF49-8AAB-A7E7-9437EDB41D94}"/>
              </a:ext>
            </a:extLst>
          </p:cNvPr>
          <p:cNvGrpSpPr/>
          <p:nvPr/>
        </p:nvGrpSpPr>
        <p:grpSpPr>
          <a:xfrm>
            <a:off x="8250521" y="180000"/>
            <a:ext cx="445244" cy="644753"/>
            <a:chOff x="3380965" y="180000"/>
            <a:chExt cx="1343435" cy="1500000"/>
          </a:xfrm>
        </p:grpSpPr>
        <p:sp>
          <p:nvSpPr>
            <p:cNvPr id="6" name="Outline triangle - haut">
              <a:extLst>
                <a:ext uri="{FF2B5EF4-FFF2-40B4-BE49-F238E27FC236}">
                  <a16:creationId xmlns:a16="http://schemas.microsoft.com/office/drawing/2014/main" id="{2CDB404C-63AA-DD22-6134-6978284923FD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milieu">
              <a:extLst>
                <a:ext uri="{FF2B5EF4-FFF2-40B4-BE49-F238E27FC236}">
                  <a16:creationId xmlns:a16="http://schemas.microsoft.com/office/drawing/2014/main" id="{45E97323-D232-3368-6D97-0F5ECDF635BB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" name="Outline triangle - bas">
              <a:extLst>
                <a:ext uri="{FF2B5EF4-FFF2-40B4-BE49-F238E27FC236}">
                  <a16:creationId xmlns:a16="http://schemas.microsoft.com/office/drawing/2014/main" id="{24B04475-381B-D422-2E33-21A991EBE84D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Objectif du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Comparer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  <m:r>
                      <a:rPr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t> d’une unité traitée avec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𝑌</m:t>
                    </m:r>
                    <m:r>
                      <a:rPr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t> d’une unité non traitée </a:t>
                </a:r>
                <a:r>
                  <a:rPr b="1"/>
                  <a:t>ayant les mêmes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t>.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𝐴𝑇𝑇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>
                          <a:latin typeface="Cambria Math" panose="02040503050406030204" pitchFamily="18" charset="0"/>
                        </a:rPr>
                        <m:t>[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>
                          <a:latin typeface="Cambria Math" panose="02040503050406030204" pitchFamily="18" charset="0"/>
                        </a:rPr>
                        <m:t>(1)−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>
                          <a:latin typeface="Cambria Math" panose="02040503050406030204" pitchFamily="18" charset="0"/>
                        </a:rPr>
                        <m:t>(0)∣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>
                          <a:latin typeface="Cambria Math" panose="02040503050406030204" pitchFamily="18" charset="0"/>
                        </a:rPr>
                        <m:t>=1]</m:t>
                      </m:r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​</m:t>
                          </m:r>
                        </m:sup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où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𝑗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est le “jumeau” de l’unité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107A1-0FAE-F663-B0BD-73256D4D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Methodes</a:t>
            </a:r>
            <a:r>
              <a:rPr lang="de-DE" dirty="0"/>
              <a:t> </a:t>
            </a:r>
            <a:r>
              <a:rPr lang="de-DE" dirty="0" err="1"/>
              <a:t>d‘appariement</a:t>
            </a:r>
            <a:br>
              <a:rPr lang="de-DE" dirty="0"/>
            </a:br>
            <a:r>
              <a:rPr lang="de-DE" dirty="0"/>
              <a:t>(</a:t>
            </a:r>
            <a:r>
              <a:rPr lang="de-DE" dirty="0" err="1"/>
              <a:t>a.k.a</a:t>
            </a:r>
            <a:r>
              <a:rPr lang="de-DE" dirty="0"/>
              <a:t>. </a:t>
            </a:r>
            <a:r>
              <a:rPr lang="de-DE" dirty="0" err="1"/>
              <a:t>elaguer</a:t>
            </a:r>
            <a:r>
              <a:rPr lang="de-DE" dirty="0"/>
              <a:t> </a:t>
            </a:r>
            <a:r>
              <a:rPr lang="de-DE" dirty="0" err="1"/>
              <a:t>les</a:t>
            </a:r>
            <a:r>
              <a:rPr lang="de-DE" dirty="0"/>
              <a:t> </a:t>
            </a:r>
            <a:r>
              <a:rPr lang="de-DE" dirty="0" err="1"/>
              <a:t>donnés</a:t>
            </a:r>
            <a:r>
              <a:rPr lang="de-DE" dirty="0"/>
              <a:t>)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1F24D8A-A528-7A66-B2D0-82DD05E21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035" y="1838324"/>
            <a:ext cx="2847975" cy="2228850"/>
          </a:xfrm>
          <a:prstGeom prst="rect">
            <a:avLst/>
          </a:prstGeom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A31095A-D4C6-093A-2D7C-71F766AD07A0}"/>
              </a:ext>
            </a:extLst>
          </p:cNvPr>
          <p:cNvGrpSpPr/>
          <p:nvPr/>
        </p:nvGrpSpPr>
        <p:grpSpPr>
          <a:xfrm>
            <a:off x="7352330" y="180000"/>
            <a:ext cx="1343435" cy="1500000"/>
            <a:chOff x="3380965" y="180000"/>
            <a:chExt cx="1343435" cy="1500000"/>
          </a:xfrm>
        </p:grpSpPr>
        <p:sp>
          <p:nvSpPr>
            <p:cNvPr id="9" name="Outline triangle - haut">
              <a:extLst>
                <a:ext uri="{FF2B5EF4-FFF2-40B4-BE49-F238E27FC236}">
                  <a16:creationId xmlns:a16="http://schemas.microsoft.com/office/drawing/2014/main" id="{E8B6B8BE-A0C3-D545-C847-EFFA48DD695F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Outline triangle - milieu">
              <a:extLst>
                <a:ext uri="{FF2B5EF4-FFF2-40B4-BE49-F238E27FC236}">
                  <a16:creationId xmlns:a16="http://schemas.microsoft.com/office/drawing/2014/main" id="{A4EEAEFC-ABBD-BFD1-6C88-46641532B326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11" name="Outline triangle - bas">
              <a:extLst>
                <a:ext uri="{FF2B5EF4-FFF2-40B4-BE49-F238E27FC236}">
                  <a16:creationId xmlns:a16="http://schemas.microsoft.com/office/drawing/2014/main" id="{04D24ECD-62DE-629F-2A34-4CFED0B5290B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40287728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Méthodes</a:t>
            </a:r>
            <a:r>
              <a:rPr dirty="0"/>
              <a:t> </a:t>
            </a:r>
            <a:r>
              <a:rPr dirty="0" err="1"/>
              <a:t>d’appariement</a:t>
            </a:r>
            <a:r>
              <a:rPr dirty="0"/>
              <a:t> — illustration</a:t>
            </a:r>
          </a:p>
        </p:txBody>
      </p:sp>
      <p:sp>
        <p:nvSpPr>
          <p:cNvPr id="11" name="R11"/>
          <p:cNvSpPr/>
          <p:nvPr/>
        </p:nvSpPr>
        <p:spPr>
          <a:xfrm>
            <a:off x="282000" y="850000"/>
            <a:ext cx="2800000" cy="2050000"/>
          </a:xfrm>
          <a:prstGeom prst="roundRect">
            <a:avLst>
              <a:gd name="adj" fmla="val 8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T12"/>
          <p:cNvSpPr txBox="1"/>
          <p:nvPr/>
        </p:nvSpPr>
        <p:spPr>
          <a:xfrm>
            <a:off x="282000" y="910000"/>
            <a:ext cx="280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>
                <a:solidFill>
                  <a:srgbClr val="1F3A4D"/>
                </a:solidFill>
                <a:latin typeface="Calibri"/>
              </a:rPr>
              <a:t>Exact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282000" y="1190000"/>
            <a:ext cx="280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>
                <a:solidFill>
                  <a:srgbClr val="4A4A4A"/>
                </a:solidFill>
                <a:latin typeface="Calibri"/>
              </a:rPr>
              <a:t>X identiques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312000" y="1440000"/>
            <a:ext cx="60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fr-FR" sz="900" b="1">
                <a:solidFill>
                  <a:srgbClr val="2E5E7E"/>
                </a:solidFill>
                <a:latin typeface="Calibri"/>
              </a:rPr>
              <a:t>Traités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312000" y="2270000"/>
            <a:ext cx="60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l">
              <a:buNone/>
            </a:pPr>
            <a:r>
              <a:rPr lang="fr-FR" sz="900" b="1">
                <a:solidFill>
                  <a:srgbClr val="D98E45"/>
                </a:solidFill>
                <a:latin typeface="Calibri"/>
              </a:rPr>
              <a:t>Contrôles</a:t>
            </a:r>
          </a:p>
        </p:txBody>
      </p:sp>
      <p:sp>
        <p:nvSpPr>
          <p:cNvPr id="16" name="C16"/>
          <p:cNvSpPr/>
          <p:nvPr/>
        </p:nvSpPr>
        <p:spPr>
          <a:xfrm>
            <a:off x="962000" y="1560000"/>
            <a:ext cx="240000" cy="24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" name="C17"/>
          <p:cNvSpPr/>
          <p:nvPr/>
        </p:nvSpPr>
        <p:spPr>
          <a:xfrm>
            <a:off x="962000" y="2390000"/>
            <a:ext cx="240000" cy="2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18" name="L18"/>
          <p:cNvCxnSpPr/>
          <p:nvPr/>
        </p:nvCxnSpPr>
        <p:spPr>
          <a:xfrm>
            <a:off x="1082000" y="1800000"/>
            <a:ext cx="1" cy="590000"/>
          </a:xfrm>
          <a:prstGeom prst="line">
            <a:avLst/>
          </a:prstGeom>
          <a:ln w="15875">
            <a:solidFill>
              <a:srgbClr val="6B6B6B"/>
            </a:solidFill>
          </a:ln>
        </p:spPr>
      </p:cxnSp>
      <p:sp>
        <p:nvSpPr>
          <p:cNvPr id="19" name="T19"/>
          <p:cNvSpPr txBox="1"/>
          <p:nvPr/>
        </p:nvSpPr>
        <p:spPr>
          <a:xfrm>
            <a:off x="932000" y="2680000"/>
            <a:ext cx="300000" cy="1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0">
                <a:solidFill>
                  <a:srgbClr val="555555"/>
                </a:solidFill>
                <a:latin typeface="Calibri"/>
              </a:rPr>
              <a:t>X=1</a:t>
            </a:r>
          </a:p>
        </p:txBody>
      </p:sp>
      <p:sp>
        <p:nvSpPr>
          <p:cNvPr id="20" name="C20"/>
          <p:cNvSpPr/>
          <p:nvPr/>
        </p:nvSpPr>
        <p:spPr>
          <a:xfrm>
            <a:off x="1562000" y="1560000"/>
            <a:ext cx="240000" cy="24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" name="C21"/>
          <p:cNvSpPr/>
          <p:nvPr/>
        </p:nvSpPr>
        <p:spPr>
          <a:xfrm>
            <a:off x="1562000" y="2390000"/>
            <a:ext cx="240000" cy="2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22" name="L22"/>
          <p:cNvCxnSpPr/>
          <p:nvPr/>
        </p:nvCxnSpPr>
        <p:spPr>
          <a:xfrm>
            <a:off x="1682000" y="1800000"/>
            <a:ext cx="1" cy="590000"/>
          </a:xfrm>
          <a:prstGeom prst="line">
            <a:avLst/>
          </a:prstGeom>
          <a:ln w="15875">
            <a:solidFill>
              <a:srgbClr val="6B6B6B"/>
            </a:solidFill>
          </a:ln>
        </p:spPr>
      </p:cxnSp>
      <p:sp>
        <p:nvSpPr>
          <p:cNvPr id="23" name="T23"/>
          <p:cNvSpPr txBox="1"/>
          <p:nvPr/>
        </p:nvSpPr>
        <p:spPr>
          <a:xfrm>
            <a:off x="1532000" y="2680000"/>
            <a:ext cx="300000" cy="1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0">
                <a:solidFill>
                  <a:srgbClr val="555555"/>
                </a:solidFill>
                <a:latin typeface="Calibri"/>
              </a:rPr>
              <a:t>X=2</a:t>
            </a:r>
          </a:p>
        </p:txBody>
      </p:sp>
      <p:sp>
        <p:nvSpPr>
          <p:cNvPr id="24" name="C24"/>
          <p:cNvSpPr/>
          <p:nvPr/>
        </p:nvSpPr>
        <p:spPr>
          <a:xfrm>
            <a:off x="2162000" y="1560000"/>
            <a:ext cx="240000" cy="24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5" name="C25"/>
          <p:cNvSpPr/>
          <p:nvPr/>
        </p:nvSpPr>
        <p:spPr>
          <a:xfrm>
            <a:off x="2162000" y="2390000"/>
            <a:ext cx="240000" cy="2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26" name="L26"/>
          <p:cNvCxnSpPr/>
          <p:nvPr/>
        </p:nvCxnSpPr>
        <p:spPr>
          <a:xfrm>
            <a:off x="2282000" y="1800000"/>
            <a:ext cx="1" cy="590000"/>
          </a:xfrm>
          <a:prstGeom prst="line">
            <a:avLst/>
          </a:prstGeom>
          <a:ln w="15875">
            <a:solidFill>
              <a:srgbClr val="6B6B6B"/>
            </a:solidFill>
          </a:ln>
        </p:spPr>
      </p:cxnSp>
      <p:sp>
        <p:nvSpPr>
          <p:cNvPr id="27" name="T27"/>
          <p:cNvSpPr txBox="1"/>
          <p:nvPr/>
        </p:nvSpPr>
        <p:spPr>
          <a:xfrm>
            <a:off x="2132000" y="2680000"/>
            <a:ext cx="300000" cy="1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0">
                <a:solidFill>
                  <a:srgbClr val="555555"/>
                </a:solidFill>
                <a:latin typeface="Calibri"/>
              </a:rPr>
              <a:t>X=3</a:t>
            </a:r>
          </a:p>
        </p:txBody>
      </p:sp>
      <p:sp>
        <p:nvSpPr>
          <p:cNvPr id="28" name="R28"/>
          <p:cNvSpPr/>
          <p:nvPr/>
        </p:nvSpPr>
        <p:spPr>
          <a:xfrm>
            <a:off x="3227104" y="850000"/>
            <a:ext cx="2928457" cy="2050000"/>
          </a:xfrm>
          <a:prstGeom prst="roundRect">
            <a:avLst>
              <a:gd name="adj" fmla="val 8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9" name="T29"/>
          <p:cNvSpPr txBox="1"/>
          <p:nvPr/>
        </p:nvSpPr>
        <p:spPr>
          <a:xfrm>
            <a:off x="3310561" y="910000"/>
            <a:ext cx="280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>
                <a:solidFill>
                  <a:srgbClr val="1F3A4D"/>
                </a:solidFill>
                <a:latin typeface="Calibri"/>
              </a:rPr>
              <a:t>Coarsened-Exact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3310561" y="1190000"/>
            <a:ext cx="280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>
                <a:solidFill>
                  <a:srgbClr val="4A4A4A"/>
                </a:solidFill>
                <a:latin typeface="Calibri"/>
              </a:rPr>
              <a:t>Exact après discrétisation</a:t>
            </a:r>
          </a:p>
        </p:txBody>
      </p:sp>
      <p:sp>
        <p:nvSpPr>
          <p:cNvPr id="31" name="Bin31"/>
          <p:cNvSpPr/>
          <p:nvPr/>
        </p:nvSpPr>
        <p:spPr>
          <a:xfrm>
            <a:off x="3510561" y="1480000"/>
            <a:ext cx="1100000" cy="1180000"/>
          </a:xfrm>
          <a:prstGeom prst="rect">
            <a:avLst/>
          </a:prstGeom>
          <a:noFill/>
          <a:ln w="12700" cmpd="sng">
            <a:solidFill>
              <a:srgbClr val="B9B0A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2" name="C32"/>
          <p:cNvSpPr/>
          <p:nvPr/>
        </p:nvSpPr>
        <p:spPr>
          <a:xfrm>
            <a:off x="3787227" y="1670000"/>
            <a:ext cx="180000" cy="18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3" name="C33"/>
          <p:cNvSpPr/>
          <p:nvPr/>
        </p:nvSpPr>
        <p:spPr>
          <a:xfrm>
            <a:off x="4153894" y="1670000"/>
            <a:ext cx="180000" cy="18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4" name="C34"/>
          <p:cNvSpPr/>
          <p:nvPr/>
        </p:nvSpPr>
        <p:spPr>
          <a:xfrm>
            <a:off x="3695561" y="239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5" name="C35"/>
          <p:cNvSpPr/>
          <p:nvPr/>
        </p:nvSpPr>
        <p:spPr>
          <a:xfrm>
            <a:off x="3970561" y="239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" name="C36"/>
          <p:cNvSpPr/>
          <p:nvPr/>
        </p:nvSpPr>
        <p:spPr>
          <a:xfrm>
            <a:off x="4245561" y="239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7" name="T37"/>
          <p:cNvSpPr txBox="1"/>
          <p:nvPr/>
        </p:nvSpPr>
        <p:spPr>
          <a:xfrm>
            <a:off x="3510561" y="1510000"/>
            <a:ext cx="110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>
                <a:solidFill>
                  <a:srgbClr val="6B6B6B"/>
                </a:solidFill>
                <a:latin typeface="Calibri"/>
              </a:rPr>
              <a:t>Bin 1</a:t>
            </a:r>
          </a:p>
        </p:txBody>
      </p:sp>
      <p:sp>
        <p:nvSpPr>
          <p:cNvPr id="38" name="Bin38"/>
          <p:cNvSpPr/>
          <p:nvPr/>
        </p:nvSpPr>
        <p:spPr>
          <a:xfrm>
            <a:off x="4810561" y="1480000"/>
            <a:ext cx="1100000" cy="1180000"/>
          </a:xfrm>
          <a:prstGeom prst="rect">
            <a:avLst/>
          </a:prstGeom>
          <a:noFill/>
          <a:ln w="12700" cmpd="sng">
            <a:solidFill>
              <a:srgbClr val="B9B0A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39" name="C39"/>
          <p:cNvSpPr/>
          <p:nvPr/>
        </p:nvSpPr>
        <p:spPr>
          <a:xfrm>
            <a:off x="5087227" y="1670000"/>
            <a:ext cx="180000" cy="18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" name="C40"/>
          <p:cNvSpPr/>
          <p:nvPr/>
        </p:nvSpPr>
        <p:spPr>
          <a:xfrm>
            <a:off x="5453894" y="1670000"/>
            <a:ext cx="180000" cy="18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" name="C41"/>
          <p:cNvSpPr/>
          <p:nvPr/>
        </p:nvSpPr>
        <p:spPr>
          <a:xfrm>
            <a:off x="4995561" y="239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2" name="C42"/>
          <p:cNvSpPr/>
          <p:nvPr/>
        </p:nvSpPr>
        <p:spPr>
          <a:xfrm>
            <a:off x="5270561" y="239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" name="C43"/>
          <p:cNvSpPr/>
          <p:nvPr/>
        </p:nvSpPr>
        <p:spPr>
          <a:xfrm>
            <a:off x="5545561" y="239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4" name="T44"/>
          <p:cNvSpPr txBox="1"/>
          <p:nvPr/>
        </p:nvSpPr>
        <p:spPr>
          <a:xfrm>
            <a:off x="4810561" y="1510000"/>
            <a:ext cx="110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>
                <a:solidFill>
                  <a:srgbClr val="6B6B6B"/>
                </a:solidFill>
                <a:latin typeface="Calibri"/>
              </a:rPr>
              <a:t>Bin 2</a:t>
            </a:r>
          </a:p>
        </p:txBody>
      </p:sp>
      <p:sp>
        <p:nvSpPr>
          <p:cNvPr id="45" name="R45"/>
          <p:cNvSpPr/>
          <p:nvPr/>
        </p:nvSpPr>
        <p:spPr>
          <a:xfrm>
            <a:off x="6232479" y="850000"/>
            <a:ext cx="2800000" cy="2050000"/>
          </a:xfrm>
          <a:prstGeom prst="roundRect">
            <a:avLst>
              <a:gd name="adj" fmla="val 8000"/>
            </a:avLst>
          </a:prstGeom>
          <a:solidFill>
            <a:schemeClr val="accent6">
              <a:lumMod val="40000"/>
              <a:lumOff val="60000"/>
            </a:schemeClr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6" name="T46"/>
          <p:cNvSpPr txBox="1"/>
          <p:nvPr/>
        </p:nvSpPr>
        <p:spPr>
          <a:xfrm>
            <a:off x="6232479" y="910000"/>
            <a:ext cx="280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>
                <a:solidFill>
                  <a:srgbClr val="1F3A4D"/>
                </a:solidFill>
                <a:latin typeface="Calibri"/>
              </a:rPr>
              <a:t>Nearest-Neighbor</a:t>
            </a:r>
          </a:p>
        </p:txBody>
      </p:sp>
      <p:sp>
        <p:nvSpPr>
          <p:cNvPr id="47" name="T47"/>
          <p:cNvSpPr txBox="1"/>
          <p:nvPr/>
        </p:nvSpPr>
        <p:spPr>
          <a:xfrm>
            <a:off x="6232479" y="1190000"/>
            <a:ext cx="280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>
                <a:solidFill>
                  <a:srgbClr val="4A4A4A"/>
                </a:solidFill>
                <a:latin typeface="Calibri"/>
              </a:rPr>
              <a:t>Plus proche voisin</a:t>
            </a:r>
          </a:p>
        </p:txBody>
      </p:sp>
      <p:sp>
        <p:nvSpPr>
          <p:cNvPr id="48" name="C48"/>
          <p:cNvSpPr/>
          <p:nvPr/>
        </p:nvSpPr>
        <p:spPr>
          <a:xfrm>
            <a:off x="7149145" y="1530000"/>
            <a:ext cx="200000" cy="20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9" name="C49"/>
          <p:cNvSpPr/>
          <p:nvPr/>
        </p:nvSpPr>
        <p:spPr>
          <a:xfrm>
            <a:off x="7915812" y="1530000"/>
            <a:ext cx="200000" cy="20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0" name="C50"/>
          <p:cNvSpPr/>
          <p:nvPr/>
        </p:nvSpPr>
        <p:spPr>
          <a:xfrm>
            <a:off x="6738548" y="2375000"/>
            <a:ext cx="170000" cy="17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1" name="C51"/>
          <p:cNvSpPr/>
          <p:nvPr/>
        </p:nvSpPr>
        <p:spPr>
          <a:xfrm>
            <a:off x="6989145" y="2163000"/>
            <a:ext cx="170000" cy="17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2" name="C52"/>
          <p:cNvSpPr/>
          <p:nvPr/>
        </p:nvSpPr>
        <p:spPr>
          <a:xfrm>
            <a:off x="7497479" y="2480000"/>
            <a:ext cx="170000" cy="17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3" name="C53"/>
          <p:cNvSpPr/>
          <p:nvPr/>
        </p:nvSpPr>
        <p:spPr>
          <a:xfrm>
            <a:off x="7791540" y="1957500"/>
            <a:ext cx="170000" cy="17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4" name="C54"/>
          <p:cNvSpPr/>
          <p:nvPr/>
        </p:nvSpPr>
        <p:spPr>
          <a:xfrm>
            <a:off x="8399145" y="2125740"/>
            <a:ext cx="170000" cy="17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5" name="L55"/>
          <p:cNvCxnSpPr>
            <a:cxnSpLocks/>
            <a:endCxn id="51" idx="7"/>
          </p:cNvCxnSpPr>
          <p:nvPr/>
        </p:nvCxnSpPr>
        <p:spPr>
          <a:xfrm flipH="1">
            <a:off x="7134249" y="1730000"/>
            <a:ext cx="114896" cy="457896"/>
          </a:xfrm>
          <a:prstGeom prst="line">
            <a:avLst/>
          </a:prstGeom>
          <a:ln w="19050">
            <a:solidFill>
              <a:srgbClr val="6B6B6B"/>
            </a:solidFill>
          </a:ln>
        </p:spPr>
      </p:cxnSp>
      <p:cxnSp>
        <p:nvCxnSpPr>
          <p:cNvPr id="56" name="L56"/>
          <p:cNvCxnSpPr>
            <a:cxnSpLocks/>
            <a:endCxn id="53" idx="7"/>
          </p:cNvCxnSpPr>
          <p:nvPr/>
        </p:nvCxnSpPr>
        <p:spPr>
          <a:xfrm flipH="1">
            <a:off x="7936644" y="1730000"/>
            <a:ext cx="79168" cy="252396"/>
          </a:xfrm>
          <a:prstGeom prst="line">
            <a:avLst/>
          </a:prstGeom>
          <a:ln w="19050">
            <a:solidFill>
              <a:srgbClr val="6B6B6B"/>
            </a:solidFill>
          </a:ln>
        </p:spPr>
      </p:cxnSp>
      <p:sp>
        <p:nvSpPr>
          <p:cNvPr id="57" name="R57"/>
          <p:cNvSpPr/>
          <p:nvPr/>
        </p:nvSpPr>
        <p:spPr>
          <a:xfrm>
            <a:off x="282000" y="3050000"/>
            <a:ext cx="2800000" cy="2050000"/>
          </a:xfrm>
          <a:prstGeom prst="roundRect">
            <a:avLst>
              <a:gd name="adj" fmla="val 8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8" name="T58"/>
          <p:cNvSpPr txBox="1"/>
          <p:nvPr/>
        </p:nvSpPr>
        <p:spPr>
          <a:xfrm>
            <a:off x="282000" y="3110000"/>
            <a:ext cx="280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>
                <a:solidFill>
                  <a:srgbClr val="1F3A4D"/>
                </a:solidFill>
                <a:latin typeface="Calibri"/>
              </a:rPr>
              <a:t>Optimal</a:t>
            </a:r>
          </a:p>
        </p:txBody>
      </p:sp>
      <p:sp>
        <p:nvSpPr>
          <p:cNvPr id="59" name="T59"/>
          <p:cNvSpPr txBox="1"/>
          <p:nvPr/>
        </p:nvSpPr>
        <p:spPr>
          <a:xfrm>
            <a:off x="282000" y="3390000"/>
            <a:ext cx="280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>
                <a:solidFill>
                  <a:srgbClr val="4A4A4A"/>
                </a:solidFill>
                <a:latin typeface="Calibri"/>
              </a:rPr>
              <a:t>Distance totale minimisée</a:t>
            </a:r>
          </a:p>
        </p:txBody>
      </p:sp>
      <p:sp>
        <p:nvSpPr>
          <p:cNvPr id="60" name="C60"/>
          <p:cNvSpPr/>
          <p:nvPr/>
        </p:nvSpPr>
        <p:spPr>
          <a:xfrm>
            <a:off x="805333" y="3720000"/>
            <a:ext cx="220000" cy="22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1" name="C61"/>
          <p:cNvSpPr/>
          <p:nvPr/>
        </p:nvSpPr>
        <p:spPr>
          <a:xfrm>
            <a:off x="1572000" y="3720000"/>
            <a:ext cx="220000" cy="22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2" name="C62"/>
          <p:cNvSpPr/>
          <p:nvPr/>
        </p:nvSpPr>
        <p:spPr>
          <a:xfrm>
            <a:off x="2338666" y="3720000"/>
            <a:ext cx="220000" cy="22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3" name="C63"/>
          <p:cNvSpPr/>
          <p:nvPr/>
        </p:nvSpPr>
        <p:spPr>
          <a:xfrm>
            <a:off x="882000" y="4700000"/>
            <a:ext cx="220000" cy="22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4" name="C64"/>
          <p:cNvSpPr/>
          <p:nvPr/>
        </p:nvSpPr>
        <p:spPr>
          <a:xfrm>
            <a:off x="1622000" y="4700000"/>
            <a:ext cx="220000" cy="22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5" name="C65"/>
          <p:cNvSpPr/>
          <p:nvPr/>
        </p:nvSpPr>
        <p:spPr>
          <a:xfrm>
            <a:off x="2399967" y="4480000"/>
            <a:ext cx="220000" cy="22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66" name="L66"/>
          <p:cNvCxnSpPr/>
          <p:nvPr/>
        </p:nvCxnSpPr>
        <p:spPr>
          <a:xfrm>
            <a:off x="915333" y="3940000"/>
            <a:ext cx="76667" cy="760000"/>
          </a:xfrm>
          <a:prstGeom prst="line">
            <a:avLst/>
          </a:prstGeom>
          <a:ln w="19050">
            <a:solidFill>
              <a:srgbClr val="6B6B6B"/>
            </a:solidFill>
          </a:ln>
        </p:spPr>
      </p:cxnSp>
      <p:cxnSp>
        <p:nvCxnSpPr>
          <p:cNvPr id="67" name="L67"/>
          <p:cNvCxnSpPr/>
          <p:nvPr/>
        </p:nvCxnSpPr>
        <p:spPr>
          <a:xfrm>
            <a:off x="1682000" y="3940000"/>
            <a:ext cx="50000" cy="760000"/>
          </a:xfrm>
          <a:prstGeom prst="line">
            <a:avLst/>
          </a:prstGeom>
          <a:ln w="19050">
            <a:solidFill>
              <a:srgbClr val="6B6B6B"/>
            </a:solidFill>
          </a:ln>
        </p:spPr>
      </p:cxnSp>
      <p:cxnSp>
        <p:nvCxnSpPr>
          <p:cNvPr id="68" name="L68"/>
          <p:cNvCxnSpPr>
            <a:cxnSpLocks/>
            <a:stCxn id="62" idx="4"/>
            <a:endCxn id="65" idx="0"/>
          </p:cNvCxnSpPr>
          <p:nvPr/>
        </p:nvCxnSpPr>
        <p:spPr>
          <a:xfrm>
            <a:off x="2448666" y="3940000"/>
            <a:ext cx="61301" cy="540000"/>
          </a:xfrm>
          <a:prstGeom prst="line">
            <a:avLst/>
          </a:prstGeom>
          <a:ln w="19050">
            <a:solidFill>
              <a:srgbClr val="6B6B6B"/>
            </a:solidFill>
          </a:ln>
        </p:spPr>
      </p:cxnSp>
      <p:sp>
        <p:nvSpPr>
          <p:cNvPr id="69" name="T69"/>
          <p:cNvSpPr txBox="1"/>
          <p:nvPr/>
        </p:nvSpPr>
        <p:spPr>
          <a:xfrm>
            <a:off x="282000" y="4940000"/>
            <a:ext cx="2800000" cy="16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0">
                <a:solidFill>
                  <a:srgbClr val="555555"/>
                </a:solidFill>
                <a:latin typeface="Calibri"/>
              </a:rPr>
              <a:t>Σ distances minimisée</a:t>
            </a:r>
          </a:p>
        </p:txBody>
      </p:sp>
      <p:sp>
        <p:nvSpPr>
          <p:cNvPr id="70" name="R70"/>
          <p:cNvSpPr/>
          <p:nvPr/>
        </p:nvSpPr>
        <p:spPr>
          <a:xfrm>
            <a:off x="3227104" y="3050000"/>
            <a:ext cx="2800000" cy="2050000"/>
          </a:xfrm>
          <a:prstGeom prst="roundRect">
            <a:avLst>
              <a:gd name="adj" fmla="val 8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71" name="T71"/>
          <p:cNvSpPr txBox="1"/>
          <p:nvPr/>
        </p:nvSpPr>
        <p:spPr>
          <a:xfrm>
            <a:off x="3227104" y="3110000"/>
            <a:ext cx="280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>
                <a:solidFill>
                  <a:srgbClr val="1F3A4D"/>
                </a:solidFill>
                <a:latin typeface="Calibri"/>
              </a:rPr>
              <a:t>Full</a:t>
            </a:r>
          </a:p>
        </p:txBody>
      </p:sp>
      <p:sp>
        <p:nvSpPr>
          <p:cNvPr id="72" name="T72"/>
          <p:cNvSpPr txBox="1"/>
          <p:nvPr/>
        </p:nvSpPr>
        <p:spPr>
          <a:xfrm>
            <a:off x="3227104" y="3390000"/>
            <a:ext cx="280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>
                <a:solidFill>
                  <a:srgbClr val="4A4A4A"/>
                </a:solidFill>
                <a:latin typeface="Calibri"/>
              </a:rPr>
              <a:t>Toutes les unités, poids variables</a:t>
            </a:r>
          </a:p>
        </p:txBody>
      </p:sp>
      <p:sp>
        <p:nvSpPr>
          <p:cNvPr id="73" name="C73"/>
          <p:cNvSpPr/>
          <p:nvPr/>
        </p:nvSpPr>
        <p:spPr>
          <a:xfrm>
            <a:off x="4143770" y="3730000"/>
            <a:ext cx="200000" cy="20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4" name="C74"/>
          <p:cNvSpPr/>
          <p:nvPr/>
        </p:nvSpPr>
        <p:spPr>
          <a:xfrm>
            <a:off x="4910437" y="3730000"/>
            <a:ext cx="200000" cy="20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5" name="C75"/>
          <p:cNvSpPr/>
          <p:nvPr/>
        </p:nvSpPr>
        <p:spPr>
          <a:xfrm>
            <a:off x="3760437" y="47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6" name="C76"/>
          <p:cNvSpPr/>
          <p:nvPr/>
        </p:nvSpPr>
        <p:spPr>
          <a:xfrm>
            <a:off x="4527104" y="47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77" name="C77"/>
          <p:cNvSpPr/>
          <p:nvPr/>
        </p:nvSpPr>
        <p:spPr>
          <a:xfrm>
            <a:off x="5293770" y="47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78" name="L78"/>
          <p:cNvCxnSpPr/>
          <p:nvPr/>
        </p:nvCxnSpPr>
        <p:spPr>
          <a:xfrm flipH="1">
            <a:off x="3860437" y="3930000"/>
            <a:ext cx="383333" cy="780000"/>
          </a:xfrm>
          <a:prstGeom prst="line">
            <a:avLst/>
          </a:prstGeom>
          <a:ln w="57150">
            <a:solidFill>
              <a:srgbClr val="6B6B6B"/>
            </a:solidFill>
          </a:ln>
        </p:spPr>
      </p:cxnSp>
      <p:cxnSp>
        <p:nvCxnSpPr>
          <p:cNvPr id="79" name="L79"/>
          <p:cNvCxnSpPr/>
          <p:nvPr/>
        </p:nvCxnSpPr>
        <p:spPr>
          <a:xfrm>
            <a:off x="4243770" y="3930000"/>
            <a:ext cx="383334" cy="780000"/>
          </a:xfrm>
          <a:prstGeom prst="line">
            <a:avLst/>
          </a:prstGeom>
          <a:ln w="57150">
            <a:solidFill>
              <a:srgbClr val="6B6B6B"/>
            </a:solidFill>
          </a:ln>
        </p:spPr>
      </p:cxnSp>
      <p:cxnSp>
        <p:nvCxnSpPr>
          <p:cNvPr id="80" name="L80"/>
          <p:cNvCxnSpPr/>
          <p:nvPr/>
        </p:nvCxnSpPr>
        <p:spPr>
          <a:xfrm>
            <a:off x="4243770" y="3930000"/>
            <a:ext cx="1150000" cy="780000"/>
          </a:xfrm>
          <a:prstGeom prst="line">
            <a:avLst/>
          </a:prstGeom>
          <a:ln w="17000">
            <a:solidFill>
              <a:srgbClr val="6B6B6B"/>
            </a:solidFill>
          </a:ln>
        </p:spPr>
      </p:cxnSp>
      <p:cxnSp>
        <p:nvCxnSpPr>
          <p:cNvPr id="81" name="L81"/>
          <p:cNvCxnSpPr/>
          <p:nvPr/>
        </p:nvCxnSpPr>
        <p:spPr>
          <a:xfrm flipH="1">
            <a:off x="3860437" y="3930000"/>
            <a:ext cx="1150000" cy="780000"/>
          </a:xfrm>
          <a:prstGeom prst="line">
            <a:avLst/>
          </a:prstGeom>
          <a:ln w="17000">
            <a:solidFill>
              <a:srgbClr val="6B6B6B"/>
            </a:solidFill>
          </a:ln>
        </p:spPr>
      </p:cxnSp>
      <p:cxnSp>
        <p:nvCxnSpPr>
          <p:cNvPr id="82" name="L82"/>
          <p:cNvCxnSpPr/>
          <p:nvPr/>
        </p:nvCxnSpPr>
        <p:spPr>
          <a:xfrm flipH="1">
            <a:off x="4627104" y="3930000"/>
            <a:ext cx="383333" cy="780000"/>
          </a:xfrm>
          <a:prstGeom prst="line">
            <a:avLst/>
          </a:prstGeom>
          <a:ln w="57150">
            <a:solidFill>
              <a:srgbClr val="6B6B6B"/>
            </a:solidFill>
          </a:ln>
        </p:spPr>
      </p:cxnSp>
      <p:cxnSp>
        <p:nvCxnSpPr>
          <p:cNvPr id="83" name="L83"/>
          <p:cNvCxnSpPr/>
          <p:nvPr/>
        </p:nvCxnSpPr>
        <p:spPr>
          <a:xfrm>
            <a:off x="5010437" y="3930000"/>
            <a:ext cx="383333" cy="780000"/>
          </a:xfrm>
          <a:prstGeom prst="line">
            <a:avLst/>
          </a:prstGeom>
          <a:ln w="57150">
            <a:solidFill>
              <a:srgbClr val="6B6B6B"/>
            </a:solidFill>
          </a:ln>
        </p:spPr>
      </p:cxnSp>
      <p:sp>
        <p:nvSpPr>
          <p:cNvPr id="90" name="R90"/>
          <p:cNvSpPr/>
          <p:nvPr/>
        </p:nvSpPr>
        <p:spPr>
          <a:xfrm>
            <a:off x="6232479" y="3050000"/>
            <a:ext cx="2800000" cy="2050000"/>
          </a:xfrm>
          <a:prstGeom prst="roundRect">
            <a:avLst>
              <a:gd name="adj" fmla="val 8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 dirty="0"/>
          </a:p>
        </p:txBody>
      </p:sp>
      <p:sp>
        <p:nvSpPr>
          <p:cNvPr id="91" name="T91"/>
          <p:cNvSpPr txBox="1"/>
          <p:nvPr/>
        </p:nvSpPr>
        <p:spPr>
          <a:xfrm>
            <a:off x="6232479" y="3110000"/>
            <a:ext cx="280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>
                <a:solidFill>
                  <a:srgbClr val="1F3A4D"/>
                </a:solidFill>
                <a:latin typeface="Calibri"/>
              </a:rPr>
              <a:t>Noyau</a:t>
            </a:r>
          </a:p>
        </p:txBody>
      </p:sp>
      <p:sp>
        <p:nvSpPr>
          <p:cNvPr id="92" name="T92"/>
          <p:cNvSpPr txBox="1"/>
          <p:nvPr/>
        </p:nvSpPr>
        <p:spPr>
          <a:xfrm>
            <a:off x="6232479" y="3390000"/>
            <a:ext cx="280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>
                <a:solidFill>
                  <a:srgbClr val="4A4A4A"/>
                </a:solidFill>
                <a:latin typeface="Calibri"/>
              </a:rPr>
              <a:t>Poids décroissants (fenêtre h)</a:t>
            </a:r>
          </a:p>
        </p:txBody>
      </p:sp>
      <p:sp>
        <p:nvSpPr>
          <p:cNvPr id="93" name="W93"/>
          <p:cNvSpPr/>
          <p:nvPr/>
        </p:nvSpPr>
        <p:spPr>
          <a:xfrm>
            <a:off x="7134249" y="4655000"/>
            <a:ext cx="981563" cy="320000"/>
          </a:xfrm>
          <a:prstGeom prst="roundRect">
            <a:avLst>
              <a:gd name="adj" fmla="val 18000"/>
            </a:avLst>
          </a:prstGeom>
          <a:noFill/>
          <a:ln w="38100" cmpd="sng">
            <a:solidFill>
              <a:srgbClr val="B9B0A2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94" name="C94"/>
          <p:cNvSpPr/>
          <p:nvPr/>
        </p:nvSpPr>
        <p:spPr>
          <a:xfrm>
            <a:off x="7482479" y="3730000"/>
            <a:ext cx="200000" cy="20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5" name="C95"/>
          <p:cNvSpPr/>
          <p:nvPr/>
        </p:nvSpPr>
        <p:spPr>
          <a:xfrm>
            <a:off x="6732479" y="47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6" name="C96"/>
          <p:cNvSpPr/>
          <p:nvPr/>
        </p:nvSpPr>
        <p:spPr>
          <a:xfrm>
            <a:off x="7232479" y="47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7" name="C97"/>
          <p:cNvSpPr/>
          <p:nvPr/>
        </p:nvSpPr>
        <p:spPr>
          <a:xfrm>
            <a:off x="7732479" y="47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98" name="C98"/>
          <p:cNvSpPr/>
          <p:nvPr/>
        </p:nvSpPr>
        <p:spPr>
          <a:xfrm>
            <a:off x="8232479" y="47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100" name="L100"/>
          <p:cNvCxnSpPr/>
          <p:nvPr/>
        </p:nvCxnSpPr>
        <p:spPr>
          <a:xfrm flipH="1">
            <a:off x="7332479" y="3930000"/>
            <a:ext cx="250000" cy="780000"/>
          </a:xfrm>
          <a:prstGeom prst="line">
            <a:avLst/>
          </a:prstGeom>
          <a:ln w="50800">
            <a:solidFill>
              <a:srgbClr val="6B6B6B"/>
            </a:solidFill>
          </a:ln>
        </p:spPr>
      </p:cxnSp>
      <p:cxnSp>
        <p:nvCxnSpPr>
          <p:cNvPr id="101" name="L101"/>
          <p:cNvCxnSpPr/>
          <p:nvPr/>
        </p:nvCxnSpPr>
        <p:spPr>
          <a:xfrm>
            <a:off x="7582479" y="3930000"/>
            <a:ext cx="250000" cy="780000"/>
          </a:xfrm>
          <a:prstGeom prst="line">
            <a:avLst/>
          </a:prstGeom>
          <a:ln w="50800">
            <a:solidFill>
              <a:srgbClr val="6B6B6B"/>
            </a:solidFill>
          </a:ln>
        </p:spPr>
      </p:cxnSp>
      <p:sp>
        <p:nvSpPr>
          <p:cNvPr id="3" name="C41">
            <a:extLst>
              <a:ext uri="{FF2B5EF4-FFF2-40B4-BE49-F238E27FC236}">
                <a16:creationId xmlns:a16="http://schemas.microsoft.com/office/drawing/2014/main" id="{5B67D650-AAE5-0F63-5C7E-700258E9C3AF}"/>
              </a:ext>
            </a:extLst>
          </p:cNvPr>
          <p:cNvSpPr/>
          <p:nvPr/>
        </p:nvSpPr>
        <p:spPr>
          <a:xfrm>
            <a:off x="5949492" y="239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" name="C32">
            <a:extLst>
              <a:ext uri="{FF2B5EF4-FFF2-40B4-BE49-F238E27FC236}">
                <a16:creationId xmlns:a16="http://schemas.microsoft.com/office/drawing/2014/main" id="{ED1A541A-AC67-1A55-9591-99EE4F7A301D}"/>
              </a:ext>
            </a:extLst>
          </p:cNvPr>
          <p:cNvSpPr/>
          <p:nvPr/>
        </p:nvSpPr>
        <p:spPr>
          <a:xfrm>
            <a:off x="3327228" y="1650000"/>
            <a:ext cx="180000" cy="18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" name="C25">
            <a:extLst>
              <a:ext uri="{FF2B5EF4-FFF2-40B4-BE49-F238E27FC236}">
                <a16:creationId xmlns:a16="http://schemas.microsoft.com/office/drawing/2014/main" id="{62343316-848C-1D4E-7F62-D6D1577AD204}"/>
              </a:ext>
            </a:extLst>
          </p:cNvPr>
          <p:cNvSpPr/>
          <p:nvPr/>
        </p:nvSpPr>
        <p:spPr>
          <a:xfrm>
            <a:off x="2619967" y="2390000"/>
            <a:ext cx="240000" cy="2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" name="T27">
            <a:extLst>
              <a:ext uri="{FF2B5EF4-FFF2-40B4-BE49-F238E27FC236}">
                <a16:creationId xmlns:a16="http://schemas.microsoft.com/office/drawing/2014/main" id="{EE506DBA-FA1F-1044-DF77-36FDC2979983}"/>
              </a:ext>
            </a:extLst>
          </p:cNvPr>
          <p:cNvSpPr txBox="1"/>
          <p:nvPr/>
        </p:nvSpPr>
        <p:spPr>
          <a:xfrm>
            <a:off x="2589967" y="2680000"/>
            <a:ext cx="300000" cy="1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0" dirty="0">
                <a:solidFill>
                  <a:srgbClr val="555555"/>
                </a:solidFill>
                <a:latin typeface="Calibri"/>
              </a:rPr>
              <a:t>X=4</a:t>
            </a:r>
          </a:p>
        </p:txBody>
      </p:sp>
      <p:sp>
        <p:nvSpPr>
          <p:cNvPr id="7" name="C65">
            <a:extLst>
              <a:ext uri="{FF2B5EF4-FFF2-40B4-BE49-F238E27FC236}">
                <a16:creationId xmlns:a16="http://schemas.microsoft.com/office/drawing/2014/main" id="{68B64C90-3386-781F-A071-89BFB952B6F3}"/>
              </a:ext>
            </a:extLst>
          </p:cNvPr>
          <p:cNvSpPr/>
          <p:nvPr/>
        </p:nvSpPr>
        <p:spPr>
          <a:xfrm>
            <a:off x="2801729" y="4742400"/>
            <a:ext cx="220000" cy="22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84" name="Gruppieren 83">
            <a:extLst>
              <a:ext uri="{FF2B5EF4-FFF2-40B4-BE49-F238E27FC236}">
                <a16:creationId xmlns:a16="http://schemas.microsoft.com/office/drawing/2014/main" id="{5B054A58-5BF9-B0CC-1F95-2227B941E970}"/>
              </a:ext>
            </a:extLst>
          </p:cNvPr>
          <p:cNvGrpSpPr/>
          <p:nvPr/>
        </p:nvGrpSpPr>
        <p:grpSpPr>
          <a:xfrm>
            <a:off x="8399145" y="180000"/>
            <a:ext cx="296620" cy="603000"/>
            <a:chOff x="3380965" y="180000"/>
            <a:chExt cx="1343435" cy="1500000"/>
          </a:xfrm>
        </p:grpSpPr>
        <p:sp>
          <p:nvSpPr>
            <p:cNvPr id="85" name="Outline triangle - haut">
              <a:extLst>
                <a:ext uri="{FF2B5EF4-FFF2-40B4-BE49-F238E27FC236}">
                  <a16:creationId xmlns:a16="http://schemas.microsoft.com/office/drawing/2014/main" id="{5E170F61-E459-9C2B-4DE1-4B9B15AB387C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86" name="Outline triangle - milieu">
              <a:extLst>
                <a:ext uri="{FF2B5EF4-FFF2-40B4-BE49-F238E27FC236}">
                  <a16:creationId xmlns:a16="http://schemas.microsoft.com/office/drawing/2014/main" id="{72F52A51-6ACF-4614-4B03-2269AC58B2C7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7" name="Outline triangle - bas">
              <a:extLst>
                <a:ext uri="{FF2B5EF4-FFF2-40B4-BE49-F238E27FC236}">
                  <a16:creationId xmlns:a16="http://schemas.microsoft.com/office/drawing/2014/main" id="{096F98C6-9468-3C37-6BDA-1D59A4F13C85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dirty="0" err="1"/>
              <a:t>Mesures</a:t>
            </a:r>
            <a:r>
              <a:rPr dirty="0"/>
              <a:t> de distance </a:t>
            </a:r>
            <a:r>
              <a:rPr lang="fr-FR" dirty="0"/>
              <a:t>pour définir “le plus proche”</a:t>
            </a:r>
            <a:endParaRPr dirty="0"/>
          </a:p>
        </p:txBody>
      </p:sp>
      <p:sp>
        <p:nvSpPr>
          <p:cNvPr id="11" name="R11"/>
          <p:cNvSpPr/>
          <p:nvPr/>
        </p:nvSpPr>
        <p:spPr>
          <a:xfrm>
            <a:off x="242000" y="900000"/>
            <a:ext cx="2820000" cy="3500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2" name="T12"/>
          <p:cNvSpPr txBox="1"/>
          <p:nvPr/>
        </p:nvSpPr>
        <p:spPr>
          <a:xfrm>
            <a:off x="242000" y="960000"/>
            <a:ext cx="282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 i="0">
                <a:solidFill>
                  <a:srgbClr val="1F3A4D"/>
                </a:solidFill>
                <a:latin typeface="Calibri"/>
              </a:rPr>
              <a:t>Distance euclidienne</a:t>
            </a:r>
          </a:p>
        </p:txBody>
      </p:sp>
      <p:sp>
        <p:nvSpPr>
          <p:cNvPr id="13" name="T13"/>
          <p:cNvSpPr txBox="1"/>
          <p:nvPr/>
        </p:nvSpPr>
        <p:spPr>
          <a:xfrm>
            <a:off x="242000" y="1240000"/>
            <a:ext cx="282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0" i="1">
                <a:solidFill>
                  <a:srgbClr val="555555"/>
                </a:solidFill>
                <a:latin typeface="Calibri"/>
              </a:rPr>
              <a:t>√(Σ (xᵢ − yᵢ)²)</a:t>
            </a:r>
          </a:p>
        </p:txBody>
      </p:sp>
      <p:cxnSp>
        <p:nvCxnSpPr>
          <p:cNvPr id="14" name="L14"/>
          <p:cNvCxnSpPr/>
          <p:nvPr/>
        </p:nvCxnSpPr>
        <p:spPr>
          <a:xfrm>
            <a:off x="492000" y="4000000"/>
            <a:ext cx="2320000" cy="1"/>
          </a:xfrm>
          <a:prstGeom prst="line">
            <a:avLst/>
          </a:prstGeom>
          <a:ln w="9525">
            <a:solidFill>
              <a:srgbClr val="8C8278"/>
            </a:solidFill>
          </a:ln>
        </p:spPr>
      </p:cxnSp>
      <p:cxnSp>
        <p:nvCxnSpPr>
          <p:cNvPr id="15" name="L15"/>
          <p:cNvCxnSpPr/>
          <p:nvPr/>
        </p:nvCxnSpPr>
        <p:spPr>
          <a:xfrm>
            <a:off x="492000" y="1600000"/>
            <a:ext cx="1" cy="2400000"/>
          </a:xfrm>
          <a:prstGeom prst="line">
            <a:avLst/>
          </a:prstGeom>
          <a:ln w="9525">
            <a:solidFill>
              <a:srgbClr val="8C8278"/>
            </a:solidFill>
          </a:ln>
        </p:spPr>
      </p:cxnSp>
      <p:sp>
        <p:nvSpPr>
          <p:cNvPr id="16" name="C16"/>
          <p:cNvSpPr/>
          <p:nvPr/>
        </p:nvSpPr>
        <p:spPr>
          <a:xfrm>
            <a:off x="1175333" y="3110000"/>
            <a:ext cx="180000" cy="18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7" name="C17"/>
          <p:cNvSpPr/>
          <p:nvPr/>
        </p:nvSpPr>
        <p:spPr>
          <a:xfrm>
            <a:off x="1948666" y="2310000"/>
            <a:ext cx="180000" cy="18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18" name="L18"/>
          <p:cNvCxnSpPr/>
          <p:nvPr/>
        </p:nvCxnSpPr>
        <p:spPr>
          <a:xfrm flipV="1">
            <a:off x="1265333" y="2400000"/>
            <a:ext cx="773333" cy="800000"/>
          </a:xfrm>
          <a:prstGeom prst="line">
            <a:avLst/>
          </a:prstGeom>
          <a:ln w="22225">
            <a:solidFill>
              <a:srgbClr val="6B6B6B"/>
            </a:solidFill>
          </a:ln>
        </p:spPr>
      </p:cxnSp>
      <p:sp>
        <p:nvSpPr>
          <p:cNvPr id="19" name="T19"/>
          <p:cNvSpPr txBox="1"/>
          <p:nvPr/>
        </p:nvSpPr>
        <p:spPr>
          <a:xfrm>
            <a:off x="1015333" y="3280000"/>
            <a:ext cx="22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1" i="0">
                <a:solidFill>
                  <a:srgbClr val="2E5E7E"/>
                </a:solidFill>
                <a:latin typeface="Calibri"/>
              </a:rPr>
              <a:t>A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2118666" y="2220000"/>
            <a:ext cx="22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1" i="0">
                <a:solidFill>
                  <a:srgbClr val="D98E45"/>
                </a:solidFill>
                <a:latin typeface="Calibri"/>
              </a:rPr>
              <a:t>B</a:t>
            </a:r>
          </a:p>
        </p:txBody>
      </p:sp>
      <p:sp>
        <p:nvSpPr>
          <p:cNvPr id="21" name="E21"/>
          <p:cNvSpPr/>
          <p:nvPr/>
        </p:nvSpPr>
        <p:spPr>
          <a:xfrm>
            <a:off x="152659" y="2087326"/>
            <a:ext cx="2225348" cy="2225348"/>
          </a:xfrm>
          <a:prstGeom prst="ellipse">
            <a:avLst/>
          </a:prstGeom>
          <a:noFill/>
          <a:ln w="6350">
            <a:solidFill>
              <a:srgbClr val="2E5E7E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2" name="T22"/>
          <p:cNvSpPr txBox="1"/>
          <p:nvPr/>
        </p:nvSpPr>
        <p:spPr>
          <a:xfrm>
            <a:off x="242000" y="4120000"/>
            <a:ext cx="2820000" cy="24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 i="1">
                <a:solidFill>
                  <a:srgbClr val="666666"/>
                </a:solidFill>
                <a:latin typeface="Calibri"/>
              </a:rPr>
              <a:t>Cercles d'isodistance</a:t>
            </a:r>
          </a:p>
        </p:txBody>
      </p:sp>
      <p:sp>
        <p:nvSpPr>
          <p:cNvPr id="23" name="R23"/>
          <p:cNvSpPr/>
          <p:nvPr/>
        </p:nvSpPr>
        <p:spPr>
          <a:xfrm>
            <a:off x="3162000" y="900000"/>
            <a:ext cx="2820000" cy="3500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4" name="T24"/>
          <p:cNvSpPr txBox="1"/>
          <p:nvPr/>
        </p:nvSpPr>
        <p:spPr>
          <a:xfrm>
            <a:off x="3162000" y="960000"/>
            <a:ext cx="282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 i="0">
                <a:solidFill>
                  <a:srgbClr val="1F3A4D"/>
                </a:solidFill>
                <a:latin typeface="Calibri"/>
              </a:rPr>
              <a:t>Distance de Mahalanobis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3162000" y="1240000"/>
            <a:ext cx="282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0" i="1">
                <a:solidFill>
                  <a:srgbClr val="555555"/>
                </a:solidFill>
                <a:latin typeface="Calibri"/>
              </a:rPr>
              <a:t>√((x−y)ᵀ Σ⁻¹ (x−y))</a:t>
            </a:r>
          </a:p>
        </p:txBody>
      </p:sp>
      <p:cxnSp>
        <p:nvCxnSpPr>
          <p:cNvPr id="26" name="L26"/>
          <p:cNvCxnSpPr/>
          <p:nvPr/>
        </p:nvCxnSpPr>
        <p:spPr>
          <a:xfrm>
            <a:off x="3412000" y="4000000"/>
            <a:ext cx="2320000" cy="1"/>
          </a:xfrm>
          <a:prstGeom prst="line">
            <a:avLst/>
          </a:prstGeom>
          <a:ln w="9525">
            <a:solidFill>
              <a:srgbClr val="8C8278"/>
            </a:solidFill>
          </a:ln>
        </p:spPr>
      </p:cxnSp>
      <p:cxnSp>
        <p:nvCxnSpPr>
          <p:cNvPr id="27" name="L27"/>
          <p:cNvCxnSpPr/>
          <p:nvPr/>
        </p:nvCxnSpPr>
        <p:spPr>
          <a:xfrm>
            <a:off x="3412000" y="1600000"/>
            <a:ext cx="1" cy="2400000"/>
          </a:xfrm>
          <a:prstGeom prst="line">
            <a:avLst/>
          </a:prstGeom>
          <a:ln w="9525">
            <a:solidFill>
              <a:srgbClr val="8C8278"/>
            </a:solidFill>
          </a:ln>
        </p:spPr>
      </p:cxnSp>
      <p:sp>
        <p:nvSpPr>
          <p:cNvPr id="200" name="MEinner"/>
          <p:cNvSpPr/>
          <p:nvPr/>
        </p:nvSpPr>
        <p:spPr>
          <a:xfrm rot="19800000">
            <a:off x="3872000" y="2560000"/>
            <a:ext cx="1400000" cy="480000"/>
          </a:xfrm>
          <a:prstGeom prst="ellipse">
            <a:avLst/>
          </a:prstGeom>
          <a:noFill/>
          <a:ln w="9525">
            <a:solidFill>
              <a:srgbClr val="2E5E7E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01" name="MEouter"/>
          <p:cNvSpPr/>
          <p:nvPr/>
        </p:nvSpPr>
        <p:spPr>
          <a:xfrm rot="19800000">
            <a:off x="3522000" y="2440000"/>
            <a:ext cx="2100000" cy="720000"/>
          </a:xfrm>
          <a:prstGeom prst="ellipse">
            <a:avLst/>
          </a:prstGeom>
          <a:noFill/>
          <a:ln w="6350">
            <a:solidFill>
              <a:srgbClr val="2E5E7E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100" name="MD100"/>
          <p:cNvSpPr/>
          <p:nvPr/>
        </p:nvSpPr>
        <p:spPr>
          <a:xfrm>
            <a:off x="4452339" y="2822981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1" name="MD101"/>
          <p:cNvSpPr/>
          <p:nvPr/>
        </p:nvSpPr>
        <p:spPr>
          <a:xfrm>
            <a:off x="4561358" y="2899555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2" name="MD102"/>
          <p:cNvSpPr/>
          <p:nvPr/>
        </p:nvSpPr>
        <p:spPr>
          <a:xfrm>
            <a:off x="4320028" y="2674334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3" name="MD103"/>
          <p:cNvSpPr/>
          <p:nvPr/>
        </p:nvSpPr>
        <p:spPr>
          <a:xfrm>
            <a:off x="4678133" y="2577155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4" name="MD104"/>
          <p:cNvSpPr/>
          <p:nvPr/>
        </p:nvSpPr>
        <p:spPr>
          <a:xfrm>
            <a:off x="4446902" y="2889680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5" name="MD105"/>
          <p:cNvSpPr/>
          <p:nvPr/>
        </p:nvSpPr>
        <p:spPr>
          <a:xfrm>
            <a:off x="4780395" y="277843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6" name="MD106"/>
          <p:cNvSpPr/>
          <p:nvPr/>
        </p:nvSpPr>
        <p:spPr>
          <a:xfrm>
            <a:off x="4878739" y="245670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7" name="MD107"/>
          <p:cNvSpPr/>
          <p:nvPr/>
        </p:nvSpPr>
        <p:spPr>
          <a:xfrm>
            <a:off x="4068928" y="3027829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8" name="MD108"/>
          <p:cNvSpPr/>
          <p:nvPr/>
        </p:nvSpPr>
        <p:spPr>
          <a:xfrm>
            <a:off x="4802994" y="2787127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09" name="MD109"/>
          <p:cNvSpPr/>
          <p:nvPr/>
        </p:nvSpPr>
        <p:spPr>
          <a:xfrm>
            <a:off x="4551341" y="2738103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0" name="MD110"/>
          <p:cNvSpPr/>
          <p:nvPr/>
        </p:nvSpPr>
        <p:spPr>
          <a:xfrm>
            <a:off x="4651044" y="235261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1" name="MD111"/>
          <p:cNvSpPr/>
          <p:nvPr/>
        </p:nvSpPr>
        <p:spPr>
          <a:xfrm>
            <a:off x="4439441" y="2976580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2" name="MD112"/>
          <p:cNvSpPr/>
          <p:nvPr/>
        </p:nvSpPr>
        <p:spPr>
          <a:xfrm>
            <a:off x="4948790" y="2312164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3" name="MD113"/>
          <p:cNvSpPr/>
          <p:nvPr/>
        </p:nvSpPr>
        <p:spPr>
          <a:xfrm>
            <a:off x="4754734" y="2609919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4" name="MD114"/>
          <p:cNvSpPr/>
          <p:nvPr/>
        </p:nvSpPr>
        <p:spPr>
          <a:xfrm>
            <a:off x="4811156" y="226469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5" name="MD115"/>
          <p:cNvSpPr/>
          <p:nvPr/>
        </p:nvSpPr>
        <p:spPr>
          <a:xfrm>
            <a:off x="4662630" y="2328091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6" name="MD116"/>
          <p:cNvSpPr/>
          <p:nvPr/>
        </p:nvSpPr>
        <p:spPr>
          <a:xfrm>
            <a:off x="4181612" y="3316217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7" name="MD117"/>
          <p:cNvSpPr/>
          <p:nvPr/>
        </p:nvSpPr>
        <p:spPr>
          <a:xfrm>
            <a:off x="4741492" y="231190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8" name="MD118"/>
          <p:cNvSpPr/>
          <p:nvPr/>
        </p:nvSpPr>
        <p:spPr>
          <a:xfrm>
            <a:off x="4855122" y="2244277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19" name="MD119"/>
          <p:cNvSpPr/>
          <p:nvPr/>
        </p:nvSpPr>
        <p:spPr>
          <a:xfrm>
            <a:off x="4468138" y="2781515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0" name="MD120"/>
          <p:cNvSpPr/>
          <p:nvPr/>
        </p:nvSpPr>
        <p:spPr>
          <a:xfrm>
            <a:off x="4685464" y="2800194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1" name="MD121"/>
          <p:cNvSpPr/>
          <p:nvPr/>
        </p:nvSpPr>
        <p:spPr>
          <a:xfrm>
            <a:off x="4895109" y="249111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2" name="MD122"/>
          <p:cNvSpPr/>
          <p:nvPr/>
        </p:nvSpPr>
        <p:spPr>
          <a:xfrm>
            <a:off x="4914459" y="2499043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3" name="MD123"/>
          <p:cNvSpPr/>
          <p:nvPr/>
        </p:nvSpPr>
        <p:spPr>
          <a:xfrm>
            <a:off x="4155569" y="3004253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4" name="MD124"/>
          <p:cNvSpPr/>
          <p:nvPr/>
        </p:nvSpPr>
        <p:spPr>
          <a:xfrm>
            <a:off x="4362339" y="3055583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5" name="MD125"/>
          <p:cNvSpPr/>
          <p:nvPr/>
        </p:nvSpPr>
        <p:spPr>
          <a:xfrm>
            <a:off x="4665943" y="3141545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6" name="MD126"/>
          <p:cNvSpPr/>
          <p:nvPr/>
        </p:nvSpPr>
        <p:spPr>
          <a:xfrm>
            <a:off x="4019917" y="3058975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7" name="MD127"/>
          <p:cNvSpPr/>
          <p:nvPr/>
        </p:nvSpPr>
        <p:spPr>
          <a:xfrm>
            <a:off x="5073184" y="2540434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8" name="MD128"/>
          <p:cNvSpPr/>
          <p:nvPr/>
        </p:nvSpPr>
        <p:spPr>
          <a:xfrm>
            <a:off x="4880956" y="2608346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29" name="MD129"/>
          <p:cNvSpPr/>
          <p:nvPr/>
        </p:nvSpPr>
        <p:spPr>
          <a:xfrm>
            <a:off x="5238031" y="205402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0" name="MD130"/>
          <p:cNvSpPr/>
          <p:nvPr/>
        </p:nvSpPr>
        <p:spPr>
          <a:xfrm>
            <a:off x="3781236" y="3417893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1" name="MD131"/>
          <p:cNvSpPr/>
          <p:nvPr/>
        </p:nvSpPr>
        <p:spPr>
          <a:xfrm>
            <a:off x="4860534" y="2145215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2" name="MD132"/>
          <p:cNvSpPr/>
          <p:nvPr/>
        </p:nvSpPr>
        <p:spPr>
          <a:xfrm>
            <a:off x="4585457" y="278026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3" name="MD133"/>
          <p:cNvSpPr/>
          <p:nvPr/>
        </p:nvSpPr>
        <p:spPr>
          <a:xfrm>
            <a:off x="4462542" y="300296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4" name="MD134"/>
          <p:cNvSpPr/>
          <p:nvPr/>
        </p:nvSpPr>
        <p:spPr>
          <a:xfrm>
            <a:off x="5075693" y="2728751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5" name="MD135"/>
          <p:cNvSpPr/>
          <p:nvPr/>
        </p:nvSpPr>
        <p:spPr>
          <a:xfrm>
            <a:off x="4784231" y="2398494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6" name="MD136"/>
          <p:cNvSpPr/>
          <p:nvPr/>
        </p:nvSpPr>
        <p:spPr>
          <a:xfrm>
            <a:off x="4175721" y="2959873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7" name="MD137"/>
          <p:cNvSpPr/>
          <p:nvPr/>
        </p:nvSpPr>
        <p:spPr>
          <a:xfrm>
            <a:off x="4953229" y="2238526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38" name="MD138"/>
          <p:cNvSpPr/>
          <p:nvPr/>
        </p:nvSpPr>
        <p:spPr>
          <a:xfrm>
            <a:off x="4586698" y="2884252"/>
            <a:ext cx="60000" cy="6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0" name="PtA"/>
          <p:cNvSpPr/>
          <p:nvPr/>
        </p:nvSpPr>
        <p:spPr>
          <a:xfrm>
            <a:off x="4482000" y="2710000"/>
            <a:ext cx="180000" cy="18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1" name="PtB"/>
          <p:cNvSpPr/>
          <p:nvPr/>
        </p:nvSpPr>
        <p:spPr>
          <a:xfrm>
            <a:off x="4245000" y="2473000"/>
            <a:ext cx="160000" cy="16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12" name="PtC"/>
          <p:cNvSpPr/>
          <p:nvPr/>
        </p:nvSpPr>
        <p:spPr>
          <a:xfrm>
            <a:off x="5048000" y="2260937"/>
            <a:ext cx="160000" cy="16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220" name="ArrAB"/>
          <p:cNvCxnSpPr/>
          <p:nvPr/>
        </p:nvCxnSpPr>
        <p:spPr>
          <a:xfrm flipH="1" flipV="1">
            <a:off x="4392175" y="2620175"/>
            <a:ext cx="112649" cy="112649"/>
          </a:xfrm>
          <a:prstGeom prst="line">
            <a:avLst/>
          </a:prstGeom>
          <a:ln w="19050">
            <a:solidFill>
              <a:srgbClr val="1F1F1F"/>
            </a:solidFill>
            <a:tailEnd type="triangle" w="med" len="med"/>
          </a:ln>
        </p:spPr>
      </p:cxnSp>
      <p:cxnSp>
        <p:nvCxnSpPr>
          <p:cNvPr id="221" name="ArrAC"/>
          <p:cNvCxnSpPr>
            <a:cxnSpLocks/>
          </p:cNvCxnSpPr>
          <p:nvPr/>
        </p:nvCxnSpPr>
        <p:spPr>
          <a:xfrm flipV="1">
            <a:off x="4639175" y="2372164"/>
            <a:ext cx="434009" cy="360660"/>
          </a:xfrm>
          <a:prstGeom prst="line">
            <a:avLst/>
          </a:prstGeom>
          <a:ln w="57150">
            <a:solidFill>
              <a:srgbClr val="1F1F1F"/>
            </a:solidFill>
            <a:tailEnd type="triangle" w="med" len="med"/>
          </a:ln>
        </p:spPr>
      </p:cxnSp>
      <p:sp>
        <p:nvSpPr>
          <p:cNvPr id="230" name="LblA"/>
          <p:cNvSpPr txBox="1"/>
          <p:nvPr/>
        </p:nvSpPr>
        <p:spPr>
          <a:xfrm>
            <a:off x="4672000" y="2860000"/>
            <a:ext cx="22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i="0">
                <a:solidFill>
                  <a:srgbClr val="1F3A4D"/>
                </a:solidFill>
                <a:latin typeface="Calibri"/>
              </a:rPr>
              <a:t>A</a:t>
            </a:r>
          </a:p>
        </p:txBody>
      </p:sp>
      <p:sp>
        <p:nvSpPr>
          <p:cNvPr id="231" name="LblB"/>
          <p:cNvSpPr txBox="1"/>
          <p:nvPr/>
        </p:nvSpPr>
        <p:spPr>
          <a:xfrm>
            <a:off x="4105000" y="2523000"/>
            <a:ext cx="22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i="0">
                <a:solidFill>
                  <a:srgbClr val="1F3A4D"/>
                </a:solidFill>
                <a:latin typeface="Calibri"/>
              </a:rPr>
              <a:t>B</a:t>
            </a:r>
          </a:p>
        </p:txBody>
      </p:sp>
      <p:sp>
        <p:nvSpPr>
          <p:cNvPr id="232" name="LblC"/>
          <p:cNvSpPr txBox="1"/>
          <p:nvPr/>
        </p:nvSpPr>
        <p:spPr>
          <a:xfrm>
            <a:off x="5167042" y="2193000"/>
            <a:ext cx="22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i="0" dirty="0">
                <a:solidFill>
                  <a:srgbClr val="1F3A4D"/>
                </a:solidFill>
                <a:latin typeface="Calibri"/>
              </a:rPr>
              <a:t>C</a:t>
            </a:r>
          </a:p>
        </p:txBody>
      </p:sp>
      <p:sp>
        <p:nvSpPr>
          <p:cNvPr id="36" name="T36"/>
          <p:cNvSpPr txBox="1"/>
          <p:nvPr/>
        </p:nvSpPr>
        <p:spPr>
          <a:xfrm>
            <a:off x="3162000" y="4120000"/>
            <a:ext cx="2820000" cy="24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 i="1">
                <a:solidFill>
                  <a:srgbClr val="666666"/>
                </a:solidFill>
                <a:latin typeface="Calibri"/>
              </a:rPr>
              <a:t>Ellipses : tient compte des corrélations</a:t>
            </a:r>
          </a:p>
        </p:txBody>
      </p:sp>
      <p:sp>
        <p:nvSpPr>
          <p:cNvPr id="37" name="R37"/>
          <p:cNvSpPr/>
          <p:nvPr/>
        </p:nvSpPr>
        <p:spPr>
          <a:xfrm>
            <a:off x="6082000" y="900000"/>
            <a:ext cx="2820000" cy="3500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8" name="T38"/>
          <p:cNvSpPr txBox="1"/>
          <p:nvPr/>
        </p:nvSpPr>
        <p:spPr>
          <a:xfrm>
            <a:off x="6082000" y="960000"/>
            <a:ext cx="2820000" cy="2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400" b="1" i="0">
                <a:solidFill>
                  <a:srgbClr val="1F3A4D"/>
                </a:solidFill>
                <a:latin typeface="Calibri"/>
              </a:rPr>
              <a:t>Score de propension</a:t>
            </a:r>
          </a:p>
        </p:txBody>
      </p:sp>
      <p:sp>
        <p:nvSpPr>
          <p:cNvPr id="39" name="T39"/>
          <p:cNvSpPr txBox="1"/>
          <p:nvPr/>
        </p:nvSpPr>
        <p:spPr>
          <a:xfrm>
            <a:off x="6082000" y="1240000"/>
            <a:ext cx="2820000" cy="22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0" i="1">
                <a:solidFill>
                  <a:srgbClr val="555555"/>
                </a:solidFill>
                <a:latin typeface="Calibri"/>
              </a:rPr>
              <a:t>p(X) = P(T=1 | X)</a:t>
            </a:r>
          </a:p>
        </p:txBody>
      </p:sp>
      <p:cxnSp>
        <p:nvCxnSpPr>
          <p:cNvPr id="40" name="L40"/>
          <p:cNvCxnSpPr/>
          <p:nvPr/>
        </p:nvCxnSpPr>
        <p:spPr>
          <a:xfrm>
            <a:off x="6282000" y="3570000"/>
            <a:ext cx="2420000" cy="1"/>
          </a:xfrm>
          <a:prstGeom prst="line">
            <a:avLst/>
          </a:prstGeom>
          <a:ln w="9525">
            <a:solidFill>
              <a:srgbClr val="8C8278"/>
            </a:solidFill>
          </a:ln>
        </p:spPr>
      </p:cxnSp>
      <p:sp>
        <p:nvSpPr>
          <p:cNvPr id="41" name="T41"/>
          <p:cNvSpPr txBox="1"/>
          <p:nvPr/>
        </p:nvSpPr>
        <p:spPr>
          <a:xfrm>
            <a:off x="6202000" y="3610000"/>
            <a:ext cx="200000" cy="1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0" i="0">
                <a:solidFill>
                  <a:srgbClr val="666666"/>
                </a:solidFill>
                <a:latin typeface="Calibri"/>
              </a:rPr>
              <a:t>0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582000" y="3610000"/>
            <a:ext cx="200000" cy="1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0" i="0">
                <a:solidFill>
                  <a:srgbClr val="666666"/>
                </a:solidFill>
                <a:latin typeface="Calibri"/>
              </a:rPr>
              <a:t>1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6282000" y="3810000"/>
            <a:ext cx="2420000" cy="18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 i="1">
                <a:solidFill>
                  <a:srgbClr val="666666"/>
                </a:solidFill>
                <a:latin typeface="Calibri"/>
              </a:rPr>
              <a:t>p(X)</a:t>
            </a:r>
          </a:p>
        </p:txBody>
      </p:sp>
      <p:sp>
        <p:nvSpPr>
          <p:cNvPr id="44" name="C44"/>
          <p:cNvSpPr/>
          <p:nvPr/>
        </p:nvSpPr>
        <p:spPr>
          <a:xfrm>
            <a:off x="7059000" y="3020000"/>
            <a:ext cx="140000" cy="14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45" name="L45"/>
          <p:cNvCxnSpPr/>
          <p:nvPr/>
        </p:nvCxnSpPr>
        <p:spPr>
          <a:xfrm>
            <a:off x="7129000" y="3540000"/>
            <a:ext cx="1" cy="60000"/>
          </a:xfrm>
          <a:prstGeom prst="line">
            <a:avLst/>
          </a:prstGeom>
          <a:ln w="12700">
            <a:solidFill>
              <a:srgbClr val="2E5E7E"/>
            </a:solidFill>
          </a:ln>
        </p:spPr>
      </p:cxnSp>
      <p:sp>
        <p:nvSpPr>
          <p:cNvPr id="46" name="C46"/>
          <p:cNvSpPr/>
          <p:nvPr/>
        </p:nvSpPr>
        <p:spPr>
          <a:xfrm>
            <a:off x="7543000" y="3020000"/>
            <a:ext cx="140000" cy="14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47" name="L47"/>
          <p:cNvCxnSpPr/>
          <p:nvPr/>
        </p:nvCxnSpPr>
        <p:spPr>
          <a:xfrm>
            <a:off x="7613000" y="3540000"/>
            <a:ext cx="1" cy="60000"/>
          </a:xfrm>
          <a:prstGeom prst="line">
            <a:avLst/>
          </a:prstGeom>
          <a:ln w="12700">
            <a:solidFill>
              <a:srgbClr val="2E5E7E"/>
            </a:solidFill>
          </a:ln>
        </p:spPr>
      </p:cxnSp>
      <p:sp>
        <p:nvSpPr>
          <p:cNvPr id="48" name="C48"/>
          <p:cNvSpPr/>
          <p:nvPr/>
        </p:nvSpPr>
        <p:spPr>
          <a:xfrm>
            <a:off x="7906000" y="3020000"/>
            <a:ext cx="140000" cy="14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49" name="L49"/>
          <p:cNvCxnSpPr/>
          <p:nvPr/>
        </p:nvCxnSpPr>
        <p:spPr>
          <a:xfrm>
            <a:off x="7976000" y="3540000"/>
            <a:ext cx="1" cy="60000"/>
          </a:xfrm>
          <a:prstGeom prst="line">
            <a:avLst/>
          </a:prstGeom>
          <a:ln w="12700">
            <a:solidFill>
              <a:srgbClr val="2E5E7E"/>
            </a:solidFill>
          </a:ln>
        </p:spPr>
      </p:cxnSp>
      <p:sp>
        <p:nvSpPr>
          <p:cNvPr id="50" name="C50"/>
          <p:cNvSpPr/>
          <p:nvPr/>
        </p:nvSpPr>
        <p:spPr>
          <a:xfrm>
            <a:off x="8196399" y="3020000"/>
            <a:ext cx="140000" cy="140000"/>
          </a:xfrm>
          <a:prstGeom prst="ellipse">
            <a:avLst/>
          </a:prstGeom>
          <a:solidFill>
            <a:srgbClr val="2E5E7E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1" name="L51"/>
          <p:cNvCxnSpPr/>
          <p:nvPr/>
        </p:nvCxnSpPr>
        <p:spPr>
          <a:xfrm>
            <a:off x="8266399" y="3540000"/>
            <a:ext cx="1" cy="60000"/>
          </a:xfrm>
          <a:prstGeom prst="line">
            <a:avLst/>
          </a:prstGeom>
          <a:ln w="12700">
            <a:solidFill>
              <a:srgbClr val="2E5E7E"/>
            </a:solidFill>
          </a:ln>
        </p:spPr>
      </p:cxnSp>
      <p:sp>
        <p:nvSpPr>
          <p:cNvPr id="52" name="C52"/>
          <p:cNvSpPr/>
          <p:nvPr/>
        </p:nvSpPr>
        <p:spPr>
          <a:xfrm>
            <a:off x="6575000" y="3980000"/>
            <a:ext cx="140000" cy="1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3" name="L53"/>
          <p:cNvCxnSpPr/>
          <p:nvPr/>
        </p:nvCxnSpPr>
        <p:spPr>
          <a:xfrm>
            <a:off x="6645000" y="3540000"/>
            <a:ext cx="1" cy="60000"/>
          </a:xfrm>
          <a:prstGeom prst="line">
            <a:avLst/>
          </a:prstGeom>
          <a:ln w="12700">
            <a:solidFill>
              <a:srgbClr val="D98E45"/>
            </a:solidFill>
          </a:ln>
        </p:spPr>
      </p:cxnSp>
      <p:sp>
        <p:nvSpPr>
          <p:cNvPr id="54" name="C54"/>
          <p:cNvSpPr/>
          <p:nvPr/>
        </p:nvSpPr>
        <p:spPr>
          <a:xfrm>
            <a:off x="6986400" y="3980000"/>
            <a:ext cx="140000" cy="1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5" name="L55"/>
          <p:cNvCxnSpPr/>
          <p:nvPr/>
        </p:nvCxnSpPr>
        <p:spPr>
          <a:xfrm>
            <a:off x="7056400" y="3540000"/>
            <a:ext cx="1" cy="60000"/>
          </a:xfrm>
          <a:prstGeom prst="line">
            <a:avLst/>
          </a:prstGeom>
          <a:ln w="12700">
            <a:solidFill>
              <a:srgbClr val="D98E45"/>
            </a:solidFill>
          </a:ln>
        </p:spPr>
      </p:cxnSp>
      <p:sp>
        <p:nvSpPr>
          <p:cNvPr id="56" name="C56"/>
          <p:cNvSpPr/>
          <p:nvPr/>
        </p:nvSpPr>
        <p:spPr>
          <a:xfrm>
            <a:off x="7301000" y="3980000"/>
            <a:ext cx="140000" cy="1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7" name="L57"/>
          <p:cNvCxnSpPr/>
          <p:nvPr/>
        </p:nvCxnSpPr>
        <p:spPr>
          <a:xfrm>
            <a:off x="7371000" y="3540000"/>
            <a:ext cx="1" cy="60000"/>
          </a:xfrm>
          <a:prstGeom prst="line">
            <a:avLst/>
          </a:prstGeom>
          <a:ln w="12700">
            <a:solidFill>
              <a:srgbClr val="D98E45"/>
            </a:solidFill>
          </a:ln>
        </p:spPr>
      </p:cxnSp>
      <p:sp>
        <p:nvSpPr>
          <p:cNvPr id="58" name="C58"/>
          <p:cNvSpPr/>
          <p:nvPr/>
        </p:nvSpPr>
        <p:spPr>
          <a:xfrm>
            <a:off x="7664000" y="3980000"/>
            <a:ext cx="140000" cy="1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59" name="L59"/>
          <p:cNvCxnSpPr/>
          <p:nvPr/>
        </p:nvCxnSpPr>
        <p:spPr>
          <a:xfrm>
            <a:off x="7734000" y="3540000"/>
            <a:ext cx="1" cy="60000"/>
          </a:xfrm>
          <a:prstGeom prst="line">
            <a:avLst/>
          </a:prstGeom>
          <a:ln w="12700">
            <a:solidFill>
              <a:srgbClr val="D98E45"/>
            </a:solidFill>
          </a:ln>
        </p:spPr>
      </p:cxnSp>
      <p:sp>
        <p:nvSpPr>
          <p:cNvPr id="60" name="C60"/>
          <p:cNvSpPr/>
          <p:nvPr/>
        </p:nvSpPr>
        <p:spPr>
          <a:xfrm>
            <a:off x="8027000" y="3980000"/>
            <a:ext cx="140000" cy="1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61" name="L61"/>
          <p:cNvCxnSpPr/>
          <p:nvPr/>
        </p:nvCxnSpPr>
        <p:spPr>
          <a:xfrm>
            <a:off x="8097000" y="3540000"/>
            <a:ext cx="1" cy="60000"/>
          </a:xfrm>
          <a:prstGeom prst="line">
            <a:avLst/>
          </a:prstGeom>
          <a:ln w="12700">
            <a:solidFill>
              <a:srgbClr val="D98E45"/>
            </a:solidFill>
          </a:ln>
        </p:spPr>
      </p:cxnSp>
      <p:sp>
        <p:nvSpPr>
          <p:cNvPr id="62" name="C62"/>
          <p:cNvSpPr/>
          <p:nvPr/>
        </p:nvSpPr>
        <p:spPr>
          <a:xfrm>
            <a:off x="8341600" y="3980000"/>
            <a:ext cx="140000" cy="14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cxnSp>
        <p:nvCxnSpPr>
          <p:cNvPr id="63" name="L63"/>
          <p:cNvCxnSpPr/>
          <p:nvPr/>
        </p:nvCxnSpPr>
        <p:spPr>
          <a:xfrm>
            <a:off x="8411600" y="3540000"/>
            <a:ext cx="1" cy="60000"/>
          </a:xfrm>
          <a:prstGeom prst="line">
            <a:avLst/>
          </a:prstGeom>
          <a:ln w="12700">
            <a:solidFill>
              <a:srgbClr val="D98E45"/>
            </a:solidFill>
          </a:ln>
        </p:spPr>
      </p:cxnSp>
      <p:cxnSp>
        <p:nvCxnSpPr>
          <p:cNvPr id="64" name="L64"/>
          <p:cNvCxnSpPr/>
          <p:nvPr/>
        </p:nvCxnSpPr>
        <p:spPr>
          <a:xfrm>
            <a:off x="7976000" y="3160000"/>
            <a:ext cx="121000" cy="820000"/>
          </a:xfrm>
          <a:prstGeom prst="line">
            <a:avLst/>
          </a:prstGeom>
          <a:ln w="19050">
            <a:solidFill>
              <a:srgbClr val="6B6B6B"/>
            </a:solidFill>
            <a:prstDash val="dash"/>
          </a:ln>
        </p:spPr>
      </p:cxnSp>
      <p:sp>
        <p:nvSpPr>
          <p:cNvPr id="65" name="T65"/>
          <p:cNvSpPr txBox="1"/>
          <p:nvPr/>
        </p:nvSpPr>
        <p:spPr>
          <a:xfrm>
            <a:off x="6062000" y="3010000"/>
            <a:ext cx="22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1" i="0">
                <a:solidFill>
                  <a:srgbClr val="2E5E7E"/>
                </a:solidFill>
                <a:latin typeface="Calibri"/>
              </a:rPr>
              <a:t>T</a:t>
            </a:r>
          </a:p>
        </p:txBody>
      </p:sp>
      <p:sp>
        <p:nvSpPr>
          <p:cNvPr id="66" name="T66"/>
          <p:cNvSpPr txBox="1"/>
          <p:nvPr/>
        </p:nvSpPr>
        <p:spPr>
          <a:xfrm>
            <a:off x="6062000" y="3970000"/>
            <a:ext cx="22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1" i="0">
                <a:solidFill>
                  <a:srgbClr val="D98E45"/>
                </a:solidFill>
                <a:latin typeface="Calibri"/>
              </a:rPr>
              <a:t>C</a:t>
            </a:r>
          </a:p>
        </p:txBody>
      </p:sp>
      <p:sp>
        <p:nvSpPr>
          <p:cNvPr id="67" name="T67"/>
          <p:cNvSpPr txBox="1"/>
          <p:nvPr/>
        </p:nvSpPr>
        <p:spPr>
          <a:xfrm>
            <a:off x="6082000" y="4120000"/>
            <a:ext cx="2820000" cy="24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900" b="0" i="1">
                <a:solidFill>
                  <a:srgbClr val="666666"/>
                </a:solidFill>
                <a:latin typeface="Calibri"/>
              </a:rPr>
              <a:t>Réduit X à une seule dimension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60171980-0A3F-E4D9-18EB-F03A3246E1E1}"/>
              </a:ext>
            </a:extLst>
          </p:cNvPr>
          <p:cNvSpPr txBox="1"/>
          <p:nvPr/>
        </p:nvSpPr>
        <p:spPr>
          <a:xfrm>
            <a:off x="441229" y="4415165"/>
            <a:ext cx="2428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de-DE" sz="1200" dirty="0"/>
              <a:t>simple </a:t>
            </a:r>
            <a:r>
              <a:rPr lang="de-DE" sz="1200" dirty="0" err="1"/>
              <a:t>somme</a:t>
            </a:r>
            <a:r>
              <a:rPr lang="de-DE" sz="1200" dirty="0"/>
              <a:t> des </a:t>
            </a:r>
            <a:r>
              <a:rPr lang="de-DE" sz="1200" dirty="0" err="1"/>
              <a:t>différences</a:t>
            </a:r>
            <a:r>
              <a:rPr lang="de-DE" sz="1200" dirty="0"/>
              <a:t>; </a:t>
            </a:r>
            <a:r>
              <a:rPr lang="de-DE" sz="1200" dirty="0" err="1"/>
              <a:t>calcule</a:t>
            </a:r>
            <a:r>
              <a:rPr lang="de-DE" sz="1200" dirty="0"/>
              <a:t> via le </a:t>
            </a:r>
            <a:r>
              <a:rPr lang="de-DE" sz="1200" dirty="0" err="1"/>
              <a:t>théorem</a:t>
            </a:r>
            <a:r>
              <a:rPr lang="de-DE" sz="1200" dirty="0"/>
              <a:t> de </a:t>
            </a:r>
            <a:r>
              <a:rPr lang="de-DE" sz="1200" dirty="0" err="1"/>
              <a:t>Pythagore</a:t>
            </a:r>
            <a:endParaRPr lang="de-DE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15880AD-0DBB-64CA-25D4-862C78DFB61D}"/>
              </a:ext>
            </a:extLst>
          </p:cNvPr>
          <p:cNvSpPr txBox="1"/>
          <p:nvPr/>
        </p:nvSpPr>
        <p:spPr>
          <a:xfrm>
            <a:off x="3179273" y="4434410"/>
            <a:ext cx="2717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compte de la variance et des corrélations entre </a:t>
            </a:r>
            <a:r>
              <a:rPr lang="fr-FR" sz="1200" dirty="0" err="1"/>
              <a:t>covariables</a:t>
            </a:r>
            <a:endParaRPr lang="de-DE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EFE3189-4499-E43B-56C6-DB8EE0CCF873}"/>
                  </a:ext>
                </a:extLst>
              </p:cNvPr>
              <p:cNvSpPr txBox="1"/>
              <p:nvPr/>
            </p:nvSpPr>
            <p:spPr>
              <a:xfrm>
                <a:off x="6202000" y="4414988"/>
                <a:ext cx="2484800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100" dirty="0"/>
                  <a:t>probabilité d’être </a:t>
                </a:r>
                <a:r>
                  <a:rPr lang="fr-FR" sz="1100" dirty="0" err="1"/>
                  <a:t>traité</a:t>
                </a:r>
                <a:r>
                  <a:rPr lang="fr-FR" sz="1100" dirty="0"/>
                  <a:t> </a:t>
                </a:r>
                <a:r>
                  <a:rPr lang="fr-FR" sz="1100" dirty="0" err="1"/>
                  <a:t>conditionnellement</a:t>
                </a:r>
                <a:r>
                  <a:rPr lang="fr-FR" sz="1100" dirty="0"/>
                  <a:t> à </a:t>
                </a:r>
                <a14:m>
                  <m:oMath xmlns:m="http://schemas.openxmlformats.org/officeDocument/2006/math">
                    <m:r>
                      <a:rPr lang="fr-FR" sz="110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de-DE" sz="1100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0EFE3189-4499-E43B-56C6-DB8EE0CCF8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2000" y="4414988"/>
                <a:ext cx="2484800" cy="430887"/>
              </a:xfrm>
              <a:prstGeom prst="rect">
                <a:avLst/>
              </a:prstGeom>
              <a:blipFill>
                <a:blip r:embed="rId3"/>
                <a:stretch>
                  <a:fillRect t="-1408" b="-845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C502F4F4-8CEB-2701-7FF9-3DA5466BAFB7}"/>
              </a:ext>
            </a:extLst>
          </p:cNvPr>
          <p:cNvGrpSpPr/>
          <p:nvPr/>
        </p:nvGrpSpPr>
        <p:grpSpPr>
          <a:xfrm>
            <a:off x="8399145" y="180000"/>
            <a:ext cx="296620" cy="60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79FDDB88-4CE0-6FB3-9406-9FA9CCBD6393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Outline triangle - milieu">
              <a:extLst>
                <a:ext uri="{FF2B5EF4-FFF2-40B4-BE49-F238E27FC236}">
                  <a16:creationId xmlns:a16="http://schemas.microsoft.com/office/drawing/2014/main" id="{B7ECD0AC-6951-ED4D-1FE6-3229784D30B0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9" name="Outline triangle - bas">
              <a:extLst>
                <a:ext uri="{FF2B5EF4-FFF2-40B4-BE49-F238E27FC236}">
                  <a16:creationId xmlns:a16="http://schemas.microsoft.com/office/drawing/2014/main" id="{029C6B30-96E5-6E60-4072-B48EF55CA6BF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Voisin le plus proche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t>Méthode intuitive : on apparie chaque unité traitée avec sa plus proche unité contrôle.</a:t>
                </a:r>
              </a:p>
              <a:p>
                <a:pPr lvl="0"/>
                <a:r>
                  <a:t>On peut apparier avec un seul jumeau ou avec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t> plus proches voisins.</a:t>
                </a:r>
              </a:p>
              <a:p>
                <a:pPr lvl="0"/>
                <a:r>
                  <a:t>On peut aussi exclure les paires trop éloignées en fixant un seuil de distance (</a:t>
                </a:r>
                <a:r>
                  <a:rPr i="1"/>
                  <a:t>caliper</a:t>
                </a:r>
                <a:r>
                  <a:t>).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t> La méthode est simple, mais la qualité de l’appariement dépend directement de la façon de mesurer la proximité.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1B063DFD-E269-BC3C-379A-B92052B12CE6}"/>
              </a:ext>
            </a:extLst>
          </p:cNvPr>
          <p:cNvGrpSpPr/>
          <p:nvPr/>
        </p:nvGrpSpPr>
        <p:grpSpPr>
          <a:xfrm>
            <a:off x="8399145" y="180000"/>
            <a:ext cx="296620" cy="60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E99FE99A-6C9D-B10C-1787-A0729E30EC0C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5A2C1513-385E-9C8E-D394-33E4AA125F40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5D95FC64-03B0-3D2D-B8A1-08E9E172CA3E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"/>
          <p:cNvSpPr txBox="1"/>
          <p:nvPr/>
        </p:nvSpPr>
        <p:spPr>
          <a:xfrm>
            <a:off x="400000" y="200000"/>
            <a:ext cx="8344000" cy="50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fr-FR" sz="2400" b="1" i="0">
                <a:solidFill>
                  <a:srgbClr val="2E5E7E"/>
                </a:solidFill>
                <a:latin typeface="Calibri"/>
              </a:rPr>
              <a:t>Appariement avec ou sans remise</a:t>
            </a:r>
          </a:p>
        </p:txBody>
      </p:sp>
      <p:sp>
        <p:nvSpPr>
          <p:cNvPr id="12" name="T"/>
          <p:cNvSpPr txBox="1"/>
          <p:nvPr/>
        </p:nvSpPr>
        <p:spPr>
          <a:xfrm>
            <a:off x="300000" y="850000"/>
            <a:ext cx="4400000" cy="400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fr-FR" sz="2000" b="1" i="0" dirty="0">
                <a:solidFill>
                  <a:srgbClr val="1F3A4D"/>
                </a:solidFill>
                <a:latin typeface="Calibri"/>
              </a:rPr>
              <a:t>Définitions</a:t>
            </a:r>
          </a:p>
          <a:p>
            <a:pPr marL="228600" indent="-228600" algn="l">
              <a:buFont typeface="Arial"/>
              <a:buChar char="•"/>
            </a:pPr>
            <a:r>
              <a:rPr lang="fr-FR" b="1" i="0" dirty="0">
                <a:solidFill>
                  <a:srgbClr val="1F3A4D"/>
                </a:solidFill>
                <a:latin typeface="Calibri"/>
              </a:rPr>
              <a:t>Sans remise</a:t>
            </a:r>
            <a:r>
              <a:rPr lang="fr-FR" b="0" i="0" dirty="0">
                <a:solidFill>
                  <a:srgbClr val="333333"/>
                </a:solidFill>
                <a:latin typeface="Calibri"/>
              </a:rPr>
              <a:t> : chaque unité de contrôle est utilisée au plus une fois.</a:t>
            </a:r>
          </a:p>
          <a:p>
            <a:pPr marL="228600" indent="-228600" algn="l">
              <a:buFont typeface="Arial"/>
              <a:buChar char="•"/>
            </a:pPr>
            <a:r>
              <a:rPr lang="fr-FR" b="1" i="0" dirty="0">
                <a:solidFill>
                  <a:srgbClr val="1F3A4D"/>
                </a:solidFill>
                <a:latin typeface="Calibri"/>
              </a:rPr>
              <a:t>Avec remise</a:t>
            </a:r>
            <a:r>
              <a:rPr lang="fr-FR" b="0" i="0" dirty="0">
                <a:solidFill>
                  <a:srgbClr val="333333"/>
                </a:solidFill>
                <a:latin typeface="Calibri"/>
              </a:rPr>
              <a:t> : un même contrôle peut être réutilisé pour plusieurs traités.</a:t>
            </a:r>
          </a:p>
          <a:p>
            <a:pPr algn="l">
              <a:buNone/>
            </a:pP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 </a:t>
            </a:r>
          </a:p>
          <a:p>
            <a:pPr algn="l">
              <a:buNone/>
            </a:pPr>
            <a:r>
              <a:rPr lang="fr-FR" sz="2000" b="1" i="0" dirty="0">
                <a:solidFill>
                  <a:srgbClr val="1F3A4D"/>
                </a:solidFill>
                <a:latin typeface="Calibri"/>
              </a:rPr>
              <a:t>Avantage — avec remise</a:t>
            </a:r>
          </a:p>
          <a:p>
            <a:pPr marL="228600" indent="-228600">
              <a:buFont typeface="Arial"/>
              <a:buChar char="•"/>
            </a:pPr>
            <a:r>
              <a:rPr lang="fr-FR" sz="1600" b="0" i="0" dirty="0">
                <a:solidFill>
                  <a:srgbClr val="333333"/>
                </a:solidFill>
                <a:latin typeface="Calibri"/>
              </a:rPr>
              <a:t>Plus de flexibilité et meilleure qualité des appariements dans les petits échantillons. Mais </a:t>
            </a:r>
            <a:r>
              <a:rPr lang="fr-FR" sz="1600" dirty="0">
                <a:solidFill>
                  <a:srgbClr val="333333"/>
                </a:solidFill>
              </a:rPr>
              <a:t>forte dépendance d'un petit nombre d'unités</a:t>
            </a:r>
            <a:endParaRPr lang="fr-FR" sz="1600" b="0" i="0" dirty="0">
              <a:solidFill>
                <a:srgbClr val="333333"/>
              </a:solidFill>
              <a:latin typeface="Calibri"/>
            </a:endParaRPr>
          </a:p>
          <a:p>
            <a:pPr algn="l">
              <a:buNone/>
            </a:pPr>
            <a:r>
              <a:rPr lang="fr-FR" sz="1000" b="0" i="0" dirty="0">
                <a:solidFill>
                  <a:srgbClr val="555555"/>
                </a:solidFill>
                <a:latin typeface="Calibri"/>
              </a:rPr>
              <a:t> </a:t>
            </a:r>
          </a:p>
          <a:p>
            <a:pPr algn="l">
              <a:buNone/>
            </a:pPr>
            <a:r>
              <a:rPr lang="fr-FR" sz="2000" b="1" i="0" dirty="0">
                <a:solidFill>
                  <a:srgbClr val="1F3A4D"/>
                </a:solidFill>
                <a:latin typeface="Calibri"/>
              </a:rPr>
              <a:t>Inconvénients — sans remise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b="0" i="0" dirty="0">
                <a:solidFill>
                  <a:srgbClr val="333333"/>
                </a:solidFill>
                <a:latin typeface="Calibri"/>
              </a:rPr>
              <a:t>Nécessite un large échantillon de contrôle.</a:t>
            </a:r>
          </a:p>
          <a:p>
            <a:pPr marL="228600" indent="-228600" algn="l">
              <a:buFont typeface="Arial"/>
              <a:buChar char="•"/>
            </a:pPr>
            <a:r>
              <a:rPr lang="fr-FR" sz="1600" b="0" i="0" dirty="0">
                <a:solidFill>
                  <a:srgbClr val="333333"/>
                </a:solidFill>
                <a:latin typeface="Calibri"/>
              </a:rPr>
              <a:t>Estimation sensible à l’ordre d’appariement.</a:t>
            </a:r>
          </a:p>
        </p:txBody>
      </p:sp>
      <p:sp>
        <p:nvSpPr>
          <p:cNvPr id="13" name="Card"/>
          <p:cNvSpPr/>
          <p:nvPr/>
        </p:nvSpPr>
        <p:spPr>
          <a:xfrm>
            <a:off x="4800000" y="850000"/>
            <a:ext cx="4144000" cy="1850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4" name="Card"/>
          <p:cNvSpPr/>
          <p:nvPr/>
        </p:nvSpPr>
        <p:spPr>
          <a:xfrm>
            <a:off x="4800000" y="2900000"/>
            <a:ext cx="4144000" cy="1850000"/>
          </a:xfrm>
          <a:prstGeom prst="roundRect">
            <a:avLst>
              <a:gd name="adj" fmla="val 6000"/>
            </a:avLst>
          </a:prstGeom>
          <a:solidFill>
            <a:srgbClr val="F4F1EB"/>
          </a:solidFill>
          <a:ln w="9525">
            <a:solidFill>
              <a:srgbClr val="C9C2B6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5" name="T"/>
          <p:cNvSpPr txBox="1"/>
          <p:nvPr/>
        </p:nvSpPr>
        <p:spPr>
          <a:xfrm>
            <a:off x="4800000" y="890000"/>
            <a:ext cx="4144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1300" b="1" i="0">
                <a:solidFill>
                  <a:srgbClr val="1F3A4D"/>
                </a:solidFill>
                <a:latin typeface="Calibri"/>
              </a:rPr>
              <a:t>Sans remise</a:t>
            </a:r>
          </a:p>
        </p:txBody>
      </p:sp>
      <p:sp>
        <p:nvSpPr>
          <p:cNvPr id="16" name="T"/>
          <p:cNvSpPr txBox="1"/>
          <p:nvPr/>
        </p:nvSpPr>
        <p:spPr>
          <a:xfrm>
            <a:off x="4800000" y="2940000"/>
            <a:ext cx="4144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1300" b="1" i="0">
                <a:solidFill>
                  <a:srgbClr val="1F3A4D"/>
                </a:solidFill>
                <a:latin typeface="Calibri"/>
              </a:rPr>
              <a:t>Avec remise</a:t>
            </a:r>
          </a:p>
        </p:txBody>
      </p:sp>
      <p:sp>
        <p:nvSpPr>
          <p:cNvPr id="17" name="T"/>
          <p:cNvSpPr txBox="1"/>
          <p:nvPr/>
        </p:nvSpPr>
        <p:spPr>
          <a:xfrm>
            <a:off x="4880000" y="1460000"/>
            <a:ext cx="24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i="0">
                <a:solidFill>
                  <a:srgbClr val="1F3A4D"/>
                </a:solidFill>
                <a:latin typeface="Calibri"/>
              </a:rPr>
              <a:t>T</a:t>
            </a:r>
          </a:p>
        </p:txBody>
      </p:sp>
      <p:sp>
        <p:nvSpPr>
          <p:cNvPr id="18" name="T"/>
          <p:cNvSpPr txBox="1"/>
          <p:nvPr/>
        </p:nvSpPr>
        <p:spPr>
          <a:xfrm>
            <a:off x="4880000" y="2110000"/>
            <a:ext cx="24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i="0">
                <a:solidFill>
                  <a:srgbClr val="D98E45"/>
                </a:solidFill>
                <a:latin typeface="Calibri"/>
              </a:rPr>
              <a:t>C</a:t>
            </a:r>
          </a:p>
        </p:txBody>
      </p:sp>
      <p:cxnSp>
        <p:nvCxnSpPr>
          <p:cNvPr id="19" name="Ln"/>
          <p:cNvCxnSpPr/>
          <p:nvPr/>
        </p:nvCxnSpPr>
        <p:spPr>
          <a:xfrm>
            <a:off x="5631750" y="1647000"/>
            <a:ext cx="1" cy="456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20" name="Ln"/>
          <p:cNvCxnSpPr>
            <a:cxnSpLocks/>
            <a:stCxn id="26" idx="3"/>
            <a:endCxn id="36" idx="1"/>
          </p:cNvCxnSpPr>
          <p:nvPr/>
        </p:nvCxnSpPr>
        <p:spPr>
          <a:xfrm>
            <a:off x="6655250" y="1550000"/>
            <a:ext cx="533890" cy="29518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21" name="Ln"/>
          <p:cNvCxnSpPr/>
          <p:nvPr/>
        </p:nvCxnSpPr>
        <p:spPr>
          <a:xfrm flipH="1">
            <a:off x="6535250" y="1647000"/>
            <a:ext cx="903500" cy="456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22" name="Ln"/>
          <p:cNvCxnSpPr>
            <a:cxnSpLocks/>
            <a:endCxn id="37" idx="0"/>
          </p:cNvCxnSpPr>
          <p:nvPr/>
        </p:nvCxnSpPr>
        <p:spPr>
          <a:xfrm>
            <a:off x="8342250" y="1647000"/>
            <a:ext cx="281750" cy="563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23" name="Pt"/>
          <p:cNvSpPr/>
          <p:nvPr/>
        </p:nvSpPr>
        <p:spPr>
          <a:xfrm>
            <a:off x="5531750" y="145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4" name="T"/>
          <p:cNvSpPr txBox="1"/>
          <p:nvPr/>
        </p:nvSpPr>
        <p:spPr>
          <a:xfrm>
            <a:off x="5511750" y="149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25" name="Pt"/>
          <p:cNvSpPr/>
          <p:nvPr/>
        </p:nvSpPr>
        <p:spPr>
          <a:xfrm>
            <a:off x="6435250" y="145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6" name="T"/>
          <p:cNvSpPr txBox="1"/>
          <p:nvPr/>
        </p:nvSpPr>
        <p:spPr>
          <a:xfrm>
            <a:off x="6415250" y="149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27" name="Pt"/>
          <p:cNvSpPr/>
          <p:nvPr/>
        </p:nvSpPr>
        <p:spPr>
          <a:xfrm>
            <a:off x="7338750" y="145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8" name="T"/>
          <p:cNvSpPr txBox="1"/>
          <p:nvPr/>
        </p:nvSpPr>
        <p:spPr>
          <a:xfrm>
            <a:off x="7318750" y="149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29" name="Pt"/>
          <p:cNvSpPr/>
          <p:nvPr/>
        </p:nvSpPr>
        <p:spPr>
          <a:xfrm>
            <a:off x="8242250" y="145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0" name="T"/>
          <p:cNvSpPr txBox="1"/>
          <p:nvPr/>
        </p:nvSpPr>
        <p:spPr>
          <a:xfrm>
            <a:off x="8222250" y="149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31" name="Pt"/>
          <p:cNvSpPr/>
          <p:nvPr/>
        </p:nvSpPr>
        <p:spPr>
          <a:xfrm>
            <a:off x="5531750" y="210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" name="T"/>
          <p:cNvSpPr txBox="1"/>
          <p:nvPr/>
        </p:nvSpPr>
        <p:spPr>
          <a:xfrm>
            <a:off x="5511750" y="214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33" name="Pt"/>
          <p:cNvSpPr/>
          <p:nvPr/>
        </p:nvSpPr>
        <p:spPr>
          <a:xfrm>
            <a:off x="6435250" y="210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4" name="T"/>
          <p:cNvSpPr txBox="1"/>
          <p:nvPr/>
        </p:nvSpPr>
        <p:spPr>
          <a:xfrm>
            <a:off x="6415250" y="214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35" name="Pt"/>
          <p:cNvSpPr/>
          <p:nvPr/>
        </p:nvSpPr>
        <p:spPr>
          <a:xfrm>
            <a:off x="7209140" y="174518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" name="T"/>
          <p:cNvSpPr txBox="1"/>
          <p:nvPr/>
        </p:nvSpPr>
        <p:spPr>
          <a:xfrm>
            <a:off x="7189140" y="179018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 dirty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37" name="Pt"/>
          <p:cNvSpPr/>
          <p:nvPr/>
        </p:nvSpPr>
        <p:spPr>
          <a:xfrm>
            <a:off x="8524000" y="221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" name="T"/>
          <p:cNvSpPr txBox="1"/>
          <p:nvPr/>
        </p:nvSpPr>
        <p:spPr>
          <a:xfrm>
            <a:off x="8504000" y="225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 dirty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39" name="T"/>
          <p:cNvSpPr txBox="1"/>
          <p:nvPr/>
        </p:nvSpPr>
        <p:spPr>
          <a:xfrm>
            <a:off x="4880000" y="3510000"/>
            <a:ext cx="24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i="0">
                <a:solidFill>
                  <a:srgbClr val="1F3A4D"/>
                </a:solidFill>
                <a:latin typeface="Calibri"/>
              </a:rPr>
              <a:t>T</a:t>
            </a:r>
          </a:p>
        </p:txBody>
      </p:sp>
      <p:sp>
        <p:nvSpPr>
          <p:cNvPr id="40" name="T"/>
          <p:cNvSpPr txBox="1"/>
          <p:nvPr/>
        </p:nvSpPr>
        <p:spPr>
          <a:xfrm>
            <a:off x="4880000" y="4160000"/>
            <a:ext cx="240000" cy="20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1000" b="1" i="0">
                <a:solidFill>
                  <a:srgbClr val="D98E45"/>
                </a:solidFill>
                <a:latin typeface="Calibri"/>
              </a:rPr>
              <a:t>C</a:t>
            </a:r>
          </a:p>
        </p:txBody>
      </p:sp>
      <p:cxnSp>
        <p:nvCxnSpPr>
          <p:cNvPr id="41" name="Ln"/>
          <p:cNvCxnSpPr/>
          <p:nvPr/>
        </p:nvCxnSpPr>
        <p:spPr>
          <a:xfrm>
            <a:off x="5631750" y="3697000"/>
            <a:ext cx="1" cy="456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42" name="Ln"/>
          <p:cNvCxnSpPr>
            <a:cxnSpLocks/>
            <a:endCxn id="58" idx="1"/>
          </p:cNvCxnSpPr>
          <p:nvPr/>
        </p:nvCxnSpPr>
        <p:spPr>
          <a:xfrm>
            <a:off x="6653250" y="3680000"/>
            <a:ext cx="555500" cy="220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43" name="Ln"/>
          <p:cNvCxnSpPr>
            <a:cxnSpLocks/>
            <a:stCxn id="49" idx="4"/>
            <a:endCxn id="57" idx="0"/>
          </p:cNvCxnSpPr>
          <p:nvPr/>
        </p:nvCxnSpPr>
        <p:spPr>
          <a:xfrm flipH="1">
            <a:off x="7328750" y="3700000"/>
            <a:ext cx="110000" cy="88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44" name="Ln"/>
          <p:cNvCxnSpPr>
            <a:cxnSpLocks/>
            <a:endCxn id="57" idx="6"/>
          </p:cNvCxnSpPr>
          <p:nvPr/>
        </p:nvCxnSpPr>
        <p:spPr>
          <a:xfrm flipH="1">
            <a:off x="7440750" y="3627000"/>
            <a:ext cx="779500" cy="27300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45" name="Pt"/>
          <p:cNvSpPr/>
          <p:nvPr/>
        </p:nvSpPr>
        <p:spPr>
          <a:xfrm>
            <a:off x="5531750" y="350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6" name="T"/>
          <p:cNvSpPr txBox="1"/>
          <p:nvPr/>
        </p:nvSpPr>
        <p:spPr>
          <a:xfrm>
            <a:off x="5511750" y="354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T1</a:t>
            </a:r>
          </a:p>
        </p:txBody>
      </p:sp>
      <p:sp>
        <p:nvSpPr>
          <p:cNvPr id="47" name="Pt"/>
          <p:cNvSpPr/>
          <p:nvPr/>
        </p:nvSpPr>
        <p:spPr>
          <a:xfrm>
            <a:off x="6435250" y="350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8" name="T"/>
          <p:cNvSpPr txBox="1"/>
          <p:nvPr/>
        </p:nvSpPr>
        <p:spPr>
          <a:xfrm>
            <a:off x="6415250" y="354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T2</a:t>
            </a:r>
          </a:p>
        </p:txBody>
      </p:sp>
      <p:sp>
        <p:nvSpPr>
          <p:cNvPr id="49" name="Pt"/>
          <p:cNvSpPr/>
          <p:nvPr/>
        </p:nvSpPr>
        <p:spPr>
          <a:xfrm>
            <a:off x="7338750" y="350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0" name="T"/>
          <p:cNvSpPr txBox="1"/>
          <p:nvPr/>
        </p:nvSpPr>
        <p:spPr>
          <a:xfrm>
            <a:off x="7318750" y="354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T3</a:t>
            </a:r>
          </a:p>
        </p:txBody>
      </p:sp>
      <p:sp>
        <p:nvSpPr>
          <p:cNvPr id="51" name="Pt"/>
          <p:cNvSpPr/>
          <p:nvPr/>
        </p:nvSpPr>
        <p:spPr>
          <a:xfrm>
            <a:off x="8242250" y="3500000"/>
            <a:ext cx="200000" cy="20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2" name="T"/>
          <p:cNvSpPr txBox="1"/>
          <p:nvPr/>
        </p:nvSpPr>
        <p:spPr>
          <a:xfrm>
            <a:off x="8222250" y="354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T4</a:t>
            </a:r>
          </a:p>
        </p:txBody>
      </p:sp>
      <p:sp>
        <p:nvSpPr>
          <p:cNvPr id="53" name="Pt"/>
          <p:cNvSpPr/>
          <p:nvPr/>
        </p:nvSpPr>
        <p:spPr>
          <a:xfrm>
            <a:off x="5531750" y="415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4" name="T"/>
          <p:cNvSpPr txBox="1"/>
          <p:nvPr/>
        </p:nvSpPr>
        <p:spPr>
          <a:xfrm>
            <a:off x="5511750" y="419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C1</a:t>
            </a:r>
          </a:p>
        </p:txBody>
      </p:sp>
      <p:sp>
        <p:nvSpPr>
          <p:cNvPr id="55" name="Pt"/>
          <p:cNvSpPr/>
          <p:nvPr/>
        </p:nvSpPr>
        <p:spPr>
          <a:xfrm>
            <a:off x="6435250" y="415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6" name="T"/>
          <p:cNvSpPr txBox="1"/>
          <p:nvPr/>
        </p:nvSpPr>
        <p:spPr>
          <a:xfrm>
            <a:off x="6415250" y="419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>
                <a:solidFill>
                  <a:srgbClr val="FFFFFF"/>
                </a:solidFill>
                <a:latin typeface="Calibri"/>
              </a:rPr>
              <a:t>C2</a:t>
            </a:r>
          </a:p>
        </p:txBody>
      </p:sp>
      <p:sp>
        <p:nvSpPr>
          <p:cNvPr id="57" name="Pt"/>
          <p:cNvSpPr/>
          <p:nvPr/>
        </p:nvSpPr>
        <p:spPr>
          <a:xfrm>
            <a:off x="7216750" y="3788000"/>
            <a:ext cx="224000" cy="224000"/>
          </a:xfrm>
          <a:prstGeom prst="ellipse">
            <a:avLst/>
          </a:prstGeom>
          <a:solidFill>
            <a:srgbClr val="D98E45"/>
          </a:solidFill>
          <a:ln w="12700">
            <a:solidFill>
              <a:srgbClr val="1F3A4D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58" name="T"/>
          <p:cNvSpPr txBox="1"/>
          <p:nvPr/>
        </p:nvSpPr>
        <p:spPr>
          <a:xfrm>
            <a:off x="7208750" y="384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 dirty="0">
                <a:solidFill>
                  <a:srgbClr val="FFFFFF"/>
                </a:solidFill>
                <a:latin typeface="Calibri"/>
              </a:rPr>
              <a:t>C3</a:t>
            </a:r>
          </a:p>
        </p:txBody>
      </p:sp>
      <p:sp>
        <p:nvSpPr>
          <p:cNvPr id="59" name="Pt"/>
          <p:cNvSpPr/>
          <p:nvPr/>
        </p:nvSpPr>
        <p:spPr>
          <a:xfrm>
            <a:off x="8519490" y="4260000"/>
            <a:ext cx="200000" cy="2000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60" name="T"/>
          <p:cNvSpPr txBox="1"/>
          <p:nvPr/>
        </p:nvSpPr>
        <p:spPr>
          <a:xfrm>
            <a:off x="8499490" y="4305000"/>
            <a:ext cx="240000" cy="110000"/>
          </a:xfrm>
          <a:prstGeom prst="rect">
            <a:avLst/>
          </a:prstGeom>
          <a:noFill/>
        </p:spPr>
        <p:txBody>
          <a:bodyPr wrap="square" lIns="36000" tIns="18000" rIns="36000" bIns="18000" anchor="ctr"/>
          <a:lstStyle/>
          <a:p>
            <a:pPr algn="ctr">
              <a:buNone/>
            </a:pPr>
            <a:r>
              <a:rPr lang="fr-FR" sz="800" b="1" i="0" dirty="0">
                <a:solidFill>
                  <a:srgbClr val="FFFFFF"/>
                </a:solidFill>
                <a:latin typeface="Calibri"/>
              </a:rPr>
              <a:t>C4</a:t>
            </a:r>
          </a:p>
        </p:txBody>
      </p:sp>
      <p:sp>
        <p:nvSpPr>
          <p:cNvPr id="61" name="T"/>
          <p:cNvSpPr txBox="1"/>
          <p:nvPr/>
        </p:nvSpPr>
        <p:spPr>
          <a:xfrm>
            <a:off x="4800000" y="2440000"/>
            <a:ext cx="4144000" cy="22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850" b="0" i="1">
                <a:solidFill>
                  <a:srgbClr val="555555"/>
                </a:solidFill>
                <a:latin typeface="Calibri"/>
              </a:rPr>
              <a:t>appariement 1-pour-1</a:t>
            </a:r>
          </a:p>
        </p:txBody>
      </p:sp>
      <p:sp>
        <p:nvSpPr>
          <p:cNvPr id="62" name="T"/>
          <p:cNvSpPr txBox="1"/>
          <p:nvPr/>
        </p:nvSpPr>
        <p:spPr>
          <a:xfrm>
            <a:off x="4800000" y="4490000"/>
            <a:ext cx="4144000" cy="22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850" b="0" i="1">
                <a:solidFill>
                  <a:srgbClr val="555555"/>
                </a:solidFill>
                <a:latin typeface="Calibri"/>
              </a:rPr>
              <a:t>un contrôle réutilisé (cercle entouré)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56D9DB9F-01AA-F0AB-8AEC-C3A3872EB7D1}"/>
              </a:ext>
            </a:extLst>
          </p:cNvPr>
          <p:cNvGrpSpPr/>
          <p:nvPr/>
        </p:nvGrpSpPr>
        <p:grpSpPr>
          <a:xfrm>
            <a:off x="8399145" y="180000"/>
            <a:ext cx="296620" cy="603000"/>
            <a:chOff x="3380965" y="180000"/>
            <a:chExt cx="1343435" cy="1500000"/>
          </a:xfrm>
        </p:grpSpPr>
        <p:sp>
          <p:nvSpPr>
            <p:cNvPr id="3" name="Outline triangle - haut">
              <a:extLst>
                <a:ext uri="{FF2B5EF4-FFF2-40B4-BE49-F238E27FC236}">
                  <a16:creationId xmlns:a16="http://schemas.microsoft.com/office/drawing/2014/main" id="{5D8E42BD-CE9B-ECC8-CED4-450C0C640FF6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Outline triangle - milieu">
              <a:extLst>
                <a:ext uri="{FF2B5EF4-FFF2-40B4-BE49-F238E27FC236}">
                  <a16:creationId xmlns:a16="http://schemas.microsoft.com/office/drawing/2014/main" id="{4B70032D-C967-1EAE-6847-7B055CE4C4F8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" name="Outline triangle - bas">
              <a:extLst>
                <a:ext uri="{FF2B5EF4-FFF2-40B4-BE49-F238E27FC236}">
                  <a16:creationId xmlns:a16="http://schemas.microsoft.com/office/drawing/2014/main" id="{0CA2CC0A-299D-13FD-2F8E-A1B645C9AD87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Limites du plus proche voisin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dirty="0" err="1"/>
                  <a:t>L’appariement</a:t>
                </a:r>
                <a:r>
                  <a:rPr lang="de-DE" dirty="0"/>
                  <a:t> </a:t>
                </a:r>
                <a:r>
                  <a:rPr lang="de-DE" dirty="0" err="1"/>
                  <a:t>avec</a:t>
                </a:r>
                <a:r>
                  <a:rPr lang="de-DE" dirty="0"/>
                  <a:t> le </a:t>
                </a:r>
                <a:r>
                  <a:rPr lang="de-DE" dirty="0" err="1"/>
                  <a:t>voisin</a:t>
                </a:r>
                <a:r>
                  <a:rPr lang="de-DE" dirty="0"/>
                  <a:t> plus </a:t>
                </a:r>
                <a:r>
                  <a:rPr lang="de-DE" dirty="0" err="1"/>
                  <a:t>proche</a:t>
                </a:r>
                <a:r>
                  <a:rPr lang="de-DE" dirty="0"/>
                  <a:t> </a:t>
                </a:r>
                <a:r>
                  <a:rPr dirty="0"/>
                  <a:t>est </a:t>
                </a:r>
                <a:r>
                  <a:rPr dirty="0" err="1"/>
                  <a:t>assez</a:t>
                </a:r>
                <a:r>
                  <a:rPr dirty="0"/>
                  <a:t> simple à </a:t>
                </a:r>
                <a:r>
                  <a:rPr dirty="0" err="1"/>
                  <a:t>mettre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œuvre</a:t>
                </a:r>
                <a:r>
                  <a:rPr lang="de-DE" dirty="0"/>
                  <a:t>. </a:t>
                </a:r>
              </a:p>
              <a:p>
                <a:r>
                  <a:rPr lang="de-DE" dirty="0"/>
                  <a:t>Son </a:t>
                </a:r>
                <a:r>
                  <a:rPr dirty="0" err="1"/>
                  <a:t>principe</a:t>
                </a:r>
                <a:r>
                  <a:rPr dirty="0"/>
                  <a:t> est </a:t>
                </a:r>
                <a:r>
                  <a:rPr dirty="0" err="1"/>
                  <a:t>intuitif</a:t>
                </a:r>
                <a:r>
                  <a:rPr dirty="0"/>
                  <a:t> et ne </a:t>
                </a:r>
                <a:r>
                  <a:rPr dirty="0" err="1"/>
                  <a:t>demande</a:t>
                </a:r>
                <a:r>
                  <a:rPr dirty="0"/>
                  <a:t> pas de choix de </a:t>
                </a:r>
                <a:r>
                  <a:rPr dirty="0" err="1"/>
                  <a:t>paramètres</a:t>
                </a:r>
                <a:r>
                  <a:rPr dirty="0"/>
                  <a:t> très </a:t>
                </a:r>
                <a:r>
                  <a:rPr dirty="0" err="1"/>
                  <a:t>lourds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dirty="0" err="1"/>
                  <a:t>Toutefois</a:t>
                </a:r>
                <a:r>
                  <a:rPr dirty="0"/>
                  <a:t> :</a:t>
                </a:r>
              </a:p>
              <a:p>
                <a:pPr lvl="0"/>
                <a:r>
                  <a:rPr dirty="0" err="1"/>
                  <a:t>unité</a:t>
                </a:r>
                <a:r>
                  <a:rPr dirty="0"/>
                  <a:t> la plus </a:t>
                </a:r>
                <a:r>
                  <a:rPr dirty="0" err="1"/>
                  <a:t>proche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unité</a:t>
                </a:r>
                <a:r>
                  <a:rPr dirty="0"/>
                  <a:t> </a:t>
                </a:r>
                <a:r>
                  <a:rPr dirty="0" err="1"/>
                  <a:t>vraiment</a:t>
                </a:r>
                <a:r>
                  <a:rPr dirty="0"/>
                  <a:t> </a:t>
                </a:r>
                <a:r>
                  <a:rPr dirty="0" err="1"/>
                  <a:t>proche</a:t>
                </a:r>
                <a:r>
                  <a:rPr dirty="0"/>
                  <a:t> ;</a:t>
                </a:r>
              </a:p>
              <a:p>
                <a:pPr lvl="0"/>
                <a:r>
                  <a:rPr dirty="0" err="1"/>
                  <a:t>certains</a:t>
                </a:r>
                <a:r>
                  <a:rPr dirty="0"/>
                  <a:t> plus </a:t>
                </a:r>
                <a:r>
                  <a:rPr dirty="0" err="1"/>
                  <a:t>proches</a:t>
                </a:r>
                <a:r>
                  <a:rPr dirty="0"/>
                  <a:t> </a:t>
                </a:r>
                <a:r>
                  <a:rPr dirty="0" err="1"/>
                  <a:t>voisins</a:t>
                </a:r>
                <a:r>
                  <a:rPr dirty="0"/>
                  <a:t> </a:t>
                </a:r>
                <a:r>
                  <a:rPr dirty="0" err="1"/>
                  <a:t>peuvent</a:t>
                </a:r>
                <a:r>
                  <a:rPr dirty="0"/>
                  <a:t> </a:t>
                </a:r>
                <a:r>
                  <a:rPr dirty="0" err="1"/>
                  <a:t>rester</a:t>
                </a:r>
                <a:r>
                  <a:rPr dirty="0"/>
                  <a:t> </a:t>
                </a:r>
                <a:r>
                  <a:rPr dirty="0" err="1"/>
                  <a:t>assez</a:t>
                </a:r>
                <a:r>
                  <a:rPr dirty="0"/>
                  <a:t> </a:t>
                </a:r>
                <a:r>
                  <a:rPr dirty="0" err="1"/>
                  <a:t>éloignés</a:t>
                </a:r>
                <a:r>
                  <a:rPr dirty="0"/>
                  <a:t> ;</a:t>
                </a:r>
              </a:p>
              <a:p>
                <a:pPr lvl="0"/>
                <a:r>
                  <a:rPr dirty="0"/>
                  <a:t>la </a:t>
                </a:r>
                <a:r>
                  <a:rPr dirty="0" err="1"/>
                  <a:t>méthode</a:t>
                </a:r>
                <a:r>
                  <a:rPr dirty="0"/>
                  <a:t> </a:t>
                </a:r>
                <a:r>
                  <a:rPr dirty="0" err="1"/>
                  <a:t>traite</a:t>
                </a:r>
                <a:r>
                  <a:rPr dirty="0"/>
                  <a:t> de la </a:t>
                </a:r>
                <a:r>
                  <a:rPr dirty="0" err="1"/>
                  <a:t>même</a:t>
                </a:r>
                <a:r>
                  <a:rPr dirty="0"/>
                  <a:t> manière des couples très </a:t>
                </a:r>
                <a:r>
                  <a:rPr dirty="0" err="1"/>
                  <a:t>proches</a:t>
                </a:r>
                <a:r>
                  <a:rPr dirty="0"/>
                  <a:t> et </a:t>
                </a:r>
                <a:r>
                  <a:rPr dirty="0" err="1"/>
                  <a:t>moins</a:t>
                </a:r>
                <a:r>
                  <a:rPr dirty="0"/>
                  <a:t> </a:t>
                </a:r>
                <a:r>
                  <a:rPr dirty="0" err="1"/>
                  <a:t>proches</a:t>
                </a:r>
                <a:r>
                  <a:rPr dirty="0"/>
                  <a:t> ;</a:t>
                </a:r>
              </a:p>
              <a:p>
                <a:pPr lvl="0"/>
                <a:r>
                  <a:rPr lang="fr-FR" dirty="0"/>
                  <a:t>apparier avec un seul contrôle prive de l’information apportée par les autres unités comparables.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Biais</a:t>
                </a:r>
                <a:r>
                  <a:rPr dirty="0"/>
                  <a:t> possible et </a:t>
                </a:r>
                <a:r>
                  <a:rPr dirty="0" err="1"/>
                  <a:t>perte</a:t>
                </a:r>
                <a:r>
                  <a:rPr dirty="0"/>
                  <a:t> de </a:t>
                </a:r>
                <a:r>
                  <a:rPr dirty="0" err="1"/>
                  <a:t>précision</a:t>
                </a:r>
                <a:r>
                  <a:rPr dirty="0"/>
                  <a:t>.</a:t>
                </a:r>
                <a:endParaRPr lang="de-DE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67" t="-23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10FDC56A-1838-5E62-47B8-DCEBB7EDE915}"/>
              </a:ext>
            </a:extLst>
          </p:cNvPr>
          <p:cNvGrpSpPr/>
          <p:nvPr/>
        </p:nvGrpSpPr>
        <p:grpSpPr>
          <a:xfrm>
            <a:off x="8399145" y="180000"/>
            <a:ext cx="296620" cy="60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35523FC9-5A3C-D0FF-CBBF-4828F575701F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285C0A17-0283-E319-1879-0592F320971C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318823B0-2B3D-5DBF-7B73-277176FB8F29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Choix de la taille de la fenêtre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La fenêtre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t> mesure la taille du voisinage en dehors duquel les poids sont très faibles.</a:t>
                </a:r>
              </a:p>
              <a:p>
                <a:pPr marL="0" lvl="0" indent="0">
                  <a:buNone/>
                </a:pPr>
                <a:r>
                  <a:t>Plus la fenêtre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t> est petite, plus l’estimation du contrefactuel d’une unité traitée ne prendra en compte que les unités non traitées dont les caractéristiques observables sont très proches des siennes.</a:t>
                </a:r>
              </a:p>
              <a:p>
                <a:pPr marL="0" lvl="0" indent="0">
                  <a:buNone/>
                </a:pPr>
                <a:r>
                  <a:t>Il n’existe pas vraiment de règle établie pour le choix de cette fenêtre.</a:t>
                </a:r>
              </a:p>
              <a:p>
                <a:pPr marL="0" lvl="0" indent="0">
                  <a:buNone/>
                </a:pPr>
                <a:r>
                  <a:t>En pratique, le choix de la fenêtre est fait de manière </a:t>
                </a:r>
                <a:r>
                  <a:rPr i="1"/>
                  <a:t>ad-hoc</a:t>
                </a:r>
                <a: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 r="-111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"/>
          <p:cNvSpPr txBox="1"/>
          <p:nvPr/>
        </p:nvSpPr>
        <p:spPr>
          <a:xfrm>
            <a:off x="400000" y="200000"/>
            <a:ext cx="8344000" cy="4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fr-FR" sz="2400" b="1" i="0">
                <a:solidFill>
                  <a:srgbClr val="2E5E7E"/>
                </a:solidFill>
                <a:latin typeface="Calibri"/>
              </a:rPr>
              <a:t>Biais vs variance — illustration</a:t>
            </a:r>
          </a:p>
        </p:txBody>
      </p:sp>
      <p:sp>
        <p:nvSpPr>
          <p:cNvPr id="12" name="T"/>
          <p:cNvSpPr txBox="1"/>
          <p:nvPr/>
        </p:nvSpPr>
        <p:spPr>
          <a:xfrm>
            <a:off x="400000" y="680000"/>
            <a:ext cx="8344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lvl="0"/>
            <a:r>
              <a:rPr lang="fr-FR" sz="1100" dirty="0"/>
              <a:t>Chaque méthode a des avantages et des inconvénients.</a:t>
            </a:r>
          </a:p>
          <a:p>
            <a:pPr lvl="0"/>
            <a:r>
              <a:rPr lang="fr-FR" sz="1100" dirty="0"/>
              <a:t>L’opposition entre la plus simple (voisin le plus proche) et la plus élaborée (noyau) reflète le dilemme classique entre biais et variance</a:t>
            </a:r>
            <a:r>
              <a:rPr lang="fr-FR" sz="11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13" name="Tri"/>
          <p:cNvSpPr/>
          <p:nvPr/>
        </p:nvSpPr>
        <p:spPr>
          <a:xfrm>
            <a:off x="800000" y="1230000"/>
            <a:ext cx="7544000" cy="70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0" y="0"/>
                </a:moveTo>
                <a:lnTo>
                  <a:pt x="0" y="100000"/>
                </a:lnTo>
                <a:lnTo>
                  <a:pt x="100000" y="95714"/>
                </a:lnTo>
                <a:close/>
              </a:path>
            </a:pathLst>
          </a:custGeom>
          <a:solidFill>
            <a:srgbClr val="2E5E7E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4" name="Tri"/>
          <p:cNvSpPr/>
          <p:nvPr/>
        </p:nvSpPr>
        <p:spPr>
          <a:xfrm>
            <a:off x="800000" y="1230000"/>
            <a:ext cx="7544000" cy="700000"/>
          </a:xfrm>
          <a:custGeom>
            <a:avLst/>
            <a:gdLst/>
            <a:ahLst/>
            <a:cxnLst/>
            <a:rect l="0" t="0" r="0" b="0"/>
            <a:pathLst>
              <a:path w="100000" h="100000">
                <a:moveTo>
                  <a:pt x="100000" y="0"/>
                </a:moveTo>
                <a:lnTo>
                  <a:pt x="100000" y="100000"/>
                </a:lnTo>
                <a:lnTo>
                  <a:pt x="0" y="95714"/>
                </a:lnTo>
                <a:close/>
              </a:path>
            </a:pathLst>
          </a:custGeom>
          <a:solidFill>
            <a:srgbClr val="D98E45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15" name="T"/>
          <p:cNvSpPr txBox="1"/>
          <p:nvPr/>
        </p:nvSpPr>
        <p:spPr>
          <a:xfrm>
            <a:off x="850000" y="1280000"/>
            <a:ext cx="14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fr-FR" sz="1300" b="1" i="0">
                <a:solidFill>
                  <a:srgbClr val="2E5E7E"/>
                </a:solidFill>
                <a:latin typeface="Calibri"/>
              </a:rPr>
              <a:t>Variance </a:t>
            </a:r>
            <a:r>
              <a:rPr lang="fr-FR" sz="1100" b="0" i="1">
                <a:solidFill>
                  <a:srgbClr val="2E5E7E"/>
                </a:solidFill>
                <a:latin typeface="Calibri"/>
              </a:rPr>
              <a:t>élevée</a:t>
            </a:r>
          </a:p>
        </p:txBody>
      </p:sp>
      <p:sp>
        <p:nvSpPr>
          <p:cNvPr id="16" name="T"/>
          <p:cNvSpPr txBox="1"/>
          <p:nvPr/>
        </p:nvSpPr>
        <p:spPr>
          <a:xfrm>
            <a:off x="6894000" y="1280000"/>
            <a:ext cx="14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r">
              <a:buNone/>
            </a:pPr>
            <a:r>
              <a:rPr lang="fr-FR" sz="1300" b="1" i="0">
                <a:solidFill>
                  <a:srgbClr val="B5722B"/>
                </a:solidFill>
                <a:latin typeface="Calibri"/>
              </a:rPr>
              <a:t>Biais </a:t>
            </a:r>
            <a:r>
              <a:rPr lang="fr-FR" sz="1100" b="0" i="1">
                <a:solidFill>
                  <a:srgbClr val="B5722B"/>
                </a:solidFill>
                <a:latin typeface="Calibri"/>
              </a:rPr>
              <a:t>élevé</a:t>
            </a:r>
          </a:p>
        </p:txBody>
      </p:sp>
      <p:sp>
        <p:nvSpPr>
          <p:cNvPr id="17" name="T"/>
          <p:cNvSpPr txBox="1"/>
          <p:nvPr/>
        </p:nvSpPr>
        <p:spPr>
          <a:xfrm>
            <a:off x="850000" y="1650000"/>
            <a:ext cx="1400000" cy="24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fr-FR" sz="1000" b="0" i="1">
                <a:solidFill>
                  <a:srgbClr val="2E5E7E"/>
                </a:solidFill>
                <a:latin typeface="Calibri"/>
              </a:rPr>
              <a:t>Variance faible</a:t>
            </a:r>
          </a:p>
        </p:txBody>
      </p:sp>
      <p:sp>
        <p:nvSpPr>
          <p:cNvPr id="18" name="T"/>
          <p:cNvSpPr txBox="1"/>
          <p:nvPr/>
        </p:nvSpPr>
        <p:spPr>
          <a:xfrm>
            <a:off x="6894000" y="1650000"/>
            <a:ext cx="1400000" cy="24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r">
              <a:buNone/>
            </a:pPr>
            <a:r>
              <a:rPr lang="fr-FR" sz="1000" b="0" i="1">
                <a:solidFill>
                  <a:srgbClr val="B5722B"/>
                </a:solidFill>
                <a:latin typeface="Calibri"/>
              </a:rPr>
              <a:t>Biais faible</a:t>
            </a:r>
          </a:p>
        </p:txBody>
      </p:sp>
      <p:cxnSp>
        <p:nvCxnSpPr>
          <p:cNvPr id="19" name="L"/>
          <p:cNvCxnSpPr/>
          <p:nvPr/>
        </p:nvCxnSpPr>
        <p:spPr>
          <a:xfrm>
            <a:off x="800000" y="2130000"/>
            <a:ext cx="7544000" cy="1"/>
          </a:xfrm>
          <a:prstGeom prst="line">
            <a:avLst/>
          </a:prstGeom>
          <a:ln w="22225">
            <a:solidFill>
              <a:srgbClr val="1F3A4D"/>
            </a:solidFill>
            <a:tailEnd type="triangle" w="med" len="med"/>
          </a:ln>
        </p:spPr>
      </p:cxnSp>
      <p:cxnSp>
        <p:nvCxnSpPr>
          <p:cNvPr id="20" name="L"/>
          <p:cNvCxnSpPr/>
          <p:nvPr/>
        </p:nvCxnSpPr>
        <p:spPr>
          <a:xfrm>
            <a:off x="800000" y="2130000"/>
            <a:ext cx="7544000" cy="1"/>
          </a:xfrm>
          <a:prstGeom prst="line">
            <a:avLst/>
          </a:prstGeom>
          <a:ln w="22225">
            <a:solidFill>
              <a:srgbClr val="1F3A4D"/>
            </a:solidFill>
          </a:ln>
        </p:spPr>
      </p:cxnSp>
      <p:sp>
        <p:nvSpPr>
          <p:cNvPr id="21" name="C"/>
          <p:cNvSpPr/>
          <p:nvPr/>
        </p:nvSpPr>
        <p:spPr>
          <a:xfrm>
            <a:off x="770000" y="2100000"/>
            <a:ext cx="60000" cy="6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2" name="C"/>
          <p:cNvSpPr/>
          <p:nvPr/>
        </p:nvSpPr>
        <p:spPr>
          <a:xfrm>
            <a:off x="8314000" y="2100000"/>
            <a:ext cx="60000" cy="60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23" name="T"/>
          <p:cNvSpPr txBox="1"/>
          <p:nvPr/>
        </p:nvSpPr>
        <p:spPr>
          <a:xfrm>
            <a:off x="600000" y="2180000"/>
            <a:ext cx="23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fr-FR" sz="1200" b="1" i="0">
                <a:solidFill>
                  <a:srgbClr val="1F3A4D"/>
                </a:solidFill>
                <a:latin typeface="Calibri"/>
              </a:rPr>
              <a:t>Voisin le plus proche</a:t>
            </a:r>
          </a:p>
        </p:txBody>
      </p:sp>
      <p:sp>
        <p:nvSpPr>
          <p:cNvPr id="24" name="T"/>
          <p:cNvSpPr txBox="1"/>
          <p:nvPr/>
        </p:nvSpPr>
        <p:spPr>
          <a:xfrm>
            <a:off x="600000" y="2450000"/>
            <a:ext cx="2300000" cy="24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l">
              <a:buNone/>
            </a:pPr>
            <a:r>
              <a:rPr lang="fr-FR" sz="950" b="0" i="1">
                <a:solidFill>
                  <a:srgbClr val="555555"/>
                </a:solidFill>
                <a:latin typeface="Calibri"/>
              </a:rPr>
              <a:t>plus simple — 1 contrôle</a:t>
            </a:r>
          </a:p>
        </p:txBody>
      </p:sp>
      <p:sp>
        <p:nvSpPr>
          <p:cNvPr id="25" name="T"/>
          <p:cNvSpPr txBox="1"/>
          <p:nvPr/>
        </p:nvSpPr>
        <p:spPr>
          <a:xfrm>
            <a:off x="6244000" y="2180000"/>
            <a:ext cx="23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r">
              <a:buNone/>
            </a:pPr>
            <a:r>
              <a:rPr lang="fr-FR" sz="1200" b="1" i="0">
                <a:solidFill>
                  <a:srgbClr val="1F3A4D"/>
                </a:solidFill>
                <a:latin typeface="Calibri"/>
              </a:rPr>
              <a:t>Appariement par noyau</a:t>
            </a:r>
          </a:p>
        </p:txBody>
      </p:sp>
      <p:sp>
        <p:nvSpPr>
          <p:cNvPr id="26" name="T"/>
          <p:cNvSpPr txBox="1"/>
          <p:nvPr/>
        </p:nvSpPr>
        <p:spPr>
          <a:xfrm>
            <a:off x="6244000" y="2450000"/>
            <a:ext cx="2300000" cy="24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r">
              <a:buNone/>
            </a:pPr>
            <a:r>
              <a:rPr lang="fr-FR" sz="950" b="0" i="1">
                <a:solidFill>
                  <a:srgbClr val="555555"/>
                </a:solidFill>
                <a:latin typeface="Calibri"/>
              </a:rPr>
              <a:t>plus élaborée — tous les contrôles pondérés</a:t>
            </a:r>
          </a:p>
        </p:txBody>
      </p:sp>
      <p:sp>
        <p:nvSpPr>
          <p:cNvPr id="27" name="C"/>
          <p:cNvSpPr/>
          <p:nvPr/>
        </p:nvSpPr>
        <p:spPr>
          <a:xfrm>
            <a:off x="4502000" y="2060000"/>
            <a:ext cx="140000" cy="14000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3A4D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28" name="T"/>
          <p:cNvSpPr txBox="1"/>
          <p:nvPr/>
        </p:nvSpPr>
        <p:spPr>
          <a:xfrm>
            <a:off x="3872000" y="2180000"/>
            <a:ext cx="1400000" cy="26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1050" b="1" i="0">
                <a:solidFill>
                  <a:srgbClr val="1F3A4D"/>
                </a:solidFill>
                <a:latin typeface="Calibri"/>
              </a:rPr>
              <a:t>Compromis</a:t>
            </a:r>
          </a:p>
        </p:txBody>
      </p:sp>
      <p:sp>
        <p:nvSpPr>
          <p:cNvPr id="29" name="T"/>
          <p:cNvSpPr txBox="1"/>
          <p:nvPr/>
        </p:nvSpPr>
        <p:spPr>
          <a:xfrm>
            <a:off x="3872000" y="2450000"/>
            <a:ext cx="1400000" cy="22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900" b="0" i="1">
                <a:solidFill>
                  <a:srgbClr val="555555"/>
                </a:solidFill>
                <a:latin typeface="Calibri"/>
              </a:rPr>
              <a:t>tester la sensibilité</a:t>
            </a:r>
          </a:p>
        </p:txBody>
      </p:sp>
      <p:sp>
        <p:nvSpPr>
          <p:cNvPr id="30" name="C"/>
          <p:cNvSpPr/>
          <p:nvPr/>
        </p:nvSpPr>
        <p:spPr>
          <a:xfrm>
            <a:off x="1520000" y="3270000"/>
            <a:ext cx="760000" cy="760000"/>
          </a:xfrm>
          <a:prstGeom prst="ellipse">
            <a:avLst/>
          </a:prstGeom>
          <a:solidFill>
            <a:srgbClr val="EFE7D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1" name="C"/>
          <p:cNvSpPr/>
          <p:nvPr/>
        </p:nvSpPr>
        <p:spPr>
          <a:xfrm>
            <a:off x="1649200" y="3399200"/>
            <a:ext cx="501600" cy="501600"/>
          </a:xfrm>
          <a:prstGeom prst="ellipse">
            <a:avLst/>
          </a:prstGeom>
          <a:solidFill>
            <a:srgbClr val="DDD0B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2" name="C"/>
          <p:cNvSpPr/>
          <p:nvPr/>
        </p:nvSpPr>
        <p:spPr>
          <a:xfrm>
            <a:off x="1774600" y="3524600"/>
            <a:ext cx="250800" cy="2508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3" name="C"/>
          <p:cNvSpPr/>
          <p:nvPr/>
        </p:nvSpPr>
        <p:spPr>
          <a:xfrm>
            <a:off x="4192000" y="3270000"/>
            <a:ext cx="760000" cy="760000"/>
          </a:xfrm>
          <a:prstGeom prst="ellipse">
            <a:avLst/>
          </a:prstGeom>
          <a:solidFill>
            <a:srgbClr val="EFE7D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4" name="C"/>
          <p:cNvSpPr/>
          <p:nvPr/>
        </p:nvSpPr>
        <p:spPr>
          <a:xfrm>
            <a:off x="4321200" y="3399200"/>
            <a:ext cx="501600" cy="501600"/>
          </a:xfrm>
          <a:prstGeom prst="ellipse">
            <a:avLst/>
          </a:prstGeom>
          <a:solidFill>
            <a:srgbClr val="DDD0B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5" name="C"/>
          <p:cNvSpPr/>
          <p:nvPr/>
        </p:nvSpPr>
        <p:spPr>
          <a:xfrm>
            <a:off x="4446600" y="3524600"/>
            <a:ext cx="250800" cy="2508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6" name="C"/>
          <p:cNvSpPr/>
          <p:nvPr/>
        </p:nvSpPr>
        <p:spPr>
          <a:xfrm>
            <a:off x="6864000" y="3270000"/>
            <a:ext cx="760000" cy="760000"/>
          </a:xfrm>
          <a:prstGeom prst="ellipse">
            <a:avLst/>
          </a:prstGeom>
          <a:solidFill>
            <a:srgbClr val="EFE7DA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7" name="C"/>
          <p:cNvSpPr/>
          <p:nvPr/>
        </p:nvSpPr>
        <p:spPr>
          <a:xfrm>
            <a:off x="6993200" y="3399200"/>
            <a:ext cx="501600" cy="501600"/>
          </a:xfrm>
          <a:prstGeom prst="ellipse">
            <a:avLst/>
          </a:prstGeom>
          <a:solidFill>
            <a:srgbClr val="DDD0B8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8" name="C"/>
          <p:cNvSpPr/>
          <p:nvPr/>
        </p:nvSpPr>
        <p:spPr>
          <a:xfrm>
            <a:off x="7118600" y="3524600"/>
            <a:ext cx="250800" cy="250800"/>
          </a:xfrm>
          <a:prstGeom prst="ellipse">
            <a:avLst/>
          </a:prstGeom>
          <a:solidFill>
            <a:srgbClr val="D98E45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39" name="C"/>
          <p:cNvSpPr/>
          <p:nvPr/>
        </p:nvSpPr>
        <p:spPr>
          <a:xfrm>
            <a:off x="1820824" y="3724286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0" name="C"/>
          <p:cNvSpPr/>
          <p:nvPr/>
        </p:nvSpPr>
        <p:spPr>
          <a:xfrm>
            <a:off x="1826781" y="3558987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" name="C"/>
          <p:cNvSpPr/>
          <p:nvPr/>
        </p:nvSpPr>
        <p:spPr>
          <a:xfrm>
            <a:off x="1685997" y="3579340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2" name="C"/>
          <p:cNvSpPr/>
          <p:nvPr/>
        </p:nvSpPr>
        <p:spPr>
          <a:xfrm>
            <a:off x="2094383" y="3706829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" name="C"/>
          <p:cNvSpPr/>
          <p:nvPr/>
        </p:nvSpPr>
        <p:spPr>
          <a:xfrm>
            <a:off x="2079375" y="3671780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4" name="C"/>
          <p:cNvSpPr/>
          <p:nvPr/>
        </p:nvSpPr>
        <p:spPr>
          <a:xfrm>
            <a:off x="1950953" y="3659065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5" name="C"/>
          <p:cNvSpPr/>
          <p:nvPr/>
        </p:nvSpPr>
        <p:spPr>
          <a:xfrm>
            <a:off x="4444037" y="3673315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6" name="C"/>
          <p:cNvSpPr/>
          <p:nvPr/>
        </p:nvSpPr>
        <p:spPr>
          <a:xfrm>
            <a:off x="4574383" y="3651929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7" name="C"/>
          <p:cNvSpPr/>
          <p:nvPr/>
        </p:nvSpPr>
        <p:spPr>
          <a:xfrm>
            <a:off x="4442519" y="3517367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8" name="C"/>
          <p:cNvSpPr/>
          <p:nvPr/>
        </p:nvSpPr>
        <p:spPr>
          <a:xfrm>
            <a:off x="4490624" y="3593909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9" name="C"/>
          <p:cNvSpPr/>
          <p:nvPr/>
        </p:nvSpPr>
        <p:spPr>
          <a:xfrm>
            <a:off x="4562326" y="3619246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0" name="C"/>
          <p:cNvSpPr/>
          <p:nvPr/>
        </p:nvSpPr>
        <p:spPr>
          <a:xfrm>
            <a:off x="4575258" y="3583466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1" name="C"/>
          <p:cNvSpPr/>
          <p:nvPr/>
        </p:nvSpPr>
        <p:spPr>
          <a:xfrm>
            <a:off x="7454522" y="3495650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2" name="C"/>
          <p:cNvSpPr/>
          <p:nvPr/>
        </p:nvSpPr>
        <p:spPr>
          <a:xfrm>
            <a:off x="7396331" y="3575052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3" name="C"/>
          <p:cNvSpPr/>
          <p:nvPr/>
        </p:nvSpPr>
        <p:spPr>
          <a:xfrm>
            <a:off x="7469396" y="3543821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4" name="C"/>
          <p:cNvSpPr/>
          <p:nvPr/>
        </p:nvSpPr>
        <p:spPr>
          <a:xfrm>
            <a:off x="7398780" y="3427630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5" name="C"/>
          <p:cNvSpPr/>
          <p:nvPr/>
        </p:nvSpPr>
        <p:spPr>
          <a:xfrm>
            <a:off x="7415357" y="3465615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6" name="C"/>
          <p:cNvSpPr/>
          <p:nvPr/>
        </p:nvSpPr>
        <p:spPr>
          <a:xfrm>
            <a:off x="7473924" y="3486906"/>
            <a:ext cx="56000" cy="56000"/>
          </a:xfrm>
          <a:prstGeom prst="ellipse">
            <a:avLst/>
          </a:prstGeom>
          <a:solidFill>
            <a:srgbClr val="1F3A4D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7" name="T"/>
          <p:cNvSpPr txBox="1"/>
          <p:nvPr/>
        </p:nvSpPr>
        <p:spPr>
          <a:xfrm>
            <a:off x="1000000" y="4110000"/>
            <a:ext cx="18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1050" b="1" i="0">
                <a:solidFill>
                  <a:srgbClr val="1F3A4D"/>
                </a:solidFill>
                <a:latin typeface="Calibri"/>
              </a:rPr>
              <a:t>Voisin le plus proche</a:t>
            </a:r>
          </a:p>
        </p:txBody>
      </p:sp>
      <p:sp>
        <p:nvSpPr>
          <p:cNvPr id="58" name="T"/>
          <p:cNvSpPr txBox="1"/>
          <p:nvPr/>
        </p:nvSpPr>
        <p:spPr>
          <a:xfrm>
            <a:off x="1000000" y="4370000"/>
            <a:ext cx="1800000" cy="24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900" b="0" i="1">
                <a:solidFill>
                  <a:srgbClr val="555555"/>
                </a:solidFill>
                <a:latin typeface="Calibri"/>
              </a:rPr>
              <a:t>biais faible, variance élevée</a:t>
            </a:r>
          </a:p>
        </p:txBody>
      </p:sp>
      <p:sp>
        <p:nvSpPr>
          <p:cNvPr id="59" name="T"/>
          <p:cNvSpPr txBox="1"/>
          <p:nvPr/>
        </p:nvSpPr>
        <p:spPr>
          <a:xfrm>
            <a:off x="3672000" y="4110000"/>
            <a:ext cx="18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1050" b="1" i="0">
                <a:solidFill>
                  <a:srgbClr val="1F3A4D"/>
                </a:solidFill>
                <a:latin typeface="Calibri"/>
              </a:rPr>
              <a:t>Compromis</a:t>
            </a:r>
          </a:p>
        </p:txBody>
      </p:sp>
      <p:sp>
        <p:nvSpPr>
          <p:cNvPr id="60" name="T"/>
          <p:cNvSpPr txBox="1"/>
          <p:nvPr/>
        </p:nvSpPr>
        <p:spPr>
          <a:xfrm>
            <a:off x="3672000" y="4370000"/>
            <a:ext cx="1800000" cy="24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900" b="0" i="1">
                <a:solidFill>
                  <a:srgbClr val="555555"/>
                </a:solidFill>
                <a:latin typeface="Calibri"/>
              </a:rPr>
              <a:t>biais et variance maîtrisés</a:t>
            </a:r>
          </a:p>
        </p:txBody>
      </p:sp>
      <p:sp>
        <p:nvSpPr>
          <p:cNvPr id="61" name="T"/>
          <p:cNvSpPr txBox="1"/>
          <p:nvPr/>
        </p:nvSpPr>
        <p:spPr>
          <a:xfrm>
            <a:off x="6344000" y="4110000"/>
            <a:ext cx="1800000" cy="28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1050" b="1" i="0">
                <a:solidFill>
                  <a:srgbClr val="1F3A4D"/>
                </a:solidFill>
                <a:latin typeface="Calibri"/>
              </a:rPr>
              <a:t>Appariement par noyau</a:t>
            </a:r>
          </a:p>
        </p:txBody>
      </p:sp>
      <p:sp>
        <p:nvSpPr>
          <p:cNvPr id="62" name="T"/>
          <p:cNvSpPr txBox="1"/>
          <p:nvPr/>
        </p:nvSpPr>
        <p:spPr>
          <a:xfrm>
            <a:off x="6344000" y="4370000"/>
            <a:ext cx="1800000" cy="24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900" b="0" i="1">
                <a:solidFill>
                  <a:srgbClr val="555555"/>
                </a:solidFill>
                <a:latin typeface="Calibri"/>
              </a:rPr>
              <a:t>variance faible, biais possible</a:t>
            </a:r>
          </a:p>
        </p:txBody>
      </p:sp>
      <p:sp>
        <p:nvSpPr>
          <p:cNvPr id="63" name="T"/>
          <p:cNvSpPr txBox="1"/>
          <p:nvPr/>
        </p:nvSpPr>
        <p:spPr>
          <a:xfrm>
            <a:off x="400000" y="4720000"/>
            <a:ext cx="8344000" cy="260000"/>
          </a:xfrm>
          <a:prstGeom prst="rect">
            <a:avLst/>
          </a:prstGeom>
          <a:noFill/>
        </p:spPr>
        <p:txBody>
          <a:bodyPr wrap="square" lIns="36000" tIns="18000" rIns="36000" bIns="18000" anchor="t"/>
          <a:lstStyle/>
          <a:p>
            <a:pPr algn="ctr">
              <a:buNone/>
            </a:pPr>
            <a:r>
              <a:rPr lang="fr-FR" sz="1000" b="0" i="1">
                <a:solidFill>
                  <a:srgbClr val="444444"/>
                </a:solidFill>
                <a:latin typeface="Calibri"/>
              </a:rPr>
              <a:t>En pratique : tester la sensibilité des résultats au choix de la méthode.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D99D4A7-1D1E-9014-84C6-9696BFA8B5B5}"/>
              </a:ext>
            </a:extLst>
          </p:cNvPr>
          <p:cNvGrpSpPr/>
          <p:nvPr/>
        </p:nvGrpSpPr>
        <p:grpSpPr>
          <a:xfrm>
            <a:off x="8399145" y="180000"/>
            <a:ext cx="296620" cy="603000"/>
            <a:chOff x="3380965" y="180000"/>
            <a:chExt cx="1343435" cy="1500000"/>
          </a:xfrm>
        </p:grpSpPr>
        <p:sp>
          <p:nvSpPr>
            <p:cNvPr id="3" name="Outline triangle - haut">
              <a:extLst>
                <a:ext uri="{FF2B5EF4-FFF2-40B4-BE49-F238E27FC236}">
                  <a16:creationId xmlns:a16="http://schemas.microsoft.com/office/drawing/2014/main" id="{402F48C8-F5D4-9C6A-7F94-E700B6DCBE80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Outline triangle - milieu">
              <a:extLst>
                <a:ext uri="{FF2B5EF4-FFF2-40B4-BE49-F238E27FC236}">
                  <a16:creationId xmlns:a16="http://schemas.microsoft.com/office/drawing/2014/main" id="{11161F3A-F1B6-72D9-CF2F-AD01E96F46D7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5" name="Outline triangle - bas">
              <a:extLst>
                <a:ext uri="{FF2B5EF4-FFF2-40B4-BE49-F238E27FC236}">
                  <a16:creationId xmlns:a16="http://schemas.microsoft.com/office/drawing/2014/main" id="{1FB5F721-E3C9-3BA2-AA75-015846758DCA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rgbClr val="E6EEF6"/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2D5B44A-0DEC-B503-5FBF-99D7C1245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Propensity</a:t>
            </a:r>
            <a:r>
              <a:rPr lang="de-DE" dirty="0"/>
              <a:t> Score </a:t>
            </a:r>
            <a:r>
              <a:rPr lang="de-DE" dirty="0" err="1"/>
              <a:t>Matching</a:t>
            </a:r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E20E38-9844-F9ED-B104-76B9B657B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34AA79A3-0F49-9DFE-27B3-ADDB41D38B64}"/>
              </a:ext>
            </a:extLst>
          </p:cNvPr>
          <p:cNvGrpSpPr/>
          <p:nvPr/>
        </p:nvGrpSpPr>
        <p:grpSpPr>
          <a:xfrm>
            <a:off x="7352330" y="180000"/>
            <a:ext cx="1343435" cy="1500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853FEAB8-FB52-29B1-B412-3EC3E25ECEFC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215CE3EE-54DA-9B72-56EB-544C05373F1B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495D5661-D34C-14C2-7D0F-4B8E9266DC89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424859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Curse of dimensionality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Le matching exact est </a:t>
                </a:r>
                <a:r>
                  <a:rPr dirty="0" err="1"/>
                  <a:t>souvent</a:t>
                </a:r>
                <a:r>
                  <a:rPr dirty="0"/>
                  <a:t> </a:t>
                </a:r>
                <a:r>
                  <a:rPr dirty="0" err="1"/>
                  <a:t>compliqué</a:t>
                </a:r>
                <a:r>
                  <a:rPr dirty="0"/>
                  <a:t> à </a:t>
                </a:r>
                <a:r>
                  <a:rPr dirty="0" err="1"/>
                  <a:t>mettre</a:t>
                </a:r>
                <a:r>
                  <a:rPr dirty="0"/>
                  <a:t> </a:t>
                </a:r>
                <a:r>
                  <a:rPr dirty="0" err="1"/>
                  <a:t>en</a:t>
                </a:r>
                <a:r>
                  <a:rPr dirty="0"/>
                  <a:t> </a:t>
                </a:r>
                <a:r>
                  <a:rPr dirty="0" err="1"/>
                  <a:t>œuvre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dirty="0"/>
                  <a:t>Pour </a:t>
                </a:r>
                <a:r>
                  <a:rPr dirty="0" err="1"/>
                  <a:t>que</a:t>
                </a:r>
                <a:r>
                  <a:rPr dirty="0"/>
                  <a:t> </a:t>
                </a:r>
                <a:r>
                  <a:rPr dirty="0" err="1"/>
                  <a:t>l’hypothèse</a:t>
                </a:r>
                <a:r>
                  <a:rPr dirty="0"/>
                  <a:t> CIA soit </a:t>
                </a:r>
                <a:r>
                  <a:rPr dirty="0" err="1"/>
                  <a:t>vérifiée</a:t>
                </a:r>
                <a:r>
                  <a:rPr dirty="0"/>
                  <a:t>, on </a:t>
                </a:r>
                <a:r>
                  <a:rPr dirty="0" err="1"/>
                  <a:t>souhaite</a:t>
                </a:r>
                <a:r>
                  <a:rPr dirty="0"/>
                  <a:t> </a:t>
                </a:r>
                <a:r>
                  <a:rPr dirty="0" err="1"/>
                  <a:t>utiliser</a:t>
                </a:r>
                <a:r>
                  <a:rPr dirty="0"/>
                  <a:t> le maximum </a:t>
                </a:r>
                <a:r>
                  <a:rPr dirty="0" err="1"/>
                  <a:t>d’information</a:t>
                </a:r>
                <a:r>
                  <a:rPr dirty="0"/>
                  <a:t> et </a:t>
                </a:r>
                <a:r>
                  <a:rPr dirty="0" err="1"/>
                  <a:t>donc</a:t>
                </a:r>
                <a:r>
                  <a:rPr dirty="0"/>
                  <a:t> </a:t>
                </a:r>
                <a:r>
                  <a:rPr dirty="0" err="1"/>
                  <a:t>apparier</a:t>
                </a:r>
                <a:r>
                  <a:rPr dirty="0"/>
                  <a:t> sur de très </a:t>
                </a:r>
                <a:r>
                  <a:rPr dirty="0" err="1"/>
                  <a:t>nombreuses</a:t>
                </a:r>
                <a:r>
                  <a:rPr dirty="0"/>
                  <a:t> variables. Mais plus on </a:t>
                </a:r>
                <a:r>
                  <a:rPr dirty="0" err="1"/>
                  <a:t>intègre</a:t>
                </a:r>
                <a:r>
                  <a:rPr dirty="0"/>
                  <a:t> des variables, plus il </a:t>
                </a:r>
                <a:r>
                  <a:rPr dirty="0" err="1"/>
                  <a:t>s’avérera</a:t>
                </a:r>
                <a:r>
                  <a:rPr dirty="0"/>
                  <a:t> difficile de </a:t>
                </a:r>
                <a:r>
                  <a:rPr dirty="0" err="1"/>
                  <a:t>trouver</a:t>
                </a:r>
                <a:r>
                  <a:rPr dirty="0"/>
                  <a:t> un </a:t>
                </a:r>
                <a:r>
                  <a:rPr dirty="0" err="1"/>
                  <a:t>voisin</a:t>
                </a:r>
                <a:r>
                  <a:rPr dirty="0"/>
                  <a:t> </a:t>
                </a:r>
                <a:r>
                  <a:rPr dirty="0" err="1"/>
                  <a:t>proche</a:t>
                </a:r>
                <a:r>
                  <a:rPr dirty="0"/>
                  <a:t>.</a:t>
                </a:r>
              </a:p>
              <a:p>
                <a:pPr marL="0" lvl="0" indent="0">
                  <a:buNone/>
                </a:pPr>
                <a:r>
                  <a:rPr dirty="0"/>
                  <a:t>À distance </a:t>
                </a:r>
                <a:r>
                  <a:rPr dirty="0" err="1"/>
                  <a:t>finie</a:t>
                </a:r>
                <a:r>
                  <a:rPr dirty="0"/>
                  <a:t>, les </a:t>
                </a:r>
                <a:r>
                  <a:rPr dirty="0" err="1"/>
                  <a:t>estimateurs</a:t>
                </a:r>
                <a:r>
                  <a:rPr dirty="0"/>
                  <a:t> </a:t>
                </a:r>
                <a:r>
                  <a:rPr dirty="0" err="1"/>
                  <a:t>sont</a:t>
                </a:r>
                <a:r>
                  <a:rPr dirty="0"/>
                  <a:t> </a:t>
                </a:r>
                <a:r>
                  <a:rPr dirty="0" err="1"/>
                  <a:t>d’autant</a:t>
                </a:r>
                <a:r>
                  <a:rPr dirty="0"/>
                  <a:t> plus </a:t>
                </a:r>
                <a:r>
                  <a:rPr dirty="0" err="1"/>
                  <a:t>biaisés</a:t>
                </a:r>
                <a:r>
                  <a:rPr dirty="0"/>
                  <a:t> </a:t>
                </a:r>
                <a:r>
                  <a:rPr dirty="0" err="1"/>
                  <a:t>que</a:t>
                </a:r>
                <a:r>
                  <a:rPr dirty="0"/>
                  <a:t> le </a:t>
                </a:r>
                <a:r>
                  <a:rPr dirty="0" err="1"/>
                  <a:t>nombre</a:t>
                </a:r>
                <a:r>
                  <a:rPr dirty="0"/>
                  <a:t> de variables de </a:t>
                </a:r>
                <a:r>
                  <a:rPr dirty="0" err="1"/>
                  <a:t>conditionnement</a:t>
                </a:r>
                <a:r>
                  <a:rPr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dirty="0"/>
                  <a:t> est </a:t>
                </a:r>
                <a:r>
                  <a:rPr dirty="0" err="1"/>
                  <a:t>élevé</a:t>
                </a:r>
                <a:r>
                  <a:rPr dirty="0"/>
                  <a:t> (</a:t>
                </a:r>
                <a:r>
                  <a:rPr dirty="0" err="1"/>
                  <a:t>d’autant</a:t>
                </a:r>
                <a:r>
                  <a:rPr dirty="0"/>
                  <a:t> plus </a:t>
                </a:r>
                <a:r>
                  <a:rPr dirty="0" err="1"/>
                  <a:t>lorsque</a:t>
                </a:r>
                <a:r>
                  <a:rPr dirty="0"/>
                  <a:t> les variables de </a:t>
                </a:r>
                <a:r>
                  <a:rPr dirty="0" err="1"/>
                  <a:t>conditionnement</a:t>
                </a:r>
                <a:r>
                  <a:rPr dirty="0"/>
                  <a:t> </a:t>
                </a:r>
                <a:r>
                  <a:rPr dirty="0" err="1"/>
                  <a:t>sont</a:t>
                </a:r>
                <a:r>
                  <a:rPr dirty="0"/>
                  <a:t> continues).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dirty="0"/>
                  <a:t> </a:t>
                </a:r>
                <a:r>
                  <a:rPr dirty="0" err="1"/>
                  <a:t>L’appariement</a:t>
                </a:r>
                <a:r>
                  <a:rPr dirty="0"/>
                  <a:t> sur le score de propension (PSM) est </a:t>
                </a:r>
                <a:r>
                  <a:rPr dirty="0" err="1"/>
                  <a:t>pragmatique</a:t>
                </a:r>
                <a:r>
                  <a:rPr dirty="0"/>
                  <a:t> et </a:t>
                </a:r>
                <a:r>
                  <a:rPr dirty="0" err="1"/>
                  <a:t>désirable</a:t>
                </a:r>
                <a:r>
                  <a:rPr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ECE96E1-2AD7-4B18-64B2-AE1E077E71C4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B450E258-DDC8-63E0-745B-01514176C3B0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1A906793-5477-4162-277F-FD75BE86918E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1D4636B4-241D-53B0-15C3-4386BBB2B949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Score de propension : réduction de dimension</a:t>
            </a:r>
          </a:p>
        </p:txBody>
      </p:sp>
      <p:sp>
        <p:nvSpPr>
          <p:cNvPr id="10" name="Covariables header"/>
          <p:cNvSpPr txBox="1"/>
          <p:nvPr/>
        </p:nvSpPr>
        <p:spPr>
          <a:xfrm>
            <a:off x="457200" y="1250000"/>
            <a:ext cx="2100000" cy="3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500" b="1">
                <a:solidFill>
                  <a:srgbClr val="1E3A5F"/>
                </a:solidFill>
              </a:rPr>
              <a:t>Covariables multiples</a:t>
            </a:r>
          </a:p>
        </p:txBody>
      </p:sp>
      <p:sp>
        <p:nvSpPr>
          <p:cNvPr id="11" name="X1 box"/>
          <p:cNvSpPr/>
          <p:nvPr/>
        </p:nvSpPr>
        <p:spPr>
          <a:xfrm>
            <a:off x="457200" y="1700000"/>
            <a:ext cx="2100000" cy="30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F6CBD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fr-FR" sz="1400" b="1">
                <a:solidFill>
                  <a:srgbClr val="0F6CBD"/>
                </a:solidFill>
              </a:rPr>
              <a:t>X₁</a:t>
            </a:r>
          </a:p>
        </p:txBody>
      </p:sp>
      <p:sp>
        <p:nvSpPr>
          <p:cNvPr id="12" name="X2 box"/>
          <p:cNvSpPr/>
          <p:nvPr/>
        </p:nvSpPr>
        <p:spPr>
          <a:xfrm>
            <a:off x="457200" y="2060000"/>
            <a:ext cx="2100000" cy="30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F6CBD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fr-FR" sz="1400" b="1">
                <a:solidFill>
                  <a:srgbClr val="0F6CBD"/>
                </a:solidFill>
              </a:rPr>
              <a:t>X₂</a:t>
            </a:r>
          </a:p>
        </p:txBody>
      </p:sp>
      <p:sp>
        <p:nvSpPr>
          <p:cNvPr id="13" name="X3 box"/>
          <p:cNvSpPr/>
          <p:nvPr/>
        </p:nvSpPr>
        <p:spPr>
          <a:xfrm>
            <a:off x="457200" y="2420000"/>
            <a:ext cx="2100000" cy="30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F6CBD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fr-FR" sz="1400" b="1">
                <a:solidFill>
                  <a:srgbClr val="0F6CBD"/>
                </a:solidFill>
              </a:rPr>
              <a:t>X₃</a:t>
            </a:r>
          </a:p>
        </p:txBody>
      </p:sp>
      <p:sp>
        <p:nvSpPr>
          <p:cNvPr id="14" name="vdots"/>
          <p:cNvSpPr txBox="1"/>
          <p:nvPr/>
        </p:nvSpPr>
        <p:spPr>
          <a:xfrm>
            <a:off x="457200" y="2760000"/>
            <a:ext cx="2100000" cy="22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400" b="1">
                <a:solidFill>
                  <a:srgbClr val="1E3A5F"/>
                </a:solidFill>
              </a:rPr>
              <a:t>⋮</a:t>
            </a:r>
          </a:p>
        </p:txBody>
      </p:sp>
      <p:sp>
        <p:nvSpPr>
          <p:cNvPr id="15" name="Xk box"/>
          <p:cNvSpPr/>
          <p:nvPr/>
        </p:nvSpPr>
        <p:spPr>
          <a:xfrm>
            <a:off x="457200" y="3000000"/>
            <a:ext cx="2100000" cy="300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0F6CBD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fr-FR" sz="1400" b="1">
                <a:solidFill>
                  <a:srgbClr val="0F6CBD"/>
                </a:solidFill>
              </a:rPr>
              <a:t>Xₖ</a:t>
            </a:r>
          </a:p>
        </p:txBody>
      </p:sp>
      <p:sp>
        <p:nvSpPr>
          <p:cNvPr id="21" name="Arrow1 label"/>
          <p:cNvSpPr txBox="1"/>
          <p:nvPr/>
        </p:nvSpPr>
        <p:spPr>
          <a:xfrm>
            <a:off x="2527200" y="1640000"/>
            <a:ext cx="660000" cy="70000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fr-FR" sz="1000" b="1">
                <a:solidFill>
                  <a:srgbClr val="14A37F"/>
                </a:solidFill>
              </a:rPr>
              <a:t>Réduction de dimension</a:t>
            </a:r>
          </a:p>
        </p:txBody>
      </p:sp>
      <p:sp>
        <p:nvSpPr>
          <p:cNvPr id="20" name="Arrow1"/>
          <p:cNvSpPr/>
          <p:nvPr/>
        </p:nvSpPr>
        <p:spPr>
          <a:xfrm>
            <a:off x="2587200" y="2390000"/>
            <a:ext cx="540000" cy="220000"/>
          </a:xfrm>
          <a:prstGeom prst="rightArrow">
            <a:avLst/>
          </a:prstGeom>
          <a:solidFill>
            <a:srgbClr val="14A37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30" name="Score box"/>
          <p:cNvSpPr/>
          <p:nvPr/>
        </p:nvSpPr>
        <p:spPr>
          <a:xfrm>
            <a:off x="3157200" y="1900000"/>
            <a:ext cx="2700000" cy="1200000"/>
          </a:xfrm>
          <a:prstGeom prst="roundRect">
            <a:avLst>
              <a:gd name="adj" fmla="val 8000"/>
            </a:avLst>
          </a:prstGeom>
          <a:solidFill>
            <a:srgbClr val="0F6CBD"/>
          </a:solidFill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fr-FR" sz="1500" b="1">
                <a:solidFill>
                  <a:srgbClr val="FFFFFF"/>
                </a:solidFill>
              </a:rPr>
              <a:t>Score de propension</a:t>
            </a:r>
          </a:p>
          <a:p>
            <a:pPr algn="ctr">
              <a:buNone/>
            </a:pPr>
            <a:r>
              <a:rPr lang="fr-FR" sz="1500">
                <a:solidFill>
                  <a:srgbClr val="FFFFFF"/>
                </a:solidFill>
              </a:rPr>
              <a:t>π(X) = P(T=1 | X)</a:t>
            </a:r>
          </a:p>
          <a:p>
            <a:pPr algn="ctr">
              <a:buNone/>
            </a:pPr>
            <a:r>
              <a:rPr lang="fr-FR" sz="1150">
                <a:solidFill>
                  <a:srgbClr val="DCEAF7"/>
                </a:solidFill>
              </a:rPr>
              <a:t>0 &lt; π(X) &lt; 1  —  support commun</a:t>
            </a:r>
          </a:p>
        </p:txBody>
      </p:sp>
      <p:sp>
        <p:nvSpPr>
          <p:cNvPr id="41" name="Arrow2 label"/>
          <p:cNvSpPr txBox="1"/>
          <p:nvPr/>
        </p:nvSpPr>
        <p:spPr>
          <a:xfrm>
            <a:off x="5827200" y="1640000"/>
            <a:ext cx="660000" cy="700000"/>
          </a:xfrm>
          <a:prstGeom prst="rect">
            <a:avLst/>
          </a:prstGeom>
        </p:spPr>
        <p:txBody>
          <a:bodyPr wrap="square" lIns="0" tIns="0" rIns="0" bIns="0" anchor="b"/>
          <a:lstStyle/>
          <a:p>
            <a:pPr algn="ctr">
              <a:buNone/>
            </a:pPr>
            <a:r>
              <a:rPr lang="fr-FR" sz="800" b="1">
                <a:solidFill>
                  <a:srgbClr val="14A37F"/>
                </a:solidFill>
              </a:rPr>
              <a:t>Appariement</a:t>
            </a:r>
          </a:p>
        </p:txBody>
      </p:sp>
      <p:sp>
        <p:nvSpPr>
          <p:cNvPr id="40" name="Arrow2"/>
          <p:cNvSpPr/>
          <p:nvPr/>
        </p:nvSpPr>
        <p:spPr>
          <a:xfrm>
            <a:off x="5887200" y="2390000"/>
            <a:ext cx="540000" cy="220000"/>
          </a:xfrm>
          <a:prstGeom prst="rightArrow">
            <a:avLst/>
          </a:prstGeom>
          <a:solidFill>
            <a:srgbClr val="14A37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50" name="Stage3 header"/>
          <p:cNvSpPr txBox="1"/>
          <p:nvPr/>
        </p:nvSpPr>
        <p:spPr>
          <a:xfrm>
            <a:off x="6457200" y="1250000"/>
            <a:ext cx="2100000" cy="30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500" b="1">
                <a:solidFill>
                  <a:srgbClr val="1E3A5F"/>
                </a:solidFill>
              </a:rPr>
              <a:t>Comparaison appariée</a:t>
            </a:r>
          </a:p>
        </p:txBody>
      </p:sp>
      <p:sp>
        <p:nvSpPr>
          <p:cNvPr id="51" name="Traites label"/>
          <p:cNvSpPr txBox="1"/>
          <p:nvPr/>
        </p:nvSpPr>
        <p:spPr>
          <a:xfrm>
            <a:off x="6430000" y="1720000"/>
            <a:ext cx="800000" cy="26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100" b="1">
                <a:solidFill>
                  <a:srgbClr val="0F6CBD"/>
                </a:solidFill>
              </a:rPr>
              <a:t>Traités</a:t>
            </a:r>
          </a:p>
        </p:txBody>
      </p:sp>
      <p:sp>
        <p:nvSpPr>
          <p:cNvPr id="52" name="Non traites label"/>
          <p:cNvSpPr txBox="1"/>
          <p:nvPr/>
        </p:nvSpPr>
        <p:spPr>
          <a:xfrm>
            <a:off x="7530000" y="1720000"/>
            <a:ext cx="1000000" cy="26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100" b="1">
                <a:solidFill>
                  <a:srgbClr val="14A37F"/>
                </a:solidFill>
              </a:rPr>
              <a:t>Non traités</a:t>
            </a:r>
          </a:p>
        </p:txBody>
      </p:sp>
      <p:cxnSp>
        <p:nvCxnSpPr>
          <p:cNvPr id="60" name="conn1"/>
          <p:cNvCxnSpPr/>
          <p:nvPr/>
        </p:nvCxnSpPr>
        <p:spPr>
          <a:xfrm>
            <a:off x="6960000" y="2230000"/>
            <a:ext cx="940000" cy="0"/>
          </a:xfrm>
          <a:prstGeom prst="line">
            <a:avLst/>
          </a:prstGeom>
          <a:ln w="15875">
            <a:solidFill>
              <a:srgbClr val="1E3A5F"/>
            </a:solidFill>
            <a:prstDash val="dash"/>
          </a:ln>
        </p:spPr>
      </p:cxnSp>
      <p:cxnSp>
        <p:nvCxnSpPr>
          <p:cNvPr id="61" name="conn2"/>
          <p:cNvCxnSpPr/>
          <p:nvPr/>
        </p:nvCxnSpPr>
        <p:spPr>
          <a:xfrm>
            <a:off x="6960000" y="2600000"/>
            <a:ext cx="940000" cy="0"/>
          </a:xfrm>
          <a:prstGeom prst="line">
            <a:avLst/>
          </a:prstGeom>
          <a:ln w="15875">
            <a:solidFill>
              <a:srgbClr val="1E3A5F"/>
            </a:solidFill>
            <a:prstDash val="dash"/>
          </a:ln>
        </p:spPr>
      </p:cxnSp>
      <p:cxnSp>
        <p:nvCxnSpPr>
          <p:cNvPr id="62" name="conn3"/>
          <p:cNvCxnSpPr/>
          <p:nvPr/>
        </p:nvCxnSpPr>
        <p:spPr>
          <a:xfrm>
            <a:off x="6960000" y="2970000"/>
            <a:ext cx="940000" cy="0"/>
          </a:xfrm>
          <a:prstGeom prst="line">
            <a:avLst/>
          </a:prstGeom>
          <a:ln w="15875">
            <a:solidFill>
              <a:srgbClr val="1E3A5F"/>
            </a:solidFill>
            <a:prstDash val="dash"/>
          </a:ln>
        </p:spPr>
      </p:cxnSp>
      <p:sp>
        <p:nvSpPr>
          <p:cNvPr id="53" name="t1"/>
          <p:cNvSpPr/>
          <p:nvPr/>
        </p:nvSpPr>
        <p:spPr>
          <a:xfrm>
            <a:off x="6700000" y="2100000"/>
            <a:ext cx="260000" cy="2600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54" name="t2"/>
          <p:cNvSpPr/>
          <p:nvPr/>
        </p:nvSpPr>
        <p:spPr>
          <a:xfrm>
            <a:off x="6700000" y="2470000"/>
            <a:ext cx="260000" cy="2600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55" name="t3"/>
          <p:cNvSpPr/>
          <p:nvPr/>
        </p:nvSpPr>
        <p:spPr>
          <a:xfrm>
            <a:off x="6700000" y="2840000"/>
            <a:ext cx="260000" cy="260000"/>
          </a:xfrm>
          <a:prstGeom prst="ellipse">
            <a:avLst/>
          </a:prstGeom>
          <a:solidFill>
            <a:srgbClr val="0F6CBD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56" name="c1"/>
          <p:cNvSpPr/>
          <p:nvPr/>
        </p:nvSpPr>
        <p:spPr>
          <a:xfrm>
            <a:off x="7900000" y="2100000"/>
            <a:ext cx="260000" cy="260000"/>
          </a:xfrm>
          <a:prstGeom prst="ellipse">
            <a:avLst/>
          </a:prstGeom>
          <a:solidFill>
            <a:srgbClr val="14A37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57" name="c2"/>
          <p:cNvSpPr/>
          <p:nvPr/>
        </p:nvSpPr>
        <p:spPr>
          <a:xfrm>
            <a:off x="7900000" y="2470000"/>
            <a:ext cx="260000" cy="260000"/>
          </a:xfrm>
          <a:prstGeom prst="ellipse">
            <a:avLst/>
          </a:prstGeom>
          <a:solidFill>
            <a:srgbClr val="14A37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58" name="c3"/>
          <p:cNvSpPr/>
          <p:nvPr/>
        </p:nvSpPr>
        <p:spPr>
          <a:xfrm>
            <a:off x="7900000" y="2840000"/>
            <a:ext cx="260000" cy="260000"/>
          </a:xfrm>
          <a:prstGeom prst="ellipse">
            <a:avLst/>
          </a:prstGeom>
          <a:solidFill>
            <a:srgbClr val="14A37F"/>
          </a:solidFill>
          <a:ln>
            <a:noFill/>
          </a:ln>
        </p:spPr>
        <p:txBody>
          <a:bodyPr/>
          <a:lstStyle/>
          <a:p>
            <a:pPr>
              <a:buNone/>
            </a:pPr>
            <a:endParaRPr lang="fr-FR"/>
          </a:p>
        </p:txBody>
      </p:sp>
      <p:sp>
        <p:nvSpPr>
          <p:cNvPr id="63" name="meme score note"/>
          <p:cNvSpPr txBox="1"/>
          <p:nvPr/>
        </p:nvSpPr>
        <p:spPr>
          <a:xfrm>
            <a:off x="6457200" y="3180000"/>
            <a:ext cx="2100000" cy="260000"/>
          </a:xfrm>
          <a:prstGeom prst="rect">
            <a:avLst/>
          </a:prstGeom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fr-FR" sz="1050" i="1">
                <a:solidFill>
                  <a:srgbClr val="1E3A5F"/>
                </a:solidFill>
              </a:rPr>
              <a:t>appariés sur le même π(X)</a:t>
            </a:r>
          </a:p>
        </p:txBody>
      </p:sp>
      <p:sp>
        <p:nvSpPr>
          <p:cNvPr id="70" name="CIA banner"/>
          <p:cNvSpPr/>
          <p:nvPr/>
        </p:nvSpPr>
        <p:spPr>
          <a:xfrm>
            <a:off x="457200" y="3760000"/>
            <a:ext cx="8229600" cy="97000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0F6CBD"/>
            </a:solidFill>
          </a:ln>
        </p:spPr>
        <p:txBody>
          <a:bodyPr wrap="square" lIns="137160" tIns="45720" rIns="137160" bIns="45720" anchor="ctr"/>
          <a:lstStyle/>
          <a:p>
            <a:pPr algn="ctr">
              <a:buNone/>
            </a:pPr>
            <a:r>
              <a:rPr lang="fr-FR" sz="1600" b="1" dirty="0">
                <a:solidFill>
                  <a:srgbClr val="1E3A5F"/>
                </a:solidFill>
              </a:rPr>
              <a:t>Hypothèse CIA (Rosenbaum &amp; Rubin, 1983) : </a:t>
            </a:r>
            <a:r>
              <a:rPr lang="fr-FR" sz="1600" dirty="0">
                <a:solidFill>
                  <a:srgbClr val="1E3A5F"/>
                </a:solidFill>
              </a:rPr>
              <a:t>conditionnellement au score, </a:t>
            </a:r>
          </a:p>
          <a:p>
            <a:pPr algn="ctr">
              <a:buNone/>
            </a:pPr>
            <a:r>
              <a:rPr lang="fr-FR" sz="1600" dirty="0">
                <a:solidFill>
                  <a:srgbClr val="1E3A5F"/>
                </a:solidFill>
              </a:rPr>
              <a:t>(Y(0), Y(1)) ⟂ T | π(X)</a:t>
            </a:r>
          </a:p>
          <a:p>
            <a:pPr algn="ctr">
              <a:buNone/>
            </a:pPr>
            <a:r>
              <a:rPr lang="fr-FR" sz="1600" dirty="0">
                <a:solidFill>
                  <a:srgbClr val="1E3A5F"/>
                </a:solidFill>
              </a:rPr>
              <a:t>Remarque: (𝑌(0),𝑌(1))⟂𝑇∣𝑋⇒(𝑌(0),𝑌(1))⟂𝑇∣𝜋(𝑋_𝑖) diminue le nombre de dimensions / résumé univarié de l’ensemble des </a:t>
            </a:r>
            <a:r>
              <a:rPr lang="fr-FR" sz="1600" dirty="0" err="1">
                <a:solidFill>
                  <a:srgbClr val="1E3A5F"/>
                </a:solidFill>
              </a:rPr>
              <a:t>covariables</a:t>
            </a:r>
            <a:r>
              <a:rPr lang="fr-FR" sz="1600" dirty="0">
                <a:solidFill>
                  <a:srgbClr val="1E3A5F"/>
                </a:solidFill>
              </a:rPr>
              <a:t>.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6D633DF5-C2A2-50FB-478E-6CF57E0174BF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4" name="Outline triangle - haut">
              <a:extLst>
                <a:ext uri="{FF2B5EF4-FFF2-40B4-BE49-F238E27FC236}">
                  <a16:creationId xmlns:a16="http://schemas.microsoft.com/office/drawing/2014/main" id="{5DC3E34D-53BC-68DC-8AF7-8A3C8C3A835E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5" name="Outline triangle - milieu">
              <a:extLst>
                <a:ext uri="{FF2B5EF4-FFF2-40B4-BE49-F238E27FC236}">
                  <a16:creationId xmlns:a16="http://schemas.microsoft.com/office/drawing/2014/main" id="{68AD5D7D-A79F-DC2A-1234-B22A7D73CC3E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6" name="Outline triangle - bas">
              <a:extLst>
                <a:ext uri="{FF2B5EF4-FFF2-40B4-BE49-F238E27FC236}">
                  <a16:creationId xmlns:a16="http://schemas.microsoft.com/office/drawing/2014/main" id="{9FD43E47-2987-86E6-AE8E-0922ED398025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8229600" cy="0"/>
          </a:xfrm>
          <a:prstGeom prst="line">
            <a:avLst/>
          </a:prstGeom>
          <a:noFill/>
          <a:ln w="9525">
            <a:solidFill>
              <a:srgbClr val="1031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457200" y="4828032"/>
            <a:ext cx="8229600" cy="0"/>
          </a:xfrm>
          <a:prstGeom prst="line">
            <a:avLst/>
          </a:prstGeom>
          <a:noFill/>
          <a:ln w="6350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457200" y="3657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0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Appariement par </a:t>
            </a:r>
            <a:r>
              <a:rPr lang="en-US" sz="900" b="1" kern="0" spc="4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</a:t>
            </a:r>
            <a:r>
              <a:rPr lang="en-US" sz="900" b="1" kern="0" spc="40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Propension </a:t>
            </a:r>
            <a:r>
              <a:rPr lang="en-US" sz="900" b="1" kern="0" spc="4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b="1" kern="0" spc="40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</a:t>
            </a:r>
            <a:r>
              <a:rPr lang="en-US" sz="900" b="1" kern="0" spc="400" dirty="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900" b="1" kern="0" spc="40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36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méthodologique académique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8737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737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</a:t>
            </a: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i="1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Hypothèses </a:t>
            </a: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900" i="1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B08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 · </a:t>
            </a:r>
            <a:r>
              <a:rPr lang="en-US" sz="1000" b="1" kern="0" spc="600">
                <a:solidFill>
                  <a:srgbClr val="B08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THÉORIE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score de propension</a:t>
            </a:r>
            <a:r>
              <a:rPr lang="en-US" sz="2800" b="1" dirty="0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(Rosenbaum &amp; Rubin, 1983)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548640" cy="0"/>
          </a:xfrm>
          <a:prstGeom prst="line">
            <a:avLst/>
          </a:prstGeom>
          <a:noFill/>
          <a:ln w="19050">
            <a:solidFill>
              <a:srgbClr val="B08D2E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Shape 9"/>
          <p:cNvSpPr/>
          <p:nvPr/>
        </p:nvSpPr>
        <p:spPr>
          <a:xfrm>
            <a:off x="457200" y="1600200"/>
            <a:ext cx="8229600" cy="1005840"/>
          </a:xfrm>
          <a:prstGeom prst="rect">
            <a:avLst/>
          </a:prstGeom>
          <a:solidFill>
            <a:srgbClr val="FAF7F1"/>
          </a:solidFill>
          <a:ln w="12700">
            <a:solidFill>
              <a:srgbClr val="1031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457200" y="1600200"/>
            <a:ext cx="54864" cy="1005840"/>
          </a:xfrm>
          <a:prstGeom prst="rect">
            <a:avLst/>
          </a:prstGeom>
          <a:solidFill>
            <a:srgbClr val="10314B"/>
          </a:solidFill>
          <a:ln w="12700">
            <a:solidFill>
              <a:srgbClr val="10314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8580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>
                <a:solidFill>
                  <a:srgbClr val="1031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685800" y="1938528"/>
                <a:ext cx="7772400" cy="4572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∣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938528"/>
                <a:ext cx="7772400" cy="457200"/>
              </a:xfrm>
              <a:prstGeom prst="rect">
                <a:avLst/>
              </a:prstGeom>
              <a:blipFill>
                <a:blip r:embed="rId3"/>
                <a:stretch>
                  <a:fillRect b="-2667"/>
                </a:stretch>
              </a:blipFill>
              <a:ln/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 13"/>
          <p:cNvSpPr/>
          <p:nvPr/>
        </p:nvSpPr>
        <p:spPr>
          <a:xfrm>
            <a:off x="685800" y="2286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Probabilité conditionnelle de recevoir le traitement</a:t>
            </a:r>
            <a:r>
              <a:rPr lang="en-US" sz="1100" i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</a:t>
            </a:r>
            <a:r>
              <a:rPr lang="en-US" sz="1100" i="1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étant donné le vecteur des covariables observées</a:t>
            </a:r>
            <a:r>
              <a:rPr lang="en-US" sz="1100" i="1" dirty="0">
                <a:solidFill>
                  <a:srgbClr val="5A6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X.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Propriété d'équilibrage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Conditionnellement au score de propension, les covariables observées sont équilibrées entre groupes traité et témoin </a:t>
            </a: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 X ⊥ T | e(X).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5488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031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Réduction de dimension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54880" y="31089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 lieu d'un conditionnement de haute dimension sur </a:t>
            </a: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115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il suffit de conditionner sur le score scalaire</a:t>
            </a: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e(X) — </a:t>
            </a:r>
            <a:r>
              <a:rPr lang="en-US" sz="115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l'innovation centrale de</a:t>
            </a:r>
            <a:r>
              <a:rPr lang="en-US" sz="11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Rosenbaum &amp; Rubin.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Rosenbaum, P. R. &amp; Rubin, D. B. (1983). The Central Role of the Propensity Score in Observational Studies for Causal Effects. Biometrika, 70(1), 41–55.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Estimation du score de propension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Pour </a:t>
                </a:r>
                <a:r>
                  <a:rPr dirty="0" err="1"/>
                  <a:t>tenir</a:t>
                </a:r>
                <a:r>
                  <a:rPr dirty="0"/>
                  <a:t> compte de la nature </a:t>
                </a:r>
                <a:r>
                  <a:rPr dirty="0" err="1"/>
                  <a:t>bornée</a:t>
                </a:r>
                <a:r>
                  <a:rPr dirty="0"/>
                  <a:t> du PSM, il est </a:t>
                </a:r>
                <a:r>
                  <a:rPr dirty="0" err="1"/>
                  <a:t>d’usage</a:t>
                </a:r>
                <a:r>
                  <a:rPr dirty="0"/>
                  <a:t> de le </a:t>
                </a:r>
                <a:r>
                  <a:rPr dirty="0" err="1"/>
                  <a:t>modéliser</a:t>
                </a:r>
                <a:r>
                  <a:rPr dirty="0"/>
                  <a:t> par </a:t>
                </a:r>
                <a:r>
                  <a:rPr dirty="0" err="1"/>
                  <a:t>une</a:t>
                </a:r>
                <a:r>
                  <a:rPr dirty="0"/>
                  <a:t> </a:t>
                </a:r>
                <a:r>
                  <a:rPr dirty="0" err="1"/>
                  <a:t>forme</a:t>
                </a:r>
                <a:r>
                  <a:rPr dirty="0"/>
                  <a:t> </a:t>
                </a:r>
                <a:r>
                  <a:rPr dirty="0" err="1"/>
                  <a:t>logistique</a:t>
                </a:r>
                <a:r>
                  <a:rPr dirty="0"/>
                  <a:t> (</a:t>
                </a:r>
                <a:r>
                  <a:rPr dirty="0" err="1"/>
                  <a:t>ou</a:t>
                </a:r>
                <a:r>
                  <a:rPr dirty="0"/>
                  <a:t> un probit) 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=1∣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  <a:p>
                <a:pPr marL="0" lvl="0" indent="0">
                  <a:buNone/>
                </a:pPr>
                <a:r>
                  <a:rPr dirty="0" err="1"/>
                  <a:t>Même</a:t>
                </a:r>
                <a:r>
                  <a:rPr dirty="0"/>
                  <a:t> </a:t>
                </a:r>
                <a:r>
                  <a:rPr dirty="0" err="1"/>
                  <a:t>s’il</a:t>
                </a:r>
                <a:r>
                  <a:rPr dirty="0"/>
                  <a:t> est </a:t>
                </a:r>
                <a:r>
                  <a:rPr dirty="0" err="1"/>
                  <a:t>coutume</a:t>
                </a:r>
                <a:r>
                  <a:rPr dirty="0"/>
                  <a:t> </a:t>
                </a:r>
                <a:r>
                  <a:rPr dirty="0" err="1"/>
                  <a:t>d’estimer</a:t>
                </a:r>
                <a:r>
                  <a:rPr dirty="0"/>
                  <a:t> le PSM par un </a:t>
                </a:r>
                <a:r>
                  <a:rPr dirty="0" err="1"/>
                  <a:t>modèle</a:t>
                </a:r>
                <a:r>
                  <a:rPr dirty="0"/>
                  <a:t> logit </a:t>
                </a:r>
                <a:r>
                  <a:rPr dirty="0" err="1"/>
                  <a:t>ou</a:t>
                </a:r>
                <a:r>
                  <a:rPr dirty="0"/>
                  <a:t> probit, il </a:t>
                </a:r>
                <a:r>
                  <a:rPr dirty="0" err="1"/>
                  <a:t>convient</a:t>
                </a:r>
                <a:r>
                  <a:rPr dirty="0"/>
                  <a:t> de se rappeler </a:t>
                </a:r>
                <a:r>
                  <a:rPr dirty="0" err="1"/>
                  <a:t>que</a:t>
                </a:r>
                <a:r>
                  <a:rPr dirty="0"/>
                  <a:t> la </a:t>
                </a:r>
                <a:r>
                  <a:rPr dirty="0" err="1"/>
                  <a:t>forme</a:t>
                </a:r>
                <a:r>
                  <a:rPr dirty="0"/>
                  <a:t> </a:t>
                </a:r>
                <a:r>
                  <a:rPr dirty="0" err="1"/>
                  <a:t>fonctionnelle</a:t>
                </a:r>
                <a:r>
                  <a:rPr dirty="0"/>
                  <a:t> du PSM est </a:t>
                </a:r>
                <a:r>
                  <a:rPr dirty="0" err="1"/>
                  <a:t>souvent</a:t>
                </a:r>
                <a:r>
                  <a:rPr dirty="0"/>
                  <a:t> inconnue.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A43881A-0B78-D8D7-5AA2-9F1A52A8A055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F91CF2AD-EE93-45B1-571A-D61A8540EA45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BD5DA6E6-0C7E-39E5-4995-9A4D2BB71AA2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5FC0C63F-9365-1C46-5215-942274FD69E8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Vérification du support commun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Les méthodes présentées sous l’hypothèse d’indépendance conditionnelle reposent sur l’hypothèse d’un support commun.</a:t>
                </a:r>
              </a:p>
              <a:p>
                <a:pPr marL="0" lvl="0" indent="0">
                  <a:buNone/>
                </a:pPr>
                <a:r>
                  <a:t>Celle-ci signifie qu’il existe à la fois des unités traitées et des non traitées ayant des valeurs des observables identiques, i.e. qui partagent le même PSM.</a:t>
                </a:r>
              </a:p>
              <a:p>
                <a:pPr marL="0" lvl="0" indent="0">
                  <a:buNone/>
                </a:pPr>
                <a:r>
                  <a:t>Si ce n’est pas le cas, il sera impossible de trouver pour chaque unité traitée des non traitées comparables.</a:t>
                </a:r>
              </a:p>
              <a:p>
                <a:pPr marL="0" lvl="0" indent="0">
                  <a:buNone/>
                </a:pP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t> Il est important de vérifier que le support commun est suffisamment large.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529D4ED-448E-A86D-D61B-514036558831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15BF0FE2-55A4-7ED4-98F0-BC95F676442D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C81ABA48-C7EE-5E7D-3DB8-FBE062F7B4E4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1FCB2FDA-7608-1C90-9F78-41B214EBF0E2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visuel du support commun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On peut représenter le support commun à partir de la distribution des scores de propension des unités traitées et non-traitées.</a:t>
                </a:r>
              </a:p>
              <a:p>
                <a:pPr marL="0" lvl="0" indent="0">
                  <a:buNone/>
                </a:pPr>
                <a:r>
                  <a:t>En pratique, on représente les histogrammes de probabilité estimée d’être traité pour les unités bénéficiaires et des non bénéficiaires du traitement étudié.</a:t>
                </a:r>
              </a:p>
              <a:p>
                <a:pPr marL="0" lvl="0" indent="0">
                  <a:buNone/>
                </a:pPr>
                <a:r>
                  <a:t>On peut ensuite vérifier l’étendue des valeurs de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𝜋</m:t>
                    </m:r>
                    <m:r>
                      <a:rPr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pour lesquelles on observe un nombre suffisant d’unités traitées et non-traitées, i.e. la largeur du support commun.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 r="-14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02BEF31-39FE-836E-4A29-C9E3DCB25765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20ACDB93-02AE-1492-1ED1-CD477C5E60F5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F1B306EE-679A-45E2-5CFB-57C1908134CD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3A346628-6CBE-18D3-792F-0A472B0CC84A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Test visuel du support commun</a:t>
            </a:r>
          </a:p>
        </p:txBody>
      </p:sp>
      <p:pic>
        <p:nvPicPr>
          <p:cNvPr id="3" name="Picture 1" descr="matching_files/figure-pptx/fig-exemple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Figure 1: Exemple de support commun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6DE25C6F-3236-165D-03EB-A2A2CEA95E72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6" name="Outline triangle - haut">
              <a:extLst>
                <a:ext uri="{FF2B5EF4-FFF2-40B4-BE49-F238E27FC236}">
                  <a16:creationId xmlns:a16="http://schemas.microsoft.com/office/drawing/2014/main" id="{CC67D492-0935-8D07-037B-A918D07A8303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Outline triangle - milieu">
              <a:extLst>
                <a:ext uri="{FF2B5EF4-FFF2-40B4-BE49-F238E27FC236}">
                  <a16:creationId xmlns:a16="http://schemas.microsoft.com/office/drawing/2014/main" id="{A83D19F3-1C08-D93C-1A71-CDA36AC39B73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" name="Outline triangle - bas">
              <a:extLst>
                <a:ext uri="{FF2B5EF4-FFF2-40B4-BE49-F238E27FC236}">
                  <a16:creationId xmlns:a16="http://schemas.microsoft.com/office/drawing/2014/main" id="{AE9749B9-D30B-4440-E784-56EF4F22E9D6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Enjeux liés au support commun</a:t>
            </a:r>
          </a:p>
        </p:txBody>
      </p:sp>
      <p:pic>
        <p:nvPicPr>
          <p:cNvPr id="3" name="Picture 1" descr="matching_files/figure-pptx/fig-enjeux-1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689100" y="1193800"/>
            <a:ext cx="5765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Figure 2: Exemple de support commun et validité externe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820F61AA-A80D-0EDB-1826-DE0AE38E0744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6" name="Outline triangle - haut">
              <a:extLst>
                <a:ext uri="{FF2B5EF4-FFF2-40B4-BE49-F238E27FC236}">
                  <a16:creationId xmlns:a16="http://schemas.microsoft.com/office/drawing/2014/main" id="{33B847AF-380D-0EBB-647B-14B67C867B4B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Outline triangle - milieu">
              <a:extLst>
                <a:ext uri="{FF2B5EF4-FFF2-40B4-BE49-F238E27FC236}">
                  <a16:creationId xmlns:a16="http://schemas.microsoft.com/office/drawing/2014/main" id="{385FA721-8AC1-9C3F-E7D5-88D07DC09FC8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8" name="Outline triangle - bas">
              <a:extLst>
                <a:ext uri="{FF2B5EF4-FFF2-40B4-BE49-F238E27FC236}">
                  <a16:creationId xmlns:a16="http://schemas.microsoft.com/office/drawing/2014/main" id="{BB9077FB-26C4-D1AB-D162-EC0E1FA652A2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Imposer un support commun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 dirty="0" err="1"/>
              <a:t>Méthode</a:t>
            </a:r>
            <a:r>
              <a:rPr b="1" dirty="0"/>
              <a:t> du min/max</a:t>
            </a:r>
          </a:p>
          <a:p>
            <a:pPr lvl="0"/>
            <a:r>
              <a:rPr dirty="0"/>
              <a:t>Pour </a:t>
            </a:r>
            <a:r>
              <a:rPr dirty="0" err="1"/>
              <a:t>estimer</a:t>
            </a:r>
            <a:r>
              <a:rPr dirty="0"/>
              <a:t> </a:t>
            </a:r>
            <a:r>
              <a:rPr dirty="0" err="1"/>
              <a:t>l’ATT</a:t>
            </a:r>
            <a:r>
              <a:rPr dirty="0"/>
              <a:t>, Dehejia et Wahba (1999) </a:t>
            </a:r>
            <a:r>
              <a:rPr dirty="0" err="1"/>
              <a:t>proposent</a:t>
            </a:r>
            <a:r>
              <a:rPr dirty="0"/>
              <a:t> </a:t>
            </a:r>
            <a:r>
              <a:rPr dirty="0" err="1"/>
              <a:t>d’éliminer</a:t>
            </a:r>
            <a:r>
              <a:rPr dirty="0"/>
              <a:t> :</a:t>
            </a:r>
          </a:p>
          <a:p>
            <a:pPr marL="685800" lvl="1" indent="-342900">
              <a:buAutoNum type="arabicPeriod"/>
            </a:pPr>
            <a:r>
              <a:rPr dirty="0"/>
              <a:t>les </a:t>
            </a:r>
            <a:r>
              <a:rPr dirty="0" err="1"/>
              <a:t>unités</a:t>
            </a:r>
            <a:r>
              <a:rPr dirty="0"/>
              <a:t> non </a:t>
            </a:r>
            <a:r>
              <a:rPr dirty="0" err="1"/>
              <a:t>traitées</a:t>
            </a:r>
            <a:r>
              <a:rPr dirty="0"/>
              <a:t> </a:t>
            </a:r>
            <a:r>
              <a:rPr dirty="0" err="1"/>
              <a:t>ayant</a:t>
            </a:r>
            <a:r>
              <a:rPr dirty="0"/>
              <a:t> un score </a:t>
            </a:r>
            <a:r>
              <a:rPr dirty="0" err="1"/>
              <a:t>inférieur</a:t>
            </a:r>
            <a:r>
              <a:rPr dirty="0"/>
              <a:t> au minimum </a:t>
            </a:r>
            <a:r>
              <a:rPr dirty="0" err="1"/>
              <a:t>observé</a:t>
            </a:r>
            <a:r>
              <a:rPr dirty="0"/>
              <a:t> sur les </a:t>
            </a:r>
            <a:r>
              <a:rPr dirty="0" err="1"/>
              <a:t>unités</a:t>
            </a:r>
            <a:r>
              <a:rPr dirty="0"/>
              <a:t> </a:t>
            </a:r>
            <a:r>
              <a:rPr dirty="0" err="1"/>
              <a:t>traitées</a:t>
            </a:r>
            <a:r>
              <a:rPr dirty="0"/>
              <a:t>, </a:t>
            </a:r>
            <a:r>
              <a:rPr dirty="0" err="1"/>
              <a:t>c.à.d</a:t>
            </a:r>
            <a:r>
              <a:rPr dirty="0"/>
              <a:t>. </a:t>
            </a:r>
            <a:r>
              <a:rPr i="1" dirty="0"/>
              <a:t>“Jamais </a:t>
            </a:r>
            <a:r>
              <a:rPr i="1" dirty="0" err="1"/>
              <a:t>traités</a:t>
            </a:r>
            <a:r>
              <a:rPr i="1" dirty="0"/>
              <a:t>”</a:t>
            </a:r>
          </a:p>
          <a:p>
            <a:pPr marL="685800" lvl="1" indent="-342900">
              <a:buAutoNum type="arabicPeriod"/>
            </a:pPr>
            <a:r>
              <a:rPr dirty="0"/>
              <a:t>les </a:t>
            </a:r>
            <a:r>
              <a:rPr dirty="0" err="1"/>
              <a:t>unités</a:t>
            </a:r>
            <a:r>
              <a:rPr dirty="0"/>
              <a:t> </a:t>
            </a:r>
            <a:r>
              <a:rPr dirty="0" err="1"/>
              <a:t>traitées</a:t>
            </a:r>
            <a:r>
              <a:rPr dirty="0"/>
              <a:t> </a:t>
            </a:r>
            <a:r>
              <a:rPr dirty="0" err="1"/>
              <a:t>ayant</a:t>
            </a:r>
            <a:r>
              <a:rPr dirty="0"/>
              <a:t> un score supérieur au maximum </a:t>
            </a:r>
            <a:r>
              <a:rPr dirty="0" err="1"/>
              <a:t>observé</a:t>
            </a:r>
            <a:r>
              <a:rPr dirty="0"/>
              <a:t> pour les </a:t>
            </a:r>
            <a:r>
              <a:rPr dirty="0" err="1"/>
              <a:t>unités</a:t>
            </a:r>
            <a:r>
              <a:rPr dirty="0"/>
              <a:t> non </a:t>
            </a:r>
            <a:r>
              <a:rPr dirty="0" err="1"/>
              <a:t>traitées</a:t>
            </a:r>
            <a:r>
              <a:rPr dirty="0"/>
              <a:t>, </a:t>
            </a:r>
            <a:r>
              <a:rPr dirty="0" err="1"/>
              <a:t>c.à.d</a:t>
            </a:r>
            <a:r>
              <a:rPr dirty="0"/>
              <a:t> </a:t>
            </a:r>
            <a:r>
              <a:rPr i="1" dirty="0"/>
              <a:t>“always treated”</a:t>
            </a:r>
          </a:p>
          <a:p>
            <a:pPr marL="0" lvl="0" indent="0">
              <a:buNone/>
            </a:pPr>
            <a:r>
              <a:rPr b="1" dirty="0"/>
              <a:t>Attention</a:t>
            </a:r>
            <a:r>
              <a:rPr dirty="0"/>
              <a:t> : Ce qui est </a:t>
            </a:r>
            <a:r>
              <a:rPr dirty="0" err="1"/>
              <a:t>alors</a:t>
            </a:r>
            <a:r>
              <a:rPr dirty="0"/>
              <a:t> </a:t>
            </a:r>
            <a:r>
              <a:rPr dirty="0" err="1"/>
              <a:t>estimé</a:t>
            </a:r>
            <a:r>
              <a:rPr dirty="0"/>
              <a:t>, </a:t>
            </a:r>
            <a:r>
              <a:rPr dirty="0" err="1"/>
              <a:t>ce</a:t>
            </a:r>
            <a:r>
              <a:rPr dirty="0"/>
              <a:t> </a:t>
            </a:r>
            <a:r>
              <a:rPr dirty="0" err="1"/>
              <a:t>n’est</a:t>
            </a:r>
            <a:r>
              <a:rPr dirty="0"/>
              <a:t> plus un </a:t>
            </a:r>
            <a:r>
              <a:rPr i="1" dirty="0"/>
              <a:t>ATE</a:t>
            </a:r>
            <a:r>
              <a:rPr dirty="0"/>
              <a:t> (average treatment effect),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même</a:t>
            </a:r>
            <a:r>
              <a:rPr dirty="0"/>
              <a:t> un </a:t>
            </a:r>
            <a:r>
              <a:rPr i="1" dirty="0"/>
              <a:t>ATT</a:t>
            </a:r>
            <a:r>
              <a:rPr dirty="0"/>
              <a:t> (average </a:t>
            </a:r>
            <a:r>
              <a:rPr dirty="0" err="1"/>
              <a:t>treatement</a:t>
            </a:r>
            <a:r>
              <a:rPr dirty="0"/>
              <a:t> effect on the treated) </a:t>
            </a:r>
            <a:r>
              <a:rPr dirty="0" err="1"/>
              <a:t>mais</a:t>
            </a:r>
            <a:r>
              <a:rPr dirty="0"/>
              <a:t> un </a:t>
            </a:r>
            <a:r>
              <a:rPr i="1" dirty="0"/>
              <a:t>ATM</a:t>
            </a:r>
            <a:r>
              <a:rPr dirty="0"/>
              <a:t> (average </a:t>
            </a:r>
            <a:r>
              <a:rPr dirty="0" err="1"/>
              <a:t>teatment</a:t>
            </a:r>
            <a:r>
              <a:rPr dirty="0"/>
              <a:t> effect on the matched observations)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4296726-97DD-1FE2-6452-DC9593B3C903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A6599698-F31A-E9C1-3FDC-BD1A3E9769E0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7826A849-8257-B9DD-BA3A-977E1CB2AD96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E49EF14C-79DF-AB5F-B2E3-CE21CBF56544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Quelles variables de conditionnement/contrôle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t>L’hypothèse d’indépendance conditionnelle demande d’observer les caractéristiques qui déterminent l’allocation du traitement.</a:t>
            </a:r>
          </a:p>
          <a:p>
            <a:pPr marL="0" lvl="0" indent="0">
              <a:buNone/>
            </a:pPr>
            <a:r>
              <a:t>En pratique, il doit s’agir de variables qui peuvent avoir un impact sur la variable d’intérêt (e.g. déforestation) et sur le choix de bénéficier du dispositif (e.g. Aire Protégée).</a:t>
            </a:r>
          </a:p>
          <a:p>
            <a:pPr marL="0" lvl="0" indent="0">
              <a:buNone/>
            </a:pPr>
            <a:r>
              <a:rPr b="1"/>
              <a:t>Deux points de vigilance :</a:t>
            </a:r>
            <a:r>
              <a:t> - Il ne faut pas utiliser de variables mesurées après la mise en place du dispositif et qui peuvent également affecter celui-ci → problème d’endogénéité - Il faut qu’il existe une part d’aléa ou d’exogénéité dans la sélection des unités traitées sinon il n’y a plus de support commun puisque la participation au programme est entièrement déterminée par des caractéristiques des unités.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378428B3-F962-6184-47C6-E1AC3E21835C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712937EE-BF30-4F3B-E660-DDC5181BFE43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C04E3262-EDCA-57FE-54FC-E3F1EEFDB721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07AFFF37-B54E-FA76-00F5-C458C516C1F5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Estimateur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t>L’effet moyen estimé sur les traités correspond à la moyenne de ces effets estimés 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(1)−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(0)|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=1]=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(1)−</m:t>
                              </m:r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(0)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/>
              </a:p>
              <a:p>
                <a:pPr marL="0" lvl="0" indent="0">
                  <a:buNone/>
                </a:pPr>
                <a:r>
                  <a:t>où :</a:t>
                </a:r>
                <a:br/>
                <a: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est le nombre d’unités traitées</a:t>
                </a:r>
                <a:br/>
                <a: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est l’ensemble des unités traitées</a:t>
                </a:r>
                <a:br/>
                <a: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t> le résultat observé de l’individu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br/>
                <a: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t> le résultat du plus proche voisin non traité de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41" t="-107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F705914-C416-EB66-411A-1BA9AD2A0CFD}"/>
              </a:ext>
            </a:extLst>
          </p:cNvPr>
          <p:cNvGrpSpPr/>
          <p:nvPr/>
        </p:nvGrpSpPr>
        <p:grpSpPr>
          <a:xfrm>
            <a:off x="8250521" y="180000"/>
            <a:ext cx="445244" cy="883000"/>
            <a:chOff x="3380965" y="180000"/>
            <a:chExt cx="1343435" cy="1500000"/>
          </a:xfrm>
        </p:grpSpPr>
        <p:sp>
          <p:nvSpPr>
            <p:cNvPr id="5" name="Outline triangle - haut">
              <a:extLst>
                <a:ext uri="{FF2B5EF4-FFF2-40B4-BE49-F238E27FC236}">
                  <a16:creationId xmlns:a16="http://schemas.microsoft.com/office/drawing/2014/main" id="{6FB3C8D5-A088-2412-8FDB-44E2F79C937C}"/>
                </a:ext>
              </a:extLst>
            </p:cNvPr>
            <p:cNvSpPr/>
            <p:nvPr/>
          </p:nvSpPr>
          <p:spPr>
            <a:xfrm>
              <a:off x="3380965" y="180000"/>
              <a:ext cx="1343435" cy="500000"/>
            </a:xfrm>
            <a:custGeom>
              <a:avLst/>
              <a:gdLst/>
              <a:ahLst/>
              <a:cxnLst/>
              <a:rect l="0" t="0" r="2400000" b="500000"/>
              <a:pathLst>
                <a:path w="2400000" h="500000">
                  <a:moveTo>
                    <a:pt x="0" y="0"/>
                  </a:moveTo>
                  <a:lnTo>
                    <a:pt x="2400000" y="0"/>
                  </a:lnTo>
                  <a:lnTo>
                    <a:pt x="20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" name="Outline triangle - milieu">
              <a:extLst>
                <a:ext uri="{FF2B5EF4-FFF2-40B4-BE49-F238E27FC236}">
                  <a16:creationId xmlns:a16="http://schemas.microsoft.com/office/drawing/2014/main" id="{CAEF5450-353D-5E94-D311-8423253B413C}"/>
                </a:ext>
              </a:extLst>
            </p:cNvPr>
            <p:cNvSpPr/>
            <p:nvPr/>
          </p:nvSpPr>
          <p:spPr>
            <a:xfrm>
              <a:off x="3601665" y="680000"/>
              <a:ext cx="895623" cy="500000"/>
            </a:xfrm>
            <a:custGeom>
              <a:avLst/>
              <a:gdLst/>
              <a:ahLst/>
              <a:cxnLst/>
              <a:rect l="0" t="0" r="1600000" b="500000"/>
              <a:pathLst>
                <a:path w="1600000" h="500000">
                  <a:moveTo>
                    <a:pt x="0" y="0"/>
                  </a:moveTo>
                  <a:lnTo>
                    <a:pt x="1600000" y="0"/>
                  </a:lnTo>
                  <a:lnTo>
                    <a:pt x="1200000" y="50000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 dirty="0"/>
            </a:p>
          </p:txBody>
        </p:sp>
        <p:sp>
          <p:nvSpPr>
            <p:cNvPr id="7" name="Outline triangle - bas">
              <a:extLst>
                <a:ext uri="{FF2B5EF4-FFF2-40B4-BE49-F238E27FC236}">
                  <a16:creationId xmlns:a16="http://schemas.microsoft.com/office/drawing/2014/main" id="{43CF098F-BF52-7EC3-A040-195601006C9F}"/>
                </a:ext>
              </a:extLst>
            </p:cNvPr>
            <p:cNvSpPr/>
            <p:nvPr/>
          </p:nvSpPr>
          <p:spPr>
            <a:xfrm>
              <a:off x="3831344" y="1180000"/>
              <a:ext cx="447812" cy="500000"/>
            </a:xfrm>
            <a:custGeom>
              <a:avLst/>
              <a:gdLst/>
              <a:ahLst/>
              <a:cxnLst/>
              <a:rect l="0" t="0" r="800000" b="500000"/>
              <a:pathLst>
                <a:path w="800000" h="500000">
                  <a:moveTo>
                    <a:pt x="0" y="0"/>
                  </a:moveTo>
                  <a:lnTo>
                    <a:pt x="800000" y="0"/>
                  </a:lnTo>
                  <a:lnTo>
                    <a:pt x="400000" y="500000"/>
                  </a:lnTo>
                  <a:close/>
                </a:path>
              </a:pathLst>
            </a:custGeom>
            <a:solidFill>
              <a:schemeClr val="tx2">
                <a:lumMod val="75000"/>
              </a:schemeClr>
            </a:solidFill>
            <a:ln w="9525">
              <a:solidFill>
                <a:srgbClr val="1E3A5F"/>
              </a:solidFill>
            </a:ln>
          </p:spPr>
          <p:txBody>
            <a:bodyPr/>
            <a:lstStyle/>
            <a:p>
              <a:endParaRPr lang="fr-FR"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Résumé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Pour mettre en œuvre une méthode d’appariement, il faut :</a:t>
            </a:r>
          </a:p>
          <a:p>
            <a:pPr lvl="0"/>
            <a:r>
              <a:t>Identifier les unités traitées et les non-traitées</a:t>
            </a:r>
          </a:p>
          <a:p>
            <a:pPr lvl="0"/>
            <a:r>
              <a:t>Observer les caractéristiques qui déterminent le traitement pour chaque unité</a:t>
            </a:r>
          </a:p>
          <a:p>
            <a:pPr lvl="0"/>
            <a:r>
              <a:t>Choisir une méthode d’estimation : plus proche(s) voisin(s), PSM ?</a:t>
            </a:r>
          </a:p>
          <a:p>
            <a:pPr lvl="0"/>
            <a:r>
              <a:t>Dans le cas d’un appariement sur le score de propension, il faut l’estimer</a:t>
            </a:r>
          </a:p>
          <a:p>
            <a:pPr lvl="0"/>
            <a:r>
              <a:t>Estimer les effets (ATT et/ou ATE)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Résumé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La crédibilité des estimateurs estimés repose sur l’hypothèse très forte d’indépendance conditionnelle.</a:t>
            </a:r>
          </a:p>
          <a:p>
            <a:pPr lvl="0"/>
            <a:r>
              <a:t>Tiens aux observables </a:t>
            </a:r>
            <a:r>
              <a:rPr b="1"/>
              <a:t>disponibles et utilisées</a:t>
            </a:r>
            <a:r>
              <a:t> pour la comparaison</a:t>
            </a:r>
          </a:p>
          <a:p>
            <a:pPr lvl="0"/>
            <a:r>
              <a:t>Si on dispose de peu d’informations dans nos données sur les choix entre les variables, il ne sera pas possible d’éliminer le </a:t>
            </a:r>
            <a:r>
              <a:rPr b="1"/>
              <a:t>biais de sélection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3A5F"/>
      </a:dk2>
      <a:lt2>
        <a:srgbClr val="F4F6F8"/>
      </a:lt2>
      <a:accent1>
        <a:srgbClr val="0F6CBD"/>
      </a:accent1>
      <a:accent2>
        <a:srgbClr val="14A37F"/>
      </a:accent2>
      <a:accent3>
        <a:srgbClr val="D97706"/>
      </a:accent3>
      <a:accent4>
        <a:srgbClr val="7C3AED"/>
      </a:accent4>
      <a:accent5>
        <a:srgbClr val="0891B2"/>
      </a:accent5>
      <a:accent6>
        <a:srgbClr val="DC262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E3A5F"/>
      </a:dk2>
      <a:lt2>
        <a:srgbClr val="F4F6F8"/>
      </a:lt2>
      <a:accent1>
        <a:srgbClr val="0F6CBD"/>
      </a:accent1>
      <a:accent2>
        <a:srgbClr val="14A37F"/>
      </a:accent2>
      <a:accent3>
        <a:srgbClr val="D97706"/>
      </a:accent3>
      <a:accent4>
        <a:srgbClr val="7C3AED"/>
      </a:accent4>
      <a:accent5>
        <a:srgbClr val="0891B2"/>
      </a:accent5>
      <a:accent6>
        <a:srgbClr val="DC262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2849</Words>
  <Application>Microsoft Office PowerPoint</Application>
  <PresentationFormat>Bildschirmpräsentation (16:9)</PresentationFormat>
  <Paragraphs>317</Paragraphs>
  <Slides>36</Slides>
  <Notes>36</Notes>
  <HiddenSlides>3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36</vt:i4>
      </vt:variant>
    </vt:vector>
  </HeadingPairs>
  <TitlesOfParts>
    <vt:vector size="41" baseType="lpstr">
      <vt:lpstr>Arial</vt:lpstr>
      <vt:lpstr>Calibri</vt:lpstr>
      <vt:lpstr>Cambria</vt:lpstr>
      <vt:lpstr>Cambria Math</vt:lpstr>
      <vt:lpstr>Office Theme</vt:lpstr>
      <vt:lpstr>Méthodes d’appariement</vt:lpstr>
      <vt:lpstr>Agenda</vt:lpstr>
      <vt:lpstr>Méthodes d’appariement: Mais Pourqoui?</vt:lpstr>
      <vt:lpstr>Inférence causale sans randomisation</vt:lpstr>
      <vt:lpstr>Example: Aire Protégée</vt:lpstr>
      <vt:lpstr>Les sciences naturelles échappent  à ce problème</vt:lpstr>
      <vt:lpstr>Example: Aire Protégée</vt:lpstr>
      <vt:lpstr>Illustration intuitive</vt:lpstr>
      <vt:lpstr>Principe du matching</vt:lpstr>
      <vt:lpstr>Hypothèses fondamentales</vt:lpstr>
      <vt:lpstr>Hypothèse CIA : ATT vs ATE</vt:lpstr>
      <vt:lpstr>Risques liés à la CIA</vt:lpstr>
      <vt:lpstr>Hypothèse de support commun</vt:lpstr>
      <vt:lpstr>Objectif du matching</vt:lpstr>
      <vt:lpstr>Methodes d‘appariement (a.k.a. elaguer les donnés)</vt:lpstr>
      <vt:lpstr>Méthodes d’appariement — illustration</vt:lpstr>
      <vt:lpstr>Mesures de distance pour définir “le plus proche”</vt:lpstr>
      <vt:lpstr>Voisin le plus proche</vt:lpstr>
      <vt:lpstr>PowerPoint-Präsentation</vt:lpstr>
      <vt:lpstr>Limites du plus proche voisin</vt:lpstr>
      <vt:lpstr>Choix de la taille de la fenêtre</vt:lpstr>
      <vt:lpstr>PowerPoint-Präsentation</vt:lpstr>
      <vt:lpstr>Propensity Score Matching</vt:lpstr>
      <vt:lpstr>Curse of dimensionality</vt:lpstr>
      <vt:lpstr>Score de propension : réduction de dimension</vt:lpstr>
      <vt:lpstr>PowerPoint-Präsentation</vt:lpstr>
      <vt:lpstr>Estimation du score de propension</vt:lpstr>
      <vt:lpstr>Vérification du support commun</vt:lpstr>
      <vt:lpstr>Test visuel du support commun</vt:lpstr>
      <vt:lpstr>Test visuel du support commun</vt:lpstr>
      <vt:lpstr>Enjeux liés au support commun</vt:lpstr>
      <vt:lpstr>Imposer un support commun</vt:lpstr>
      <vt:lpstr>Quelles variables de conditionnement/contrôle ?</vt:lpstr>
      <vt:lpstr>Estimateur</vt:lpstr>
      <vt:lpstr>Résumé</vt:lpstr>
      <vt:lpstr>Résumé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Méthodes d’appariement</dc:title>
  <dc:creator>Florent Bédécarrats, Melvin Wong (sur une base élaborée par Jeanne de Montalembert et Marin Ferry)</dc:creator>
  <cp:keywords/>
  <cp:lastModifiedBy>Melvin Wong</cp:lastModifiedBy>
  <cp:revision>42</cp:revision>
  <dcterms:created xsi:type="dcterms:W3CDTF">2026-06-14T15:13:16Z</dcterms:created>
  <dcterms:modified xsi:type="dcterms:W3CDTF">2026-06-17T14:38:42Z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lass">
    <vt:lpwstr>small-text</vt:lpwstr>
  </property>
  <property fmtid="{D5CDD505-2E9C-101B-9397-08002B2CF9AE}" pid="6" name="date">
    <vt:lpwstr>2026-06-18</vt:lpwstr>
  </property>
  <property fmtid="{D5CDD505-2E9C-101B-9397-08002B2CF9AE}" pid="7" name="editor_options">
    <vt:lpwstr/>
  </property>
  <property fmtid="{D5CDD505-2E9C-101B-9397-08002B2CF9AE}" pid="8" name="engines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Atelier Mapme : Evaluation d’impact sur données spatiales</vt:lpwstr>
  </property>
  <property fmtid="{D5CDD505-2E9C-101B-9397-08002B2CF9AE}" pid="14" name="toc-title">
    <vt:lpwstr>Table of contents</vt:lpwstr>
  </property>
</Properties>
</file>