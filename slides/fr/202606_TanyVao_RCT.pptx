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68" r:id="rId4"/>
    <p:sldId id="269" r:id="rId5"/>
    <p:sldId id="258" r:id="rId6"/>
    <p:sldId id="267" r:id="rId7"/>
    <p:sldId id="260" r:id="rId8"/>
    <p:sldId id="261" r:id="rId9"/>
    <p:sldId id="266"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251" autoAdjust="0"/>
  </p:normalViewPr>
  <p:slideViewPr>
    <p:cSldViewPr snapToGrid="0" snapToObjects="1">
      <p:cViewPr>
        <p:scale>
          <a:sx n="76" d="100"/>
          <a:sy n="76" d="100"/>
        </p:scale>
        <p:origin x="100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11281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Bienvenue à cet atelier sur les expérimentations par assignation aléatoire. Aujourd'hui, nous allons explorer les fondements théoriques et pratiques des essais randomisés contrôlés dans le cadre de l'évaluation d'impact, avec un focus sur les données spatiales.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problème du contrefactuel, tel qu'il est posé par le modèle de Rubin.
Lorsqu'on cherche à évaluer l'effet d'une intervention — qu'il s'agisse d'un vaccin, d'une politique publique ou d'un programme de développement — on se heurte à une difficulté majeure : il est impossible d'observer simultanément ce qui s'est passé avec le traitement, et ce qui se serait passé sans lui, pour les mêmes individus.
La question clé est donc : qu'aurait-il été observé sur les unités traitées, si elles n'avaient pas bénéficié du traitement ? C'est ce qu'on appelle le contrefactuel.
L'enjeu est donc de trouver un contrefactuel valide et pertinent. Mais cela n'est pas simple, car deux menaces principales pèsent sur cette démarche :
Premièrement, les critères d'éligibilité au programme : prenons l'exemple d'un programme de microcrédits destiné aux petits agriculteurs. Pour y accéder, il faut remplir certaines conditions — avoir moins de 2 hectares de terres, être résident depuis plus de 5 ans, etc. De fait, seuls certains profils peuvent bénéficier du programme. Si on compare les bénéficiaires à des agriculteurs qui ne remplissent pas ces critères, la comparaison est biaisée dès le départ — les deux groupes sont structurellement différents.
Deuxièmement, l'auto-sélection : prenons l'exemple d'une formation professionnelle ouverte à tous les demandeurs d'emploi, mais sur la base du volontariat. Les personnes qui choisissent de s'y inscrire sont souvent déjà plus motivées, plus organisées ou plus proches du marché du travail que celles qui ne s'inscrivent pas. Si on compare les résultats des participants à ceux des non-participants, on ne mesure pas uniquement l'effet de la formation — on capte aussi l'effet de cette motivation préexistante.
C'est précisément pour répondre à ce problème qu'on a recours aux essais randomisés contrôlés, ou ERC, dont nous allons parler dans la suite.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Tirage au sort deux groups </a:t>
            </a:r>
          </a:p>
          <a:p>
            <a:pPr marL="171450" indent="-171450">
              <a:buFontTx/>
              <a:buChar char="-"/>
            </a:pPr>
            <a:r>
              <a:rPr lang="en-US" dirty="0" err="1"/>
              <a:t>Moyennes</a:t>
            </a:r>
            <a:r>
              <a:rPr lang="en-US" dirty="0"/>
              <a:t> age </a:t>
            </a:r>
          </a:p>
          <a:p>
            <a:pPr marL="171450" indent="-171450">
              <a:buFontTx/>
              <a:buChar char="-"/>
            </a:pPr>
            <a:r>
              <a:rPr lang="en-US" dirty="0"/>
              <a:t># femmes / homme </a:t>
            </a:r>
          </a:p>
          <a:p>
            <a:pPr marL="171450" indent="-171450">
              <a:buFontTx/>
              <a:buChar char="-"/>
            </a:pPr>
            <a:r>
              <a:rPr lang="en-US" dirty="0"/>
              <a:t>Ville origine </a:t>
            </a:r>
          </a:p>
          <a:p>
            <a:endParaRPr lang="en-US"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548170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graphiques illustrent l'importance cruciale de la taille d'échantillon pour la validité de la randomisation.
Avec seulement 20 observations, les deux groupes — contrôle et traitement — peuvent présenter des distributions très différentes. Dans cet exemple, les moyennes de perte annuelle de couvert forestier sont de 0,65% pour le groupe de contrôle et de 1,06% pour le groupe de traitement, uniquement par effet du hasard. Une telle différence introduirait un biais important dans l'estimation de l'effet.
Avec 200 observations, on commence à voir une convergence, mais la variabilité reste notable.
À partir de 1 000 à 2 000 unités, les deux groupes deviennent suffisamment similaires pour que la randomisation remplisse pleinement son rôle de contrefactuel valide.
Ce message est fondamental : la randomisation n'est pas une garantie automatique — elle fonctionne en probabilité, et son efficacité croît avec la taille des échantillons.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8810043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randomisation repose sur un principe simple : au lieu de laisser les individus ou les administrations choisir qui bénéficie d'un programme, on procède à un tirage au sort.
Deux groupes sont ainsi constitués de façon aléatoire au sein d'une population homogène : un groupe de traitement, qui bénéficie de l'intervention, et un groupe de contrôle, qui n'en bénéficie pas.
L'avantage fondamental de cette approche est que le tirage aléatoire assure — en probabilité, et sous réserve d'avoir des échantillons suffisamment grands — que les deux groupes sont statistiquement similaires, non seulement sur les caractéristiques que l'on peut observer, mais aussi sur celles que l'on ne peut pas mesurer. C'est cette propriété qui fait de la randomisation une méthode si puissante pour l'évaluation d'impact.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graphiques illustrent l'importance cruciale de la taille d'échantillon pour la validité de la randomisation.
Avec seulement 20 observations, les deux groupes — contrôle et traitement — peuvent présenter des distributions très différentes. Dans cet exemple, les moyennes de perte annuelle de couvert forestier sont de 0,65% pour le groupe de contrôle et de 1,06% pour le groupe de traitement, uniquement par effet du hasard. Une telle différence introduirait un biais important dans l'estimation de l'effet.
Avec 200 observations, on commence à voir une convergence, mais la variabilité reste notable.
À partir de 1 000 à 2 000 unités, les deux groupes deviennent suffisamment similaires pour que la randomisation remplisse pleinement son rôle de contrefactuel valide.
Ce message est fondamental : la randomisation n'est pas une garantie automatique — elle fonctionne en probabilité, et son efficacité croît avec la taille des échantillons.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0943293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diapositive formalise pourquoi la randomisation est si efficace.
Le tirage aléatoire garantit — en espérance — que les deux groupes ont des caractéristiques identiques : E(X|T=1) = E(X|T=0). Cela vaut à la fois pour les variables observables et pour celles que nous ne pouvons pas mesurer.
De même, en l'absence du programme, on peut faire l'hypothèse que les résultats auraient été identiques dans les deux groupes : E(Y₀|T=0) = E(Y₀|T=1). C'est l'hypothèse clé de l'absence de biais de sélection.
Sous ces conditions, le groupe de contrôle devient un contrefactuel valide, et l'effet moyen du traitement se calcule simplement par la différence de moyennes entre les deux groupes après l'intervention.
Attention cependant : cette hypothèse n'est valable qu'en moyenne. Il est impossible de dire que pour chaque individu i, Xi(1) = Xi(0) ou Yi(1) = Yi(0). On ne mesure que l'effet moyen.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fois les groupes constitués par randomisation, comment estime-t-on l'effet de l'intervention ?
La méthode la plus simple est la différence de moyennes : on compare la moyenne de la variable de résultat dans le groupe traité à celle du groupe de contrôle. Dans le cadre d'un ERC valide, cette différence est un estimateur non biaisé de l'effet moyen du traitement.
La deuxième approche, équivalente, est la régression linéaire. On régresse la variable de résultat Y sur l'indicateur de traitement T. Le coefficient β capte directement l'effet moyen du traitement, tandis que α représente la moyenne de Y en l'absence de traitement.
L'avantage de la régression est qu'elle permet d'ajouter facilement des variables de contrôle pour améliorer la précision des estimations, sans pour autant modifier l'interprétation du coefficient d'intérêt.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mise en œuvre d'une randomisation suit un processus en plusieurs étapes.
Premièrement, on identifie la population éligible : il s'agit de l'ensemble des unités — individus, ménages, villages, aires géographiques — pour lesquelles on cherche à connaître l'effet du programme.
Deuxièmement, on sélectionne l'échantillon soumis à l'évaluation, en tenant compte des contraintes de faisabilité logistique et budgétaire.
Troisièmement, on procède à l'assignation aléatoire : c'est l'étape clé. On tire au sort les unités qui vont bénéficier de l'intervention.
Quatrièmement, on obtient deux groupes : le groupe de traitement, qui bénéficie de l'intervention, et le groupe de contrôle, qui n'en bénéficie pas.
Un point important : le niveau de randomisation ne peut pas être inférieur au niveau auquel est assigné le programme. Par exemple, si un programme est mis en œuvre au niveau d'un village entier, on ne peut pas randomiser au niveau individuel — il faut randomiser au niveau du village.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6942258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840"/>
        </a:solidFill>
        <a:effectLst/>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0392B"/>
          </a:solidFill>
          <a:ln w="12700">
            <a:solidFill>
              <a:srgbClr val="C0392B"/>
            </a:solidFill>
            <a:prstDash val="solid"/>
          </a:ln>
        </p:spPr>
      </p:sp>
      <p:sp>
        <p:nvSpPr>
          <p:cNvPr id="3" name="Text 1"/>
          <p:cNvSpPr/>
          <p:nvPr/>
        </p:nvSpPr>
        <p:spPr>
          <a:xfrm>
            <a:off x="731520" y="914400"/>
            <a:ext cx="7680960" cy="182880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Expérimentations par</a:t>
            </a:r>
            <a:endParaRPr lang="en-US" sz="3400" dirty="0"/>
          </a:p>
          <a:p>
            <a:pPr marL="0" indent="0" algn="ctr">
              <a:buNone/>
            </a:pPr>
            <a:r>
              <a:rPr lang="en-US" sz="3400" b="1" dirty="0">
                <a:solidFill>
                  <a:srgbClr val="FFFFFF"/>
                </a:solidFill>
                <a:latin typeface="Cambria" pitchFamily="34" charset="0"/>
                <a:ea typeface="Cambria" pitchFamily="34" charset="-122"/>
                <a:cs typeface="Cambria" pitchFamily="34" charset="-120"/>
              </a:rPr>
              <a:t>assignation aléatoire</a:t>
            </a:r>
            <a:endParaRPr lang="en-US" sz="3400" dirty="0"/>
          </a:p>
        </p:txBody>
      </p:sp>
      <p:sp>
        <p:nvSpPr>
          <p:cNvPr id="4" name="Text 2"/>
          <p:cNvSpPr/>
          <p:nvPr/>
        </p:nvSpPr>
        <p:spPr>
          <a:xfrm>
            <a:off x="731520" y="2743200"/>
            <a:ext cx="7680960" cy="548640"/>
          </a:xfrm>
          <a:prstGeom prst="rect">
            <a:avLst/>
          </a:prstGeom>
          <a:noFill/>
          <a:ln/>
        </p:spPr>
        <p:txBody>
          <a:bodyPr wrap="square" rtlCol="0" anchor="ctr"/>
          <a:lstStyle/>
          <a:p>
            <a:pPr marL="0" indent="0" algn="ctr">
              <a:buNone/>
            </a:pPr>
            <a:r>
              <a:rPr lang="en-US" b="1" i="1" dirty="0">
                <a:solidFill>
                  <a:srgbClr val="D6E4F0"/>
                </a:solidFill>
                <a:latin typeface="Calibri" pitchFamily="34" charset="0"/>
                <a:ea typeface="Calibri" pitchFamily="34" charset="-122"/>
                <a:cs typeface="Calibri" pitchFamily="34" charset="-120"/>
              </a:rPr>
              <a:t>Atelier 2 Tany </a:t>
            </a:r>
            <a:r>
              <a:rPr lang="en-US" b="1" i="1" dirty="0" err="1">
                <a:solidFill>
                  <a:srgbClr val="D6E4F0"/>
                </a:solidFill>
                <a:latin typeface="Calibri" pitchFamily="34" charset="0"/>
                <a:ea typeface="Calibri" pitchFamily="34" charset="-122"/>
                <a:cs typeface="Calibri" pitchFamily="34" charset="-120"/>
              </a:rPr>
              <a:t>Vao</a:t>
            </a:r>
            <a:r>
              <a:rPr lang="en-US" b="1" i="1" dirty="0">
                <a:solidFill>
                  <a:srgbClr val="D6E4F0"/>
                </a:solidFill>
                <a:latin typeface="Calibri" pitchFamily="34" charset="0"/>
                <a:ea typeface="Calibri" pitchFamily="34" charset="-122"/>
                <a:cs typeface="Calibri" pitchFamily="34" charset="-120"/>
              </a:rPr>
              <a:t> </a:t>
            </a:r>
            <a:r>
              <a:rPr lang="en-US" i="1" dirty="0">
                <a:solidFill>
                  <a:srgbClr val="D6E4F0"/>
                </a:solidFill>
                <a:latin typeface="Calibri" pitchFamily="34" charset="0"/>
                <a:ea typeface="Calibri" pitchFamily="34" charset="-122"/>
                <a:cs typeface="Calibri" pitchFamily="34" charset="-120"/>
              </a:rPr>
              <a:t>: Évaluation d'impact sur données spatiales</a:t>
            </a:r>
            <a:endParaRPr lang="en-US" dirty="0"/>
          </a:p>
        </p:txBody>
      </p:sp>
      <p:sp>
        <p:nvSpPr>
          <p:cNvPr id="5" name="Text 3"/>
          <p:cNvSpPr/>
          <p:nvPr/>
        </p:nvSpPr>
        <p:spPr>
          <a:xfrm>
            <a:off x="731520" y="3383280"/>
            <a:ext cx="7680960" cy="411480"/>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Florent </a:t>
            </a:r>
            <a:r>
              <a:rPr lang="en-US" sz="1600" dirty="0">
                <a:solidFill>
                  <a:srgbClr val="FFFFFF"/>
                </a:solidFill>
                <a:latin typeface="Calibri" pitchFamily="34" charset="0"/>
                <a:ea typeface="Calibri" pitchFamily="34" charset="-122"/>
                <a:cs typeface="Calibri" pitchFamily="34" charset="-120"/>
              </a:rPr>
              <a:t>Bédécarrats</a:t>
            </a:r>
            <a:r>
              <a:rPr lang="en-US" sz="1300" dirty="0">
                <a:solidFill>
                  <a:srgbClr val="FFFFFF"/>
                </a:solidFill>
                <a:latin typeface="Calibri" pitchFamily="34" charset="0"/>
                <a:ea typeface="Calibri" pitchFamily="34" charset="-122"/>
                <a:cs typeface="Calibri" pitchFamily="34" charset="-120"/>
              </a:rPr>
              <a:t> &amp; Ingrid </a:t>
            </a:r>
            <a:r>
              <a:rPr lang="en-US" sz="1300" dirty="0" err="1">
                <a:solidFill>
                  <a:srgbClr val="FFFFFF"/>
                </a:solidFill>
                <a:latin typeface="Calibri" pitchFamily="34" charset="0"/>
                <a:ea typeface="Calibri" pitchFamily="34" charset="-122"/>
                <a:cs typeface="Calibri" pitchFamily="34" charset="-120"/>
              </a:rPr>
              <a:t>Dallmann</a:t>
            </a:r>
            <a:endParaRPr lang="en-US" sz="1300" dirty="0"/>
          </a:p>
        </p:txBody>
      </p:sp>
      <p:sp>
        <p:nvSpPr>
          <p:cNvPr id="6" name="Text 4"/>
          <p:cNvSpPr/>
          <p:nvPr/>
        </p:nvSpPr>
        <p:spPr>
          <a:xfrm>
            <a:off x="731520" y="3840480"/>
            <a:ext cx="7680960" cy="320040"/>
          </a:xfrm>
          <a:prstGeom prst="rect">
            <a:avLst/>
          </a:prstGeom>
          <a:noFill/>
          <a:ln/>
        </p:spPr>
        <p:txBody>
          <a:bodyPr wrap="square" rtlCol="0" anchor="ctr"/>
          <a:lstStyle/>
          <a:p>
            <a:pPr marL="0" indent="0" algn="ctr">
              <a:buNone/>
            </a:pPr>
            <a:r>
              <a:rPr lang="en-US" sz="1600" dirty="0" err="1">
                <a:solidFill>
                  <a:srgbClr val="6B7280"/>
                </a:solidFill>
                <a:latin typeface="Calibri" pitchFamily="34" charset="0"/>
                <a:ea typeface="Calibri" pitchFamily="34" charset="-122"/>
                <a:cs typeface="Calibri" pitchFamily="34" charset="-120"/>
              </a:rPr>
              <a:t>Juin</a:t>
            </a:r>
            <a:r>
              <a:rPr lang="en-US" sz="1600" dirty="0">
                <a:solidFill>
                  <a:srgbClr val="6B7280"/>
                </a:solidFill>
                <a:latin typeface="Calibri" pitchFamily="34" charset="0"/>
                <a:ea typeface="Calibri" pitchFamily="34" charset="-122"/>
                <a:cs typeface="Calibri" pitchFamily="34" charset="-120"/>
              </a:rPr>
              <a: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Text 1"/>
          <p:cNvSpPr/>
          <p:nvPr/>
        </p:nvSpPr>
        <p:spPr>
          <a:xfrm>
            <a:off x="365760" y="0"/>
            <a:ext cx="8412480" cy="6400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Le problème principal du modèle de Rubin</a:t>
            </a:r>
            <a:endParaRPr lang="en-US" sz="2000" dirty="0"/>
          </a:p>
        </p:txBody>
      </p:sp>
      <p:sp>
        <p:nvSpPr>
          <p:cNvPr id="4" name="Shape 2"/>
          <p:cNvSpPr/>
          <p:nvPr/>
        </p:nvSpPr>
        <p:spPr>
          <a:xfrm>
            <a:off x="365760" y="4777740"/>
            <a:ext cx="8412480" cy="0"/>
          </a:xfrm>
          <a:prstGeom prst="line">
            <a:avLst/>
          </a:prstGeom>
          <a:noFill/>
          <a:ln w="12700">
            <a:solidFill>
              <a:srgbClr val="1A3A5C"/>
            </a:solidFill>
            <a:prstDash val="solid"/>
          </a:ln>
        </p:spPr>
        <p:txBody>
          <a:bodyPr/>
          <a:lstStyle/>
          <a:p>
            <a:endParaRPr lang="fr-FR" dirty="0"/>
          </a:p>
        </p:txBody>
      </p:sp>
      <p:sp>
        <p:nvSpPr>
          <p:cNvPr id="5" name="Text 3"/>
          <p:cNvSpPr/>
          <p:nvPr/>
        </p:nvSpPr>
        <p:spPr>
          <a:xfrm>
            <a:off x="365760" y="4823460"/>
            <a:ext cx="5486400" cy="320040"/>
          </a:xfrm>
          <a:prstGeom prst="rect">
            <a:avLst/>
          </a:prstGeom>
          <a:noFill/>
          <a:ln/>
        </p:spPr>
        <p:txBody>
          <a:bodyPr wrap="square" rtlCol="0" anchor="ctr"/>
          <a:lstStyle/>
          <a:p>
            <a:pPr marL="0" indent="0">
              <a:buNone/>
            </a:pPr>
            <a:r>
              <a:rPr lang="en-US" sz="900" dirty="0">
                <a:solidFill>
                  <a:srgbClr val="6B7280"/>
                </a:solidFill>
                <a:latin typeface="Calibri" pitchFamily="34" charset="0"/>
                <a:ea typeface="Calibri" pitchFamily="34" charset="-122"/>
                <a:cs typeface="Calibri" pitchFamily="34" charset="-120"/>
              </a:rPr>
              <a:t>Bédécarrats &amp; </a:t>
            </a:r>
            <a:r>
              <a:rPr lang="en-US" sz="900" dirty="0" err="1">
                <a:solidFill>
                  <a:srgbClr val="6B7280"/>
                </a:solidFill>
                <a:latin typeface="Calibri" pitchFamily="34" charset="0"/>
                <a:ea typeface="Calibri" pitchFamily="34" charset="-122"/>
                <a:cs typeface="Calibri" pitchFamily="34" charset="-120"/>
              </a:rPr>
              <a:t>Dallmann</a:t>
            </a:r>
            <a:r>
              <a:rPr lang="en-US" sz="900" dirty="0">
                <a:solidFill>
                  <a:srgbClr val="6B7280"/>
                </a:solidFill>
                <a:latin typeface="Calibri" pitchFamily="34" charset="0"/>
                <a:ea typeface="Calibri" pitchFamily="34" charset="-122"/>
                <a:cs typeface="Calibri" pitchFamily="34" charset="-120"/>
              </a:rPr>
              <a:t> — Atelier 2 Tany </a:t>
            </a:r>
            <a:r>
              <a:rPr lang="en-US" sz="900" dirty="0" err="1">
                <a:solidFill>
                  <a:srgbClr val="6B7280"/>
                </a:solidFill>
                <a:latin typeface="Calibri" pitchFamily="34" charset="0"/>
                <a:ea typeface="Calibri" pitchFamily="34" charset="-122"/>
                <a:cs typeface="Calibri" pitchFamily="34" charset="-120"/>
              </a:rPr>
              <a:t>Vao</a:t>
            </a:r>
            <a:r>
              <a:rPr lang="en-US" sz="900" dirty="0">
                <a:solidFill>
                  <a:srgbClr val="6B7280"/>
                </a:solidFill>
                <a:latin typeface="Calibri" pitchFamily="34" charset="0"/>
                <a:ea typeface="Calibri" pitchFamily="34" charset="-122"/>
                <a:cs typeface="Calibri" pitchFamily="34" charset="-120"/>
              </a:rPr>
              <a:t> 2026</a:t>
            </a:r>
            <a:endParaRPr lang="en-US" sz="900" dirty="0"/>
          </a:p>
        </p:txBody>
      </p:sp>
      <p:sp>
        <p:nvSpPr>
          <p:cNvPr id="6" name="Text 4"/>
          <p:cNvSpPr/>
          <p:nvPr/>
        </p:nvSpPr>
        <p:spPr>
          <a:xfrm>
            <a:off x="7772400" y="4823460"/>
            <a:ext cx="1005840" cy="32004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 / 9</a:t>
            </a:r>
            <a:endParaRPr lang="en-US" sz="900" dirty="0"/>
          </a:p>
        </p:txBody>
      </p:sp>
      <p:sp>
        <p:nvSpPr>
          <p:cNvPr id="7" name="Shape 5"/>
          <p:cNvSpPr/>
          <p:nvPr/>
        </p:nvSpPr>
        <p:spPr>
          <a:xfrm>
            <a:off x="365760" y="822960"/>
            <a:ext cx="4023360" cy="1920240"/>
          </a:xfrm>
          <a:prstGeom prst="roundRect">
            <a:avLst>
              <a:gd name="adj" fmla="val 3810"/>
            </a:avLst>
          </a:prstGeom>
          <a:solidFill>
            <a:srgbClr val="F7F9FC"/>
          </a:solidFill>
          <a:ln w="12700">
            <a:solidFill>
              <a:srgbClr val="D6E4F0"/>
            </a:solidFill>
            <a:prstDash val="solid"/>
          </a:ln>
        </p:spPr>
      </p:sp>
      <p:sp>
        <p:nvSpPr>
          <p:cNvPr id="8" name="Text 6"/>
          <p:cNvSpPr/>
          <p:nvPr/>
        </p:nvSpPr>
        <p:spPr>
          <a:xfrm>
            <a:off x="548640" y="914400"/>
            <a:ext cx="3657600" cy="365760"/>
          </a:xfrm>
          <a:prstGeom prst="rect">
            <a:avLst/>
          </a:prstGeom>
          <a:noFill/>
          <a:ln/>
        </p:spPr>
        <p:txBody>
          <a:bodyPr wrap="square" rtlCol="0" anchor="ctr"/>
          <a:lstStyle/>
          <a:p>
            <a:pPr marL="0" indent="0">
              <a:buNone/>
            </a:pPr>
            <a:r>
              <a:rPr lang="en-US" sz="1600" b="1" dirty="0">
                <a:solidFill>
                  <a:srgbClr val="1A3A5C"/>
                </a:solidFill>
                <a:latin typeface="Cambria" pitchFamily="34" charset="0"/>
                <a:ea typeface="Cambria" pitchFamily="34" charset="-122"/>
                <a:cs typeface="Cambria" pitchFamily="34" charset="-120"/>
              </a:rPr>
              <a:t>Problème fondamental</a:t>
            </a:r>
            <a:endParaRPr lang="en-US" sz="1600" dirty="0"/>
          </a:p>
        </p:txBody>
      </p:sp>
      <p:sp>
        <p:nvSpPr>
          <p:cNvPr id="9" name="Text 7"/>
          <p:cNvSpPr/>
          <p:nvPr/>
        </p:nvSpPr>
        <p:spPr>
          <a:xfrm>
            <a:off x="548640" y="1280160"/>
            <a:ext cx="3657600" cy="1280160"/>
          </a:xfrm>
          <a:prstGeom prst="rect">
            <a:avLst/>
          </a:prstGeom>
          <a:noFill/>
          <a:ln/>
        </p:spPr>
        <p:txBody>
          <a:bodyPr wrap="square" rtlCol="0" anchor="ctr"/>
          <a:lstStyle/>
          <a:p>
            <a:pPr marL="0" indent="0">
              <a:buNone/>
            </a:pPr>
            <a:r>
              <a:rPr lang="en-US" sz="1600" dirty="0">
                <a:solidFill>
                  <a:srgbClr val="1A1A2E"/>
                </a:solidFill>
                <a:latin typeface="Calibri" pitchFamily="34" charset="0"/>
                <a:ea typeface="Calibri" pitchFamily="34" charset="-122"/>
                <a:cs typeface="Calibri" pitchFamily="34" charset="-120"/>
              </a:rPr>
              <a:t>Il est impossible d'observer simultanément pour les mêmes individus ce qui se passe avec et sans traitement.</a:t>
            </a:r>
            <a:endParaRPr lang="en-US" sz="1600" dirty="0"/>
          </a:p>
        </p:txBody>
      </p:sp>
      <p:sp>
        <p:nvSpPr>
          <p:cNvPr id="10" name="Shape 8"/>
          <p:cNvSpPr/>
          <p:nvPr/>
        </p:nvSpPr>
        <p:spPr>
          <a:xfrm>
            <a:off x="4754880" y="822960"/>
            <a:ext cx="4023360" cy="1920240"/>
          </a:xfrm>
          <a:prstGeom prst="roundRect">
            <a:avLst>
              <a:gd name="adj" fmla="val 3810"/>
            </a:avLst>
          </a:prstGeom>
          <a:solidFill>
            <a:srgbClr val="F7F9FC"/>
          </a:solidFill>
          <a:ln w="12700">
            <a:solidFill>
              <a:srgbClr val="D6E4F0"/>
            </a:solidFill>
            <a:prstDash val="solid"/>
          </a:ln>
        </p:spPr>
      </p:sp>
      <p:sp>
        <p:nvSpPr>
          <p:cNvPr id="11" name="Text 9"/>
          <p:cNvSpPr/>
          <p:nvPr/>
        </p:nvSpPr>
        <p:spPr>
          <a:xfrm>
            <a:off x="4937760" y="914400"/>
            <a:ext cx="3657600" cy="365760"/>
          </a:xfrm>
          <a:prstGeom prst="rect">
            <a:avLst/>
          </a:prstGeom>
          <a:noFill/>
          <a:ln/>
        </p:spPr>
        <p:txBody>
          <a:bodyPr wrap="square" rtlCol="0" anchor="ctr"/>
          <a:lstStyle/>
          <a:p>
            <a:pPr marL="0" indent="0">
              <a:buNone/>
            </a:pPr>
            <a:r>
              <a:rPr lang="en-US" sz="1600" b="1" dirty="0">
                <a:solidFill>
                  <a:srgbClr val="1A3A5C"/>
                </a:solidFill>
                <a:latin typeface="Cambria" pitchFamily="34" charset="0"/>
                <a:ea typeface="Cambria" pitchFamily="34" charset="-122"/>
                <a:cs typeface="Cambria" pitchFamily="34" charset="-120"/>
              </a:rPr>
              <a:t>Problème du contrefactuel</a:t>
            </a:r>
            <a:endParaRPr lang="en-US" sz="1600" dirty="0"/>
          </a:p>
        </p:txBody>
      </p:sp>
      <p:sp>
        <p:nvSpPr>
          <p:cNvPr id="12" name="Text 10"/>
          <p:cNvSpPr/>
          <p:nvPr/>
        </p:nvSpPr>
        <p:spPr>
          <a:xfrm>
            <a:off x="4937760" y="1280160"/>
            <a:ext cx="3657600" cy="1371600"/>
          </a:xfrm>
          <a:prstGeom prst="rect">
            <a:avLst/>
          </a:prstGeom>
          <a:noFill/>
          <a:ln/>
        </p:spPr>
        <p:txBody>
          <a:bodyPr wrap="square"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Question clé : </a:t>
            </a:r>
            <a:r>
              <a:rPr lang="en-US" sz="1600" dirty="0">
                <a:solidFill>
                  <a:srgbClr val="1A1A2E"/>
                </a:solidFill>
                <a:latin typeface="Calibri" pitchFamily="34" charset="0"/>
                <a:ea typeface="Calibri" pitchFamily="34" charset="-122"/>
                <a:cs typeface="Calibri" pitchFamily="34" charset="-120"/>
              </a:rPr>
              <a:t>Quel aurait été le résultat observé sur les unités traitées en l'absence du traitement ?
</a:t>
            </a:r>
            <a:r>
              <a:rPr lang="en-US" sz="1600" b="1" dirty="0">
                <a:solidFill>
                  <a:srgbClr val="1A1A2E"/>
                </a:solidFill>
                <a:latin typeface="Calibri" pitchFamily="34" charset="0"/>
                <a:ea typeface="Calibri" pitchFamily="34" charset="-122"/>
                <a:cs typeface="Calibri" pitchFamily="34" charset="-120"/>
              </a:rPr>
              <a:t>Enjeu : </a:t>
            </a:r>
            <a:r>
              <a:rPr lang="en-US" sz="1600" dirty="0">
                <a:solidFill>
                  <a:srgbClr val="1A1A2E"/>
                </a:solidFill>
                <a:latin typeface="Calibri" pitchFamily="34" charset="0"/>
                <a:ea typeface="Calibri" pitchFamily="34" charset="-122"/>
                <a:cs typeface="Calibri" pitchFamily="34" charset="-120"/>
              </a:rPr>
              <a:t>Trouver un contrefactuel valide / pertinent.</a:t>
            </a:r>
            <a:endParaRPr lang="en-US" sz="1600" dirty="0"/>
          </a:p>
        </p:txBody>
      </p:sp>
      <p:sp>
        <p:nvSpPr>
          <p:cNvPr id="13" name="Text 11"/>
          <p:cNvSpPr/>
          <p:nvPr/>
        </p:nvSpPr>
        <p:spPr>
          <a:xfrm>
            <a:off x="365760" y="2926080"/>
            <a:ext cx="8412480" cy="320040"/>
          </a:xfrm>
          <a:prstGeom prst="rect">
            <a:avLst/>
          </a:prstGeom>
          <a:noFill/>
          <a:ln/>
        </p:spPr>
        <p:txBody>
          <a:bodyPr wrap="square" rtlCol="0" anchor="ctr"/>
          <a:lstStyle/>
          <a:p>
            <a:pPr marL="0" indent="0">
              <a:buNone/>
            </a:pPr>
            <a:r>
              <a:rPr lang="en-US" sz="1600" b="1" dirty="0">
                <a:solidFill>
                  <a:srgbClr val="1A3A5C"/>
                </a:solidFill>
                <a:latin typeface="Cambria" pitchFamily="34" charset="0"/>
                <a:ea typeface="Cambria" pitchFamily="34" charset="-122"/>
                <a:cs typeface="Cambria" pitchFamily="34" charset="-120"/>
              </a:rPr>
              <a:t>Deux menaces principales</a:t>
            </a:r>
            <a:endParaRPr lang="en-US" sz="1600" dirty="0"/>
          </a:p>
        </p:txBody>
      </p:sp>
      <p:sp>
        <p:nvSpPr>
          <p:cNvPr id="14" name="Text 12"/>
          <p:cNvSpPr/>
          <p:nvPr/>
        </p:nvSpPr>
        <p:spPr>
          <a:xfrm>
            <a:off x="365760" y="3291840"/>
            <a:ext cx="8412480" cy="1097280"/>
          </a:xfrm>
          <a:prstGeom prst="rect">
            <a:avLst/>
          </a:prstGeom>
          <a:noFill/>
          <a:ln/>
        </p:spPr>
        <p:txBody>
          <a:bodyPr wrap="square"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① Éligibilité au programme</a:t>
            </a:r>
            <a:r>
              <a:rPr lang="en-US" sz="1600" dirty="0">
                <a:solidFill>
                  <a:srgbClr val="1A1A2E"/>
                </a:solidFill>
                <a:latin typeface="Calibri" pitchFamily="34" charset="0"/>
                <a:ea typeface="Calibri" pitchFamily="34" charset="-122"/>
                <a:cs typeface="Calibri" pitchFamily="34" charset="-120"/>
              </a:rPr>
              <a:t>  →  Les critères d'accès créent d'emblée des différences structurelles entre les groupes.
</a:t>
            </a:r>
            <a:r>
              <a:rPr lang="en-US" sz="1600" b="1" dirty="0">
                <a:solidFill>
                  <a:srgbClr val="1A1A2E"/>
                </a:solidFill>
                <a:latin typeface="Calibri" pitchFamily="34" charset="0"/>
                <a:ea typeface="Calibri" pitchFamily="34" charset="-122"/>
                <a:cs typeface="Calibri" pitchFamily="34" charset="-120"/>
              </a:rPr>
              <a:t>② Auto-sélection</a:t>
            </a:r>
            <a:r>
              <a:rPr lang="en-US" sz="1600" dirty="0">
                <a:solidFill>
                  <a:srgbClr val="1A1A2E"/>
                </a:solidFill>
                <a:latin typeface="Calibri" pitchFamily="34" charset="0"/>
                <a:ea typeface="Calibri" pitchFamily="34" charset="-122"/>
                <a:cs typeface="Calibri" pitchFamily="34" charset="-120"/>
              </a:rPr>
              <a:t>  →  Les individus choisissent de participer ou non, introduisant un biais systématique entre traités et non-traités.</a:t>
            </a:r>
            <a:endParaRPr lang="en-US" sz="1600" dirty="0"/>
          </a:p>
        </p:txBody>
      </p:sp>
      <p:sp>
        <p:nvSpPr>
          <p:cNvPr id="15" name="Shape 13"/>
          <p:cNvSpPr/>
          <p:nvPr/>
        </p:nvSpPr>
        <p:spPr>
          <a:xfrm>
            <a:off x="871774" y="2424019"/>
            <a:ext cx="2743200" cy="411480"/>
          </a:xfrm>
          <a:prstGeom prst="roundRect">
            <a:avLst>
              <a:gd name="adj" fmla="val 13333"/>
            </a:avLst>
          </a:prstGeom>
          <a:solidFill>
            <a:srgbClr val="D6E4F0"/>
          </a:solidFill>
          <a:ln w="12700">
            <a:solidFill>
              <a:srgbClr val="2E6DA4"/>
            </a:solidFill>
            <a:prstDash val="solid"/>
          </a:ln>
        </p:spPr>
      </p:sp>
      <p:sp>
        <p:nvSpPr>
          <p:cNvPr id="16" name="Text 14"/>
          <p:cNvSpPr/>
          <p:nvPr/>
        </p:nvSpPr>
        <p:spPr>
          <a:xfrm>
            <a:off x="871774" y="2424019"/>
            <a:ext cx="2743200" cy="411480"/>
          </a:xfrm>
          <a:prstGeom prst="rect">
            <a:avLst/>
          </a:prstGeom>
          <a:noFill/>
          <a:ln/>
        </p:spPr>
        <p:txBody>
          <a:bodyPr wrap="square" rtlCol="0" anchor="ctr"/>
          <a:lstStyle/>
          <a:p>
            <a:pPr marL="0" indent="0" algn="ctr">
              <a:buNone/>
            </a:pPr>
            <a:r>
              <a:rPr lang="en-US" sz="1600" i="1" dirty="0">
                <a:solidFill>
                  <a:srgbClr val="1A3A5C"/>
                </a:solidFill>
                <a:latin typeface="Calibri" pitchFamily="34" charset="0"/>
                <a:ea typeface="Calibri" pitchFamily="34" charset="-122"/>
                <a:cs typeface="Calibri" pitchFamily="34" charset="-120"/>
              </a:rPr>
              <a:t>E(Y₀ᵢ | Tᵢ = 1)  est inobservable</a:t>
            </a:r>
            <a:endParaRPr lang="en-US" sz="1600" dirty="0"/>
          </a:p>
        </p:txBody>
      </p:sp>
      <p:sp>
        <p:nvSpPr>
          <p:cNvPr id="17" name="ZoneTexte 16">
            <a:extLst>
              <a:ext uri="{FF2B5EF4-FFF2-40B4-BE49-F238E27FC236}">
                <a16:creationId xmlns:a16="http://schemas.microsoft.com/office/drawing/2014/main" id="{68FB98F4-461F-D879-396C-A1B23FB90FA2}"/>
              </a:ext>
            </a:extLst>
          </p:cNvPr>
          <p:cNvSpPr txBox="1"/>
          <p:nvPr/>
        </p:nvSpPr>
        <p:spPr>
          <a:xfrm>
            <a:off x="4389120" y="4302860"/>
            <a:ext cx="1850800" cy="338554"/>
          </a:xfrm>
          <a:prstGeom prst="rect">
            <a:avLst/>
          </a:prstGeom>
          <a:solidFill>
            <a:schemeClr val="accent4">
              <a:lumMod val="40000"/>
              <a:lumOff val="60000"/>
            </a:schemeClr>
          </a:solidFill>
        </p:spPr>
        <p:txBody>
          <a:bodyPr wrap="square" rtlCol="0">
            <a:spAutoFit/>
          </a:bodyPr>
          <a:lstStyle/>
          <a:p>
            <a:r>
              <a:rPr lang="fr-FR" sz="1600" dirty="0">
                <a:solidFill>
                  <a:srgbClr val="1A1A2E"/>
                </a:solidFill>
                <a:latin typeface="Calibri" pitchFamily="34" charset="0"/>
                <a:ea typeface="Calibri" pitchFamily="34" charset="-122"/>
                <a:cs typeface="Calibri" pitchFamily="34" charset="-120"/>
              </a:rPr>
              <a:t>Solution: ERC (RCT)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P spid="12" grpId="0" animBg="1"/>
      <p:bldP spid="13" grpId="0" animBg="1"/>
      <p:bldP spid="14" grpId="0" animBg="1"/>
      <p:bldP spid="1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Text 1"/>
          <p:cNvSpPr/>
          <p:nvPr/>
        </p:nvSpPr>
        <p:spPr>
          <a:xfrm>
            <a:off x="365760" y="0"/>
            <a:ext cx="8412480" cy="640080"/>
          </a:xfrm>
          <a:prstGeom prst="rect">
            <a:avLst/>
          </a:prstGeom>
          <a:noFill/>
          <a:ln/>
        </p:spPr>
        <p:txBody>
          <a:bodyPr wrap="square" lIns="0" tIns="0" rIns="0" bIns="0" rtlCol="0" anchor="ctr"/>
          <a:lstStyle/>
          <a:p>
            <a:pPr marL="0" indent="0">
              <a:buNone/>
            </a:pPr>
            <a:r>
              <a:rPr lang="en-US" sz="2000" b="1" dirty="0" err="1">
                <a:solidFill>
                  <a:srgbClr val="FFFFFF"/>
                </a:solidFill>
                <a:latin typeface="Cambria" pitchFamily="34" charset="0"/>
                <a:ea typeface="Cambria" pitchFamily="34" charset="-122"/>
                <a:cs typeface="Cambria" pitchFamily="34" charset="-120"/>
              </a:rPr>
              <a:t>Exercice</a:t>
            </a:r>
            <a:endParaRPr lang="en-US" sz="2000" dirty="0"/>
          </a:p>
        </p:txBody>
      </p:sp>
      <p:sp>
        <p:nvSpPr>
          <p:cNvPr id="6" name="Text 4"/>
          <p:cNvSpPr/>
          <p:nvPr/>
        </p:nvSpPr>
        <p:spPr>
          <a:xfrm>
            <a:off x="7772400" y="4823460"/>
            <a:ext cx="1005840" cy="32004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 / 9</a:t>
            </a:r>
            <a:endParaRPr lang="en-US" sz="900" dirty="0"/>
          </a:p>
        </p:txBody>
      </p:sp>
      <p:pic>
        <p:nvPicPr>
          <p:cNvPr id="19" name="Image 18">
            <a:extLst>
              <a:ext uri="{FF2B5EF4-FFF2-40B4-BE49-F238E27FC236}">
                <a16:creationId xmlns:a16="http://schemas.microsoft.com/office/drawing/2014/main" id="{FE82E230-1E20-4E02-F693-193E14094277}"/>
              </a:ext>
            </a:extLst>
          </p:cNvPr>
          <p:cNvPicPr>
            <a:picLocks noChangeAspect="1"/>
          </p:cNvPicPr>
          <p:nvPr/>
        </p:nvPicPr>
        <p:blipFill>
          <a:blip r:embed="rId3"/>
          <a:stretch>
            <a:fillRect/>
          </a:stretch>
        </p:blipFill>
        <p:spPr>
          <a:xfrm>
            <a:off x="3743282" y="1806535"/>
            <a:ext cx="1657435" cy="1530429"/>
          </a:xfrm>
          <a:prstGeom prst="rect">
            <a:avLst/>
          </a:prstGeom>
        </p:spPr>
      </p:pic>
    </p:spTree>
    <p:extLst>
      <p:ext uri="{BB962C8B-B14F-4D97-AF65-F5344CB8AC3E}">
        <p14:creationId xmlns:p14="http://schemas.microsoft.com/office/powerpoint/2010/main" val="3129088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Text 1"/>
          <p:cNvSpPr/>
          <p:nvPr/>
        </p:nvSpPr>
        <p:spPr>
          <a:xfrm>
            <a:off x="365759" y="0"/>
            <a:ext cx="7754783" cy="6400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Pourquoi la randomisation ? — L'effet de la taille d'échantillon</a:t>
            </a:r>
            <a:endParaRPr lang="en-US" sz="2000" dirty="0"/>
          </a:p>
        </p:txBody>
      </p:sp>
      <p:sp>
        <p:nvSpPr>
          <p:cNvPr id="4" name="Shape 2"/>
          <p:cNvSpPr/>
          <p:nvPr/>
        </p:nvSpPr>
        <p:spPr>
          <a:xfrm>
            <a:off x="365760" y="4777740"/>
            <a:ext cx="8412480" cy="0"/>
          </a:xfrm>
          <a:prstGeom prst="line">
            <a:avLst/>
          </a:prstGeom>
          <a:noFill/>
          <a:ln w="12700">
            <a:solidFill>
              <a:srgbClr val="1A3A5C"/>
            </a:solidFill>
            <a:prstDash val="solid"/>
          </a:ln>
        </p:spPr>
      </p:sp>
      <p:sp>
        <p:nvSpPr>
          <p:cNvPr id="6" name="Text 4"/>
          <p:cNvSpPr/>
          <p:nvPr/>
        </p:nvSpPr>
        <p:spPr>
          <a:xfrm>
            <a:off x="7772400" y="4823460"/>
            <a:ext cx="1005840" cy="32004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 / 9</a:t>
            </a:r>
            <a:endParaRPr lang="en-US" sz="900" dirty="0"/>
          </a:p>
        </p:txBody>
      </p:sp>
      <p:sp>
        <p:nvSpPr>
          <p:cNvPr id="28" name="Text 26"/>
          <p:cNvSpPr/>
          <p:nvPr/>
        </p:nvSpPr>
        <p:spPr>
          <a:xfrm>
            <a:off x="491594" y="741921"/>
            <a:ext cx="7628948" cy="502920"/>
          </a:xfrm>
          <a:prstGeom prst="rect">
            <a:avLst/>
          </a:prstGeom>
          <a:noFill/>
          <a:ln/>
        </p:spPr>
        <p:txBody>
          <a:bodyPr wrap="square" rtlCol="0" anchor="ctr"/>
          <a:lstStyle/>
          <a:p>
            <a:pPr marL="0" indent="0">
              <a:buNone/>
            </a:pPr>
            <a:r>
              <a:rPr lang="en-US" sz="1600" i="1" dirty="0">
                <a:solidFill>
                  <a:srgbClr val="1A3A5C"/>
                </a:solidFill>
                <a:latin typeface="Calibri" pitchFamily="34" charset="0"/>
                <a:ea typeface="Calibri" pitchFamily="34" charset="-122"/>
                <a:cs typeface="Calibri" pitchFamily="34" charset="-120"/>
              </a:rPr>
              <a:t>→ Plus l'échantillon est grand, plus les moyennes des deux groupes convergent vers la population totale.</a:t>
            </a:r>
            <a:endParaRPr lang="en-US" sz="1600" dirty="0"/>
          </a:p>
        </p:txBody>
      </p:sp>
      <p:pic>
        <p:nvPicPr>
          <p:cNvPr id="7" name="Image 6">
            <a:extLst>
              <a:ext uri="{FF2B5EF4-FFF2-40B4-BE49-F238E27FC236}">
                <a16:creationId xmlns:a16="http://schemas.microsoft.com/office/drawing/2014/main" id="{3DDD11E3-A53E-7115-7A38-12B67F344F59}"/>
              </a:ext>
            </a:extLst>
          </p:cNvPr>
          <p:cNvPicPr>
            <a:picLocks noChangeAspect="1"/>
          </p:cNvPicPr>
          <p:nvPr/>
        </p:nvPicPr>
        <p:blipFill>
          <a:blip r:embed="rId3"/>
          <a:stretch>
            <a:fillRect/>
          </a:stretch>
        </p:blipFill>
        <p:spPr>
          <a:xfrm>
            <a:off x="2730441" y="1224540"/>
            <a:ext cx="5721644" cy="1949550"/>
          </a:xfrm>
          <a:prstGeom prst="rect">
            <a:avLst/>
          </a:prstGeom>
        </p:spPr>
      </p:pic>
      <p:sp>
        <p:nvSpPr>
          <p:cNvPr id="8" name="ZoneTexte 7">
            <a:extLst>
              <a:ext uri="{FF2B5EF4-FFF2-40B4-BE49-F238E27FC236}">
                <a16:creationId xmlns:a16="http://schemas.microsoft.com/office/drawing/2014/main" id="{F1E682A9-9DA7-C363-BD93-6A0DA9CC07EE}"/>
              </a:ext>
            </a:extLst>
          </p:cNvPr>
          <p:cNvSpPr txBox="1"/>
          <p:nvPr/>
        </p:nvSpPr>
        <p:spPr>
          <a:xfrm>
            <a:off x="365760" y="1711641"/>
            <a:ext cx="2050270" cy="830997"/>
          </a:xfrm>
          <a:prstGeom prst="rect">
            <a:avLst/>
          </a:prstGeom>
          <a:noFill/>
        </p:spPr>
        <p:txBody>
          <a:bodyPr wrap="square" rtlCol="0">
            <a:spAutoFit/>
          </a:bodyPr>
          <a:lstStyle/>
          <a:p>
            <a:r>
              <a:rPr lang="fr-FR" sz="1600" b="1" dirty="0">
                <a:solidFill>
                  <a:srgbClr val="1A3A5C"/>
                </a:solidFill>
                <a:latin typeface="Calibri" pitchFamily="34" charset="0"/>
                <a:ea typeface="Calibri" pitchFamily="34" charset="-122"/>
                <a:cs typeface="Calibri" pitchFamily="34" charset="-120"/>
              </a:rPr>
              <a:t>Probabilité</a:t>
            </a:r>
            <a:r>
              <a:rPr lang="fr-FR" sz="1600" b="1" dirty="0"/>
              <a:t> </a:t>
            </a:r>
            <a:r>
              <a:rPr lang="fr-FR" sz="1600" b="1" dirty="0">
                <a:solidFill>
                  <a:srgbClr val="1A3A5C"/>
                </a:solidFill>
                <a:latin typeface="Calibri" pitchFamily="34" charset="0"/>
                <a:ea typeface="Calibri" pitchFamily="34" charset="-122"/>
                <a:cs typeface="Calibri" pitchFamily="34" charset="-120"/>
              </a:rPr>
              <a:t>d’être une femme dans un tirage au sort </a:t>
            </a:r>
          </a:p>
        </p:txBody>
      </p:sp>
      <p:pic>
        <p:nvPicPr>
          <p:cNvPr id="10" name="Image 9">
            <a:extLst>
              <a:ext uri="{FF2B5EF4-FFF2-40B4-BE49-F238E27FC236}">
                <a16:creationId xmlns:a16="http://schemas.microsoft.com/office/drawing/2014/main" id="{66243272-B064-8AE4-446C-14BEFF4A17A5}"/>
              </a:ext>
            </a:extLst>
          </p:cNvPr>
          <p:cNvPicPr>
            <a:picLocks noChangeAspect="1"/>
          </p:cNvPicPr>
          <p:nvPr/>
        </p:nvPicPr>
        <p:blipFill>
          <a:blip r:embed="rId4"/>
          <a:stretch>
            <a:fillRect/>
          </a:stretch>
        </p:blipFill>
        <p:spPr>
          <a:xfrm>
            <a:off x="2320395" y="3188587"/>
            <a:ext cx="6700871" cy="1891439"/>
          </a:xfrm>
          <a:prstGeom prst="rect">
            <a:avLst/>
          </a:prstGeom>
        </p:spPr>
      </p:pic>
    </p:spTree>
    <p:extLst>
      <p:ext uri="{BB962C8B-B14F-4D97-AF65-F5344CB8AC3E}">
        <p14:creationId xmlns:p14="http://schemas.microsoft.com/office/powerpoint/2010/main" val="551105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Text 1"/>
          <p:cNvSpPr/>
          <p:nvPr/>
        </p:nvSpPr>
        <p:spPr>
          <a:xfrm>
            <a:off x="365760" y="0"/>
            <a:ext cx="8412480" cy="6400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Pourquoi la randomisation ?</a:t>
            </a:r>
            <a:endParaRPr lang="en-US" sz="2000" dirty="0"/>
          </a:p>
        </p:txBody>
      </p:sp>
      <p:sp>
        <p:nvSpPr>
          <p:cNvPr id="4" name="Shape 2"/>
          <p:cNvSpPr/>
          <p:nvPr/>
        </p:nvSpPr>
        <p:spPr>
          <a:xfrm>
            <a:off x="365760" y="4777740"/>
            <a:ext cx="8412480" cy="0"/>
          </a:xfrm>
          <a:prstGeom prst="line">
            <a:avLst/>
          </a:prstGeom>
          <a:noFill/>
          <a:ln w="12700">
            <a:solidFill>
              <a:srgbClr val="1A3A5C"/>
            </a:solidFill>
            <a:prstDash val="solid"/>
          </a:ln>
        </p:spPr>
      </p:sp>
      <p:sp>
        <p:nvSpPr>
          <p:cNvPr id="6" name="Text 4"/>
          <p:cNvSpPr/>
          <p:nvPr/>
        </p:nvSpPr>
        <p:spPr>
          <a:xfrm>
            <a:off x="7772400" y="4823460"/>
            <a:ext cx="1005840" cy="32004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 / 9</a:t>
            </a:r>
            <a:endParaRPr lang="en-US" sz="900" dirty="0"/>
          </a:p>
        </p:txBody>
      </p:sp>
      <p:sp>
        <p:nvSpPr>
          <p:cNvPr id="7" name="Text 5"/>
          <p:cNvSpPr/>
          <p:nvPr/>
        </p:nvSpPr>
        <p:spPr>
          <a:xfrm>
            <a:off x="365760" y="855231"/>
            <a:ext cx="8412480" cy="320040"/>
          </a:xfrm>
          <a:prstGeom prst="rect">
            <a:avLst/>
          </a:prstGeom>
          <a:noFill/>
          <a:ln/>
        </p:spPr>
        <p:txBody>
          <a:bodyPr wrap="square" rtlCol="0" anchor="ctr"/>
          <a:lstStyle/>
          <a:p>
            <a:r>
              <a:rPr lang="en-US" sz="1600" b="1" dirty="0">
                <a:solidFill>
                  <a:srgbClr val="1A3A5C"/>
                </a:solidFill>
                <a:latin typeface="Cambria" pitchFamily="34" charset="0"/>
                <a:ea typeface="Cambria" pitchFamily="34" charset="-122"/>
                <a:cs typeface="Cambria" pitchFamily="34" charset="-120"/>
              </a:rPr>
              <a:t>Principe : </a:t>
            </a:r>
            <a:r>
              <a:rPr lang="en-US" sz="1600" dirty="0">
                <a:solidFill>
                  <a:srgbClr val="1A1A2E"/>
                </a:solidFill>
                <a:latin typeface="Calibri" pitchFamily="34" charset="0"/>
                <a:ea typeface="Calibri" pitchFamily="34" charset="-122"/>
                <a:cs typeface="Calibri" pitchFamily="34" charset="-120"/>
              </a:rPr>
              <a:t>Le fait de </a:t>
            </a:r>
            <a:r>
              <a:rPr lang="en-US" sz="1600" dirty="0" err="1">
                <a:solidFill>
                  <a:srgbClr val="1A1A2E"/>
                </a:solidFill>
                <a:latin typeface="Calibri" pitchFamily="34" charset="0"/>
                <a:ea typeface="Calibri" pitchFamily="34" charset="-122"/>
                <a:cs typeface="Calibri" pitchFamily="34" charset="-120"/>
              </a:rPr>
              <a:t>participer</a:t>
            </a:r>
            <a:r>
              <a:rPr lang="en-US" sz="1600" dirty="0">
                <a:solidFill>
                  <a:srgbClr val="1A1A2E"/>
                </a:solidFill>
                <a:latin typeface="Calibri" pitchFamily="34" charset="0"/>
                <a:ea typeface="Calibri" pitchFamily="34" charset="-122"/>
                <a:cs typeface="Calibri" pitchFamily="34" charset="-120"/>
              </a:rPr>
              <a:t> au </a:t>
            </a:r>
            <a:r>
              <a:rPr lang="en-US" sz="1600" dirty="0" err="1">
                <a:solidFill>
                  <a:srgbClr val="1A1A2E"/>
                </a:solidFill>
                <a:latin typeface="Calibri" pitchFamily="34" charset="0"/>
                <a:ea typeface="Calibri" pitchFamily="34" charset="-122"/>
                <a:cs typeface="Calibri" pitchFamily="34" charset="-120"/>
              </a:rPr>
              <a:t>projet</a:t>
            </a:r>
            <a:r>
              <a:rPr lang="en-US" sz="1600" dirty="0">
                <a:solidFill>
                  <a:srgbClr val="1A1A2E"/>
                </a:solidFill>
                <a:latin typeface="Calibri" pitchFamily="34" charset="0"/>
                <a:ea typeface="Calibri" pitchFamily="34" charset="-122"/>
                <a:cs typeface="Calibri" pitchFamily="34" charset="-120"/>
              </a:rPr>
              <a:t> </a:t>
            </a:r>
            <a:r>
              <a:rPr lang="en-US" sz="1600" dirty="0" err="1">
                <a:solidFill>
                  <a:srgbClr val="1A1A2E"/>
                </a:solidFill>
                <a:latin typeface="Calibri" pitchFamily="34" charset="0"/>
                <a:ea typeface="Calibri" pitchFamily="34" charset="-122"/>
                <a:cs typeface="Calibri" pitchFamily="34" charset="-120"/>
              </a:rPr>
              <a:t>ou</a:t>
            </a:r>
            <a:r>
              <a:rPr lang="en-US" sz="1600" dirty="0">
                <a:solidFill>
                  <a:srgbClr val="1A1A2E"/>
                </a:solidFill>
                <a:latin typeface="Calibri" pitchFamily="34" charset="0"/>
                <a:ea typeface="Calibri" pitchFamily="34" charset="-122"/>
                <a:cs typeface="Calibri" pitchFamily="34" charset="-120"/>
              </a:rPr>
              <a:t> non </a:t>
            </a:r>
            <a:r>
              <a:rPr lang="en-US" sz="1600" dirty="0" err="1">
                <a:solidFill>
                  <a:srgbClr val="1A1A2E"/>
                </a:solidFill>
                <a:latin typeface="Calibri" pitchFamily="34" charset="0"/>
                <a:ea typeface="Calibri" pitchFamily="34" charset="-122"/>
                <a:cs typeface="Calibri" pitchFamily="34" charset="-120"/>
              </a:rPr>
              <a:t>est</a:t>
            </a:r>
            <a:r>
              <a:rPr lang="en-US" sz="1600" dirty="0">
                <a:solidFill>
                  <a:srgbClr val="1A1A2E"/>
                </a:solidFill>
                <a:latin typeface="Calibri" pitchFamily="34" charset="0"/>
                <a:ea typeface="Calibri" pitchFamily="34" charset="-122"/>
                <a:cs typeface="Calibri" pitchFamily="34" charset="-120"/>
              </a:rPr>
              <a:t> </a:t>
            </a:r>
            <a:r>
              <a:rPr lang="en-US" sz="1600" dirty="0" err="1">
                <a:solidFill>
                  <a:srgbClr val="1A1A2E"/>
                </a:solidFill>
                <a:latin typeface="Calibri" pitchFamily="34" charset="0"/>
                <a:ea typeface="Calibri" pitchFamily="34" charset="-122"/>
                <a:cs typeface="Calibri" pitchFamily="34" charset="-120"/>
              </a:rPr>
              <a:t>défini</a:t>
            </a:r>
            <a:r>
              <a:rPr lang="en-US" sz="1600" dirty="0">
                <a:solidFill>
                  <a:srgbClr val="1A1A2E"/>
                </a:solidFill>
                <a:latin typeface="Calibri" pitchFamily="34" charset="0"/>
                <a:ea typeface="Calibri" pitchFamily="34" charset="-122"/>
                <a:cs typeface="Calibri" pitchFamily="34" charset="-120"/>
              </a:rPr>
              <a:t> de façon </a:t>
            </a:r>
            <a:r>
              <a:rPr lang="en-US" sz="1600" dirty="0" err="1">
                <a:solidFill>
                  <a:srgbClr val="1A1A2E"/>
                </a:solidFill>
                <a:latin typeface="Calibri" pitchFamily="34" charset="0"/>
                <a:ea typeface="Calibri" pitchFamily="34" charset="-122"/>
                <a:cs typeface="Calibri" pitchFamily="34" charset="-120"/>
              </a:rPr>
              <a:t>aléatoire</a:t>
            </a:r>
            <a:r>
              <a:rPr lang="en-US" sz="1600" dirty="0">
                <a:solidFill>
                  <a:srgbClr val="1A1A2E"/>
                </a:solidFill>
                <a:latin typeface="Calibri" pitchFamily="34" charset="0"/>
                <a:ea typeface="Calibri" pitchFamily="34" charset="-122"/>
                <a:cs typeface="Calibri" pitchFamily="34" charset="-120"/>
              </a:rPr>
              <a:t> (ex. </a:t>
            </a:r>
            <a:r>
              <a:rPr lang="en-US" sz="1600" dirty="0" err="1">
                <a:solidFill>
                  <a:srgbClr val="1A1A2E"/>
                </a:solidFill>
                <a:latin typeface="Calibri" pitchFamily="34" charset="0"/>
                <a:ea typeface="Calibri" pitchFamily="34" charset="-122"/>
                <a:cs typeface="Calibri" pitchFamily="34" charset="-120"/>
              </a:rPr>
              <a:t>loterie</a:t>
            </a:r>
            <a:r>
              <a:rPr lang="en-US" sz="1600" dirty="0">
                <a:solidFill>
                  <a:srgbClr val="1A1A2E"/>
                </a:solidFill>
                <a:latin typeface="Calibri" pitchFamily="34" charset="0"/>
                <a:ea typeface="Calibri" pitchFamily="34" charset="-122"/>
                <a:cs typeface="Calibri" pitchFamily="34" charset="-120"/>
              </a:rPr>
              <a:t>).</a:t>
            </a:r>
          </a:p>
          <a:p>
            <a:pPr marL="0" indent="0">
              <a:buNone/>
            </a:pPr>
            <a:endParaRPr lang="en-US" sz="1600" dirty="0"/>
          </a:p>
        </p:txBody>
      </p:sp>
      <p:sp>
        <p:nvSpPr>
          <p:cNvPr id="8" name="Text 6"/>
          <p:cNvSpPr/>
          <p:nvPr/>
        </p:nvSpPr>
        <p:spPr>
          <a:xfrm>
            <a:off x="365760" y="1143000"/>
            <a:ext cx="8412480" cy="457200"/>
          </a:xfrm>
          <a:prstGeom prst="rect">
            <a:avLst/>
          </a:prstGeom>
          <a:noFill/>
          <a:ln/>
        </p:spPr>
        <p:txBody>
          <a:bodyPr wrap="square" rtlCol="0" anchor="ctr"/>
          <a:lstStyle/>
          <a:p>
            <a:pPr marL="0" indent="0">
              <a:buNone/>
            </a:pPr>
            <a:endParaRPr lang="en-US" sz="1600" dirty="0">
              <a:solidFill>
                <a:srgbClr val="1A1A2E"/>
              </a:solidFill>
              <a:latin typeface="Calibri" pitchFamily="34" charset="0"/>
              <a:ea typeface="Calibri" pitchFamily="34" charset="-122"/>
              <a:cs typeface="Calibri" pitchFamily="34" charset="-120"/>
            </a:endParaRPr>
          </a:p>
          <a:p>
            <a:pPr marL="0" indent="0">
              <a:buNone/>
            </a:pPr>
            <a:r>
              <a:rPr lang="fr-FR" sz="1600" dirty="0">
                <a:solidFill>
                  <a:srgbClr val="1A1A2E"/>
                </a:solidFill>
                <a:latin typeface="Calibri" pitchFamily="34" charset="0"/>
                <a:ea typeface="Calibri" pitchFamily="34" charset="-122"/>
                <a:cs typeface="Calibri" pitchFamily="34" charset="-120"/>
              </a:rPr>
              <a:t>Deux groupes sont aléatoirement choisis au sein d’une population “homogène”</a:t>
            </a:r>
            <a:endParaRPr lang="en-US" sz="1600" dirty="0">
              <a:solidFill>
                <a:srgbClr val="1A1A2E"/>
              </a:solidFill>
              <a:latin typeface="Calibri" pitchFamily="34" charset="0"/>
              <a:ea typeface="Calibri" pitchFamily="34" charset="-122"/>
              <a:cs typeface="Calibri" pitchFamily="34" charset="-120"/>
            </a:endParaRPr>
          </a:p>
        </p:txBody>
      </p:sp>
      <p:sp>
        <p:nvSpPr>
          <p:cNvPr id="9" name="Shape 7"/>
          <p:cNvSpPr/>
          <p:nvPr/>
        </p:nvSpPr>
        <p:spPr>
          <a:xfrm>
            <a:off x="365760" y="2019241"/>
            <a:ext cx="3931920" cy="1645920"/>
          </a:xfrm>
          <a:prstGeom prst="roundRect">
            <a:avLst>
              <a:gd name="adj" fmla="val 5556"/>
            </a:avLst>
          </a:prstGeom>
          <a:solidFill>
            <a:srgbClr val="E8F5E9"/>
          </a:solidFill>
          <a:ln w="19050">
            <a:solidFill>
              <a:srgbClr val="2E7D32"/>
            </a:solidFill>
            <a:prstDash val="solid"/>
          </a:ln>
        </p:spPr>
      </p:sp>
      <p:sp>
        <p:nvSpPr>
          <p:cNvPr id="10" name="Text 8"/>
          <p:cNvSpPr/>
          <p:nvPr/>
        </p:nvSpPr>
        <p:spPr>
          <a:xfrm>
            <a:off x="548640" y="2193183"/>
            <a:ext cx="3566160" cy="365760"/>
          </a:xfrm>
          <a:prstGeom prst="rect">
            <a:avLst/>
          </a:prstGeom>
          <a:noFill/>
          <a:ln/>
        </p:spPr>
        <p:txBody>
          <a:bodyPr wrap="square" rtlCol="0" anchor="ctr"/>
          <a:lstStyle/>
          <a:p>
            <a:pPr marL="0" indent="0">
              <a:buNone/>
            </a:pPr>
            <a:r>
              <a:rPr lang="en-US" sz="1600" b="1" dirty="0">
                <a:solidFill>
                  <a:srgbClr val="2E7D32"/>
                </a:solidFill>
                <a:latin typeface="Cambria" pitchFamily="34" charset="0"/>
                <a:ea typeface="Cambria" pitchFamily="34" charset="-122"/>
                <a:cs typeface="Cambria" pitchFamily="34" charset="-120"/>
              </a:rPr>
              <a:t>Groupe de traitement</a:t>
            </a:r>
            <a:endParaRPr lang="en-US" sz="1600" dirty="0"/>
          </a:p>
        </p:txBody>
      </p:sp>
      <p:sp>
        <p:nvSpPr>
          <p:cNvPr id="11" name="Text 9"/>
          <p:cNvSpPr/>
          <p:nvPr/>
        </p:nvSpPr>
        <p:spPr>
          <a:xfrm>
            <a:off x="1010035" y="2558943"/>
            <a:ext cx="3566160" cy="1005840"/>
          </a:xfrm>
          <a:prstGeom prst="rect">
            <a:avLst/>
          </a:prstGeom>
          <a:noFill/>
          <a:ln/>
        </p:spPr>
        <p:txBody>
          <a:bodyPr wrap="square" rtlCol="0" anchor="ctr"/>
          <a:lstStyle/>
          <a:p>
            <a:pPr marL="0" indent="0">
              <a:buNone/>
            </a:pPr>
            <a:r>
              <a:rPr lang="en-US" sz="1600" dirty="0">
                <a:solidFill>
                  <a:srgbClr val="1A1A2E"/>
                </a:solidFill>
                <a:latin typeface="Calibri" pitchFamily="34" charset="0"/>
                <a:ea typeface="Calibri" pitchFamily="34" charset="-122"/>
                <a:cs typeface="Calibri" pitchFamily="34" charset="-120"/>
              </a:rPr>
              <a:t>Bénéficie de l'intervention</a:t>
            </a:r>
            <a:endParaRPr lang="en-US" sz="1600" dirty="0"/>
          </a:p>
          <a:p>
            <a:pPr marL="0" indent="0">
              <a:buNone/>
            </a:pPr>
            <a:r>
              <a:rPr lang="en-US" sz="1600" dirty="0">
                <a:solidFill>
                  <a:srgbClr val="1A1A2E"/>
                </a:solidFill>
                <a:latin typeface="Calibri" pitchFamily="34" charset="0"/>
                <a:ea typeface="Calibri" pitchFamily="34" charset="-122"/>
                <a:cs typeface="Calibri" pitchFamily="34" charset="-120"/>
              </a:rPr>
              <a:t>(vaccin, prêt, formation, statut d'aire protégée…)</a:t>
            </a:r>
            <a:endParaRPr lang="en-US" sz="1600" dirty="0"/>
          </a:p>
        </p:txBody>
      </p:sp>
      <p:sp>
        <p:nvSpPr>
          <p:cNvPr id="12" name="Shape 10"/>
          <p:cNvSpPr/>
          <p:nvPr/>
        </p:nvSpPr>
        <p:spPr>
          <a:xfrm>
            <a:off x="4846320" y="2019241"/>
            <a:ext cx="3931920" cy="1645920"/>
          </a:xfrm>
          <a:prstGeom prst="roundRect">
            <a:avLst>
              <a:gd name="adj" fmla="val 5556"/>
            </a:avLst>
          </a:prstGeom>
          <a:solidFill>
            <a:srgbClr val="FFEBEE"/>
          </a:solidFill>
          <a:ln w="19050">
            <a:solidFill>
              <a:srgbClr val="C0392B"/>
            </a:solidFill>
            <a:prstDash val="solid"/>
          </a:ln>
        </p:spPr>
        <p:txBody>
          <a:bodyPr/>
          <a:lstStyle/>
          <a:p>
            <a:endParaRPr lang="fr-FR" dirty="0"/>
          </a:p>
        </p:txBody>
      </p:sp>
      <p:sp>
        <p:nvSpPr>
          <p:cNvPr id="13" name="Text 11"/>
          <p:cNvSpPr/>
          <p:nvPr/>
        </p:nvSpPr>
        <p:spPr>
          <a:xfrm>
            <a:off x="5029200" y="2193183"/>
            <a:ext cx="3566160" cy="365760"/>
          </a:xfrm>
          <a:prstGeom prst="rect">
            <a:avLst/>
          </a:prstGeom>
          <a:noFill/>
          <a:ln/>
        </p:spPr>
        <p:txBody>
          <a:bodyPr wrap="square" rtlCol="0" anchor="ctr"/>
          <a:lstStyle/>
          <a:p>
            <a:pPr marL="0" indent="0">
              <a:buNone/>
            </a:pPr>
            <a:r>
              <a:rPr lang="en-US" sz="1600" b="1" dirty="0">
                <a:solidFill>
                  <a:srgbClr val="C0392B"/>
                </a:solidFill>
                <a:latin typeface="Cambria" pitchFamily="34" charset="0"/>
                <a:ea typeface="Cambria" pitchFamily="34" charset="-122"/>
                <a:cs typeface="Cambria" pitchFamily="34" charset="-120"/>
              </a:rPr>
              <a:t>Groupe de contrôle</a:t>
            </a:r>
            <a:endParaRPr lang="en-US" sz="1600" dirty="0"/>
          </a:p>
        </p:txBody>
      </p:sp>
      <p:sp>
        <p:nvSpPr>
          <p:cNvPr id="14" name="Text 12"/>
          <p:cNvSpPr/>
          <p:nvPr/>
        </p:nvSpPr>
        <p:spPr>
          <a:xfrm>
            <a:off x="5029200" y="2558943"/>
            <a:ext cx="3566160" cy="1005840"/>
          </a:xfrm>
          <a:prstGeom prst="rect">
            <a:avLst/>
          </a:prstGeom>
          <a:noFill/>
          <a:ln/>
        </p:spPr>
        <p:txBody>
          <a:bodyPr wrap="square" rtlCol="0" anchor="ctr"/>
          <a:lstStyle/>
          <a:p>
            <a:pPr marL="0" indent="0">
              <a:buNone/>
            </a:pPr>
            <a:r>
              <a:rPr lang="en-US" sz="1600" dirty="0">
                <a:solidFill>
                  <a:srgbClr val="1A1A2E"/>
                </a:solidFill>
                <a:latin typeface="Calibri" pitchFamily="34" charset="0"/>
                <a:ea typeface="Calibri" pitchFamily="34" charset="-122"/>
                <a:cs typeface="Calibri" pitchFamily="34" charset="-120"/>
              </a:rPr>
              <a:t>Ne bénéficie pas de l'intervention — sert de contrefactuel.</a:t>
            </a:r>
            <a:endParaRPr lang="en-US" sz="1600" dirty="0"/>
          </a:p>
        </p:txBody>
      </p:sp>
      <p:sp>
        <p:nvSpPr>
          <p:cNvPr id="15" name="Text 13"/>
          <p:cNvSpPr/>
          <p:nvPr/>
        </p:nvSpPr>
        <p:spPr>
          <a:xfrm>
            <a:off x="4297680" y="2650383"/>
            <a:ext cx="548640" cy="548640"/>
          </a:xfrm>
          <a:prstGeom prst="rect">
            <a:avLst/>
          </a:prstGeom>
          <a:noFill/>
          <a:ln/>
        </p:spPr>
        <p:txBody>
          <a:bodyPr wrap="square" rtlCol="0" anchor="ctr"/>
          <a:lstStyle/>
          <a:p>
            <a:pPr marL="0" indent="0" algn="ctr">
              <a:buNone/>
            </a:pPr>
            <a:r>
              <a:rPr lang="en-US" sz="1800" b="1" dirty="0">
                <a:solidFill>
                  <a:srgbClr val="6B7280"/>
                </a:solidFill>
                <a:latin typeface="Cambria" pitchFamily="34" charset="0"/>
                <a:ea typeface="Cambria" pitchFamily="34" charset="-122"/>
                <a:cs typeface="Cambria" pitchFamily="34" charset="-120"/>
              </a:rPr>
              <a:t>vs</a:t>
            </a:r>
            <a:endParaRPr lang="en-US" sz="1800" dirty="0"/>
          </a:p>
        </p:txBody>
      </p:sp>
      <p:sp>
        <p:nvSpPr>
          <p:cNvPr id="16" name="Text 14"/>
          <p:cNvSpPr/>
          <p:nvPr/>
        </p:nvSpPr>
        <p:spPr>
          <a:xfrm>
            <a:off x="365760" y="4003347"/>
            <a:ext cx="8412480" cy="640080"/>
          </a:xfrm>
          <a:prstGeom prst="rect">
            <a:avLst/>
          </a:prstGeom>
          <a:noFill/>
          <a:ln/>
        </p:spPr>
        <p:txBody>
          <a:bodyPr wrap="square" rtlCol="0" anchor="ctr"/>
          <a:lstStyle/>
          <a:p>
            <a:pPr marL="0" indent="0">
              <a:buNone/>
            </a:pPr>
            <a:r>
              <a:rPr lang="en-US" sz="1600" b="1" i="1" dirty="0">
                <a:solidFill>
                  <a:srgbClr val="1A3A5C"/>
                </a:solidFill>
                <a:latin typeface="Calibri" pitchFamily="34" charset="0"/>
                <a:ea typeface="Calibri" pitchFamily="34" charset="-122"/>
                <a:cs typeface="Calibri" pitchFamily="34" charset="-120"/>
              </a:rPr>
              <a:t>Résultat clé : </a:t>
            </a:r>
            <a:r>
              <a:rPr lang="en-US" sz="1600" i="1" dirty="0">
                <a:solidFill>
                  <a:srgbClr val="1A3A5C"/>
                </a:solidFill>
                <a:latin typeface="Calibri" pitchFamily="34" charset="0"/>
                <a:ea typeface="Calibri" pitchFamily="34" charset="-122"/>
                <a:cs typeface="Calibri" pitchFamily="34" charset="-120"/>
              </a:rPr>
              <a:t>L'assignation aléatoire produit deux groupes statistiquement </a:t>
            </a:r>
            <a:r>
              <a:rPr lang="en-US" sz="1600" i="1" dirty="0" err="1">
                <a:solidFill>
                  <a:srgbClr val="1A3A5C"/>
                </a:solidFill>
                <a:latin typeface="Calibri" pitchFamily="34" charset="0"/>
                <a:ea typeface="Calibri" pitchFamily="34" charset="-122"/>
                <a:cs typeface="Calibri" pitchFamily="34" charset="-120"/>
              </a:rPr>
              <a:t>similaires</a:t>
            </a:r>
            <a:r>
              <a:rPr lang="en-US" sz="1600" i="1" dirty="0">
                <a:solidFill>
                  <a:srgbClr val="1A3A5C"/>
                </a:solidFill>
                <a:latin typeface="Calibri" pitchFamily="34" charset="0"/>
                <a:ea typeface="Calibri" pitchFamily="34" charset="-122"/>
                <a:cs typeface="Calibri" pitchFamily="34" charset="-120"/>
              </a:rPr>
              <a:t> (dispersion des observables ET </a:t>
            </a:r>
            <a:r>
              <a:rPr lang="en-US" sz="1600" i="1" dirty="0" err="1">
                <a:solidFill>
                  <a:srgbClr val="1A3A5C"/>
                </a:solidFill>
                <a:latin typeface="Calibri" pitchFamily="34" charset="0"/>
                <a:ea typeface="Calibri" pitchFamily="34" charset="-122"/>
                <a:cs typeface="Calibri" pitchFamily="34" charset="-120"/>
              </a:rPr>
              <a:t>inobservables</a:t>
            </a:r>
            <a:r>
              <a:rPr lang="en-US" sz="1600" i="1" dirty="0">
                <a:solidFill>
                  <a:srgbClr val="1A3A5C"/>
                </a:solidFill>
                <a:latin typeface="Calibri" pitchFamily="34" charset="0"/>
                <a:ea typeface="Calibri" pitchFamily="34" charset="-122"/>
                <a:cs typeface="Calibri" pitchFamily="34" charset="-120"/>
              </a:rPr>
              <a:t> </a:t>
            </a:r>
            <a:r>
              <a:rPr lang="en-US" sz="1600" i="1" dirty="0" err="1">
                <a:solidFill>
                  <a:srgbClr val="1A3A5C"/>
                </a:solidFill>
                <a:latin typeface="Calibri" pitchFamily="34" charset="0"/>
                <a:ea typeface="Calibri" pitchFamily="34" charset="-122"/>
                <a:cs typeface="Calibri" pitchFamily="34" charset="-120"/>
              </a:rPr>
              <a:t>statistiquement</a:t>
            </a:r>
            <a:r>
              <a:rPr lang="en-US" sz="1600" i="1" dirty="0">
                <a:solidFill>
                  <a:srgbClr val="1A3A5C"/>
                </a:solidFill>
                <a:latin typeface="Calibri" pitchFamily="34" charset="0"/>
                <a:ea typeface="Calibri" pitchFamily="34" charset="-122"/>
                <a:cs typeface="Calibri" pitchFamily="34" charset="-120"/>
              </a:rPr>
              <a:t> </a:t>
            </a:r>
            <a:r>
              <a:rPr lang="en-US" sz="1600" i="1" dirty="0" err="1">
                <a:solidFill>
                  <a:srgbClr val="1A3A5C"/>
                </a:solidFill>
                <a:latin typeface="Calibri" pitchFamily="34" charset="0"/>
                <a:ea typeface="Calibri" pitchFamily="34" charset="-122"/>
                <a:cs typeface="Calibri" pitchFamily="34" charset="-120"/>
              </a:rPr>
              <a:t>identiques</a:t>
            </a:r>
            <a:r>
              <a:rPr lang="en-US" sz="1600" i="1" dirty="0">
                <a:solidFill>
                  <a:srgbClr val="1A3A5C"/>
                </a:solidFill>
                <a:latin typeface="Calibri" pitchFamily="34" charset="0"/>
                <a:ea typeface="Calibri" pitchFamily="34" charset="-122"/>
                <a:cs typeface="Calibri" pitchFamily="34" charset="-120"/>
              </a:rPr>
              <a:t>) — si les groupes sont suffisamment importants !</a:t>
            </a:r>
            <a:endParaRPr lang="en-US" sz="1600" dirty="0"/>
          </a:p>
        </p:txBody>
      </p:sp>
      <p:pic>
        <p:nvPicPr>
          <p:cNvPr id="22" name="Image 21">
            <a:extLst>
              <a:ext uri="{FF2B5EF4-FFF2-40B4-BE49-F238E27FC236}">
                <a16:creationId xmlns:a16="http://schemas.microsoft.com/office/drawing/2014/main" id="{8614FE71-E904-F7F7-73FA-F6B06A811141}"/>
              </a:ext>
            </a:extLst>
          </p:cNvPr>
          <p:cNvPicPr>
            <a:picLocks noChangeAspect="1"/>
          </p:cNvPicPr>
          <p:nvPr/>
        </p:nvPicPr>
        <p:blipFill>
          <a:blip r:embed="rId3"/>
          <a:stretch>
            <a:fillRect/>
          </a:stretch>
        </p:blipFill>
        <p:spPr>
          <a:xfrm>
            <a:off x="7651392" y="3107288"/>
            <a:ext cx="1347523" cy="720000"/>
          </a:xfrm>
          <a:prstGeom prst="rect">
            <a:avLst/>
          </a:prstGeom>
        </p:spPr>
      </p:pic>
      <p:pic>
        <p:nvPicPr>
          <p:cNvPr id="24" name="Image 23">
            <a:extLst>
              <a:ext uri="{FF2B5EF4-FFF2-40B4-BE49-F238E27FC236}">
                <a16:creationId xmlns:a16="http://schemas.microsoft.com/office/drawing/2014/main" id="{1842D38C-A67A-7D22-7944-E667216403D4}"/>
              </a:ext>
            </a:extLst>
          </p:cNvPr>
          <p:cNvPicPr>
            <a:picLocks noChangeAspect="1"/>
          </p:cNvPicPr>
          <p:nvPr/>
        </p:nvPicPr>
        <p:blipFill>
          <a:blip r:embed="rId4"/>
          <a:stretch>
            <a:fillRect/>
          </a:stretch>
        </p:blipFill>
        <p:spPr>
          <a:xfrm>
            <a:off x="355" y="3172431"/>
            <a:ext cx="970296" cy="728979"/>
          </a:xfrm>
          <a:prstGeom prst="rect">
            <a:avLst/>
          </a:prstGeom>
        </p:spPr>
      </p:pic>
      <p:sp>
        <p:nvSpPr>
          <p:cNvPr id="25" name="Est égal à 24">
            <a:extLst>
              <a:ext uri="{FF2B5EF4-FFF2-40B4-BE49-F238E27FC236}">
                <a16:creationId xmlns:a16="http://schemas.microsoft.com/office/drawing/2014/main" id="{37E7C313-301C-AAA5-3075-12B4142BDAE1}"/>
              </a:ext>
            </a:extLst>
          </p:cNvPr>
          <p:cNvSpPr/>
          <p:nvPr/>
        </p:nvSpPr>
        <p:spPr>
          <a:xfrm>
            <a:off x="4265640" y="3324409"/>
            <a:ext cx="606480" cy="331814"/>
          </a:xfrm>
          <a:prstGeom prst="mathEqual">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3" grpId="0" animBg="1"/>
      <p:bldP spid="14" grpId="0" animBg="1"/>
      <p:bldP spid="15" grpId="0" animBg="1"/>
      <p:bldP spid="16" grpId="0" animBg="1"/>
      <p:bldP spid="2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Text 1"/>
          <p:cNvSpPr/>
          <p:nvPr/>
        </p:nvSpPr>
        <p:spPr>
          <a:xfrm>
            <a:off x="365760" y="0"/>
            <a:ext cx="4092000" cy="6400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Pourquoi la randomisation ? — L'effet de la taille d'échantillon</a:t>
            </a:r>
            <a:endParaRPr lang="en-US" sz="2000" dirty="0"/>
          </a:p>
        </p:txBody>
      </p:sp>
      <p:sp>
        <p:nvSpPr>
          <p:cNvPr id="4" name="Shape 2"/>
          <p:cNvSpPr/>
          <p:nvPr/>
        </p:nvSpPr>
        <p:spPr>
          <a:xfrm>
            <a:off x="365760" y="4777740"/>
            <a:ext cx="8412480" cy="0"/>
          </a:xfrm>
          <a:prstGeom prst="line">
            <a:avLst/>
          </a:prstGeom>
          <a:noFill/>
          <a:ln w="12700">
            <a:solidFill>
              <a:srgbClr val="1A3A5C"/>
            </a:solidFill>
            <a:prstDash val="solid"/>
          </a:ln>
        </p:spPr>
      </p:sp>
      <p:sp>
        <p:nvSpPr>
          <p:cNvPr id="6" name="Text 4"/>
          <p:cNvSpPr/>
          <p:nvPr/>
        </p:nvSpPr>
        <p:spPr>
          <a:xfrm>
            <a:off x="7772400" y="4823460"/>
            <a:ext cx="1005840" cy="32004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 / 9</a:t>
            </a:r>
            <a:endParaRPr lang="en-US" sz="900" dirty="0"/>
          </a:p>
        </p:txBody>
      </p:sp>
      <p:sp>
        <p:nvSpPr>
          <p:cNvPr id="28" name="Text 26"/>
          <p:cNvSpPr/>
          <p:nvPr/>
        </p:nvSpPr>
        <p:spPr>
          <a:xfrm>
            <a:off x="365760" y="2002138"/>
            <a:ext cx="3526732" cy="502920"/>
          </a:xfrm>
          <a:prstGeom prst="rect">
            <a:avLst/>
          </a:prstGeom>
          <a:noFill/>
          <a:ln/>
        </p:spPr>
        <p:txBody>
          <a:bodyPr wrap="square" rtlCol="0" anchor="ctr"/>
          <a:lstStyle/>
          <a:p>
            <a:pPr marL="0" indent="0">
              <a:buNone/>
            </a:pPr>
            <a:r>
              <a:rPr lang="en-US" sz="1600" b="1" i="1" dirty="0">
                <a:solidFill>
                  <a:srgbClr val="1A3A5C"/>
                </a:solidFill>
                <a:latin typeface="Calibri" pitchFamily="34" charset="0"/>
                <a:ea typeface="Calibri" pitchFamily="34" charset="-122"/>
                <a:cs typeface="Calibri" pitchFamily="34" charset="-120"/>
              </a:rPr>
              <a:t>Tirage au sort de pixels </a:t>
            </a:r>
            <a:r>
              <a:rPr lang="en-US" sz="1600" b="1" i="1" dirty="0" err="1">
                <a:solidFill>
                  <a:srgbClr val="1A3A5C"/>
                </a:solidFill>
                <a:latin typeface="Calibri" pitchFamily="34" charset="0"/>
                <a:ea typeface="Calibri" pitchFamily="34" charset="-122"/>
                <a:cs typeface="Calibri" pitchFamily="34" charset="-120"/>
              </a:rPr>
              <a:t>d’aires</a:t>
            </a:r>
            <a:r>
              <a:rPr lang="en-US" sz="1600" b="1" i="1" dirty="0">
                <a:solidFill>
                  <a:srgbClr val="1A3A5C"/>
                </a:solidFill>
                <a:latin typeface="Calibri" pitchFamily="34" charset="0"/>
                <a:ea typeface="Calibri" pitchFamily="34" charset="-122"/>
                <a:cs typeface="Calibri" pitchFamily="34" charset="-120"/>
              </a:rPr>
              <a:t> protégées et </a:t>
            </a:r>
            <a:r>
              <a:rPr lang="en-US" sz="1600" b="1" i="1" dirty="0" err="1">
                <a:solidFill>
                  <a:srgbClr val="1A3A5C"/>
                </a:solidFill>
                <a:latin typeface="Calibri" pitchFamily="34" charset="0"/>
                <a:ea typeface="Calibri" pitchFamily="34" charset="-122"/>
                <a:cs typeface="Calibri" pitchFamily="34" charset="-120"/>
              </a:rPr>
              <a:t>d’aires</a:t>
            </a:r>
            <a:r>
              <a:rPr lang="en-US" sz="1600" b="1" i="1" dirty="0">
                <a:solidFill>
                  <a:srgbClr val="1A3A5C"/>
                </a:solidFill>
                <a:latin typeface="Calibri" pitchFamily="34" charset="0"/>
                <a:ea typeface="Calibri" pitchFamily="34" charset="-122"/>
                <a:cs typeface="Calibri" pitchFamily="34" charset="-120"/>
              </a:rPr>
              <a:t> non protégées </a:t>
            </a:r>
          </a:p>
          <a:p>
            <a:pPr marL="0" indent="0">
              <a:buNone/>
            </a:pPr>
            <a:endParaRPr lang="en-US" sz="1600" i="1" dirty="0">
              <a:solidFill>
                <a:srgbClr val="1A3A5C"/>
              </a:solidFill>
              <a:latin typeface="Calibri" pitchFamily="34" charset="0"/>
              <a:ea typeface="Calibri" pitchFamily="34" charset="-122"/>
              <a:cs typeface="Calibri" pitchFamily="34" charset="-120"/>
            </a:endParaRPr>
          </a:p>
          <a:p>
            <a:r>
              <a:rPr lang="en-US" sz="1600" b="1" i="1" dirty="0">
                <a:solidFill>
                  <a:srgbClr val="1A3A5C"/>
                </a:solidFill>
                <a:latin typeface="Calibri" pitchFamily="34" charset="0"/>
                <a:ea typeface="Calibri" pitchFamily="34" charset="-122"/>
                <a:cs typeface="Calibri" pitchFamily="34" charset="-120"/>
              </a:rPr>
              <a:t>→ </a:t>
            </a:r>
            <a:r>
              <a:rPr lang="en-US" sz="1600" i="1" dirty="0">
                <a:solidFill>
                  <a:srgbClr val="1A3A5C"/>
                </a:solidFill>
                <a:latin typeface="Calibri" pitchFamily="34" charset="0"/>
                <a:ea typeface="Calibri" pitchFamily="34" charset="-122"/>
                <a:cs typeface="Calibri" pitchFamily="34" charset="-120"/>
              </a:rPr>
              <a:t>Plus l'échantillon est grand, plus les moyennes des deux groupes convergent vers la population totale.</a:t>
            </a:r>
            <a:endParaRPr lang="en-US" sz="1600" dirty="0"/>
          </a:p>
        </p:txBody>
      </p:sp>
      <p:pic>
        <p:nvPicPr>
          <p:cNvPr id="30" name="Image 29">
            <a:extLst>
              <a:ext uri="{FF2B5EF4-FFF2-40B4-BE49-F238E27FC236}">
                <a16:creationId xmlns:a16="http://schemas.microsoft.com/office/drawing/2014/main" id="{FB1E42AA-38FC-53F3-B03C-49AD93B6D8FF}"/>
              </a:ext>
            </a:extLst>
          </p:cNvPr>
          <p:cNvPicPr>
            <a:picLocks noChangeAspect="1"/>
          </p:cNvPicPr>
          <p:nvPr/>
        </p:nvPicPr>
        <p:blipFill>
          <a:blip r:embed="rId3"/>
          <a:srcRect t="2447"/>
          <a:stretch/>
        </p:blipFill>
        <p:spPr>
          <a:xfrm>
            <a:off x="4259780" y="-3775"/>
            <a:ext cx="4850664" cy="5193718"/>
          </a:xfrm>
          <a:prstGeom prst="rect">
            <a:avLst/>
          </a:prstGeom>
        </p:spPr>
      </p:pic>
    </p:spTree>
    <p:extLst>
      <p:ext uri="{BB962C8B-B14F-4D97-AF65-F5344CB8AC3E}">
        <p14:creationId xmlns:p14="http://schemas.microsoft.com/office/powerpoint/2010/main" val="2648947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Text 1"/>
          <p:cNvSpPr/>
          <p:nvPr/>
        </p:nvSpPr>
        <p:spPr>
          <a:xfrm>
            <a:off x="365760" y="0"/>
            <a:ext cx="8412480" cy="6400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Pourquoi la randomisation ? — Justification formelle</a:t>
            </a:r>
            <a:endParaRPr lang="en-US" sz="2000" dirty="0"/>
          </a:p>
        </p:txBody>
      </p:sp>
      <p:sp>
        <p:nvSpPr>
          <p:cNvPr id="4" name="Shape 2"/>
          <p:cNvSpPr/>
          <p:nvPr/>
        </p:nvSpPr>
        <p:spPr>
          <a:xfrm>
            <a:off x="365760" y="4777740"/>
            <a:ext cx="8412480" cy="0"/>
          </a:xfrm>
          <a:prstGeom prst="line">
            <a:avLst/>
          </a:prstGeom>
          <a:noFill/>
          <a:ln w="12700">
            <a:solidFill>
              <a:srgbClr val="1A3A5C"/>
            </a:solidFill>
            <a:prstDash val="solid"/>
          </a:ln>
        </p:spPr>
      </p:sp>
      <p:sp>
        <p:nvSpPr>
          <p:cNvPr id="6" name="Text 4"/>
          <p:cNvSpPr/>
          <p:nvPr/>
        </p:nvSpPr>
        <p:spPr>
          <a:xfrm>
            <a:off x="7772400" y="4823460"/>
            <a:ext cx="1005840" cy="32004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 / 9</a:t>
            </a:r>
            <a:endParaRPr lang="en-US" sz="900" dirty="0"/>
          </a:p>
        </p:txBody>
      </p:sp>
      <p:sp>
        <p:nvSpPr>
          <p:cNvPr id="7" name="Text 5"/>
          <p:cNvSpPr/>
          <p:nvPr/>
        </p:nvSpPr>
        <p:spPr>
          <a:xfrm>
            <a:off x="365760" y="1192639"/>
            <a:ext cx="8412480" cy="640080"/>
          </a:xfrm>
          <a:prstGeom prst="rect">
            <a:avLst/>
          </a:prstGeom>
          <a:noFill/>
          <a:ln/>
        </p:spPr>
        <p:txBody>
          <a:bodyPr wrap="square" rtlCol="0" anchor="ctr"/>
          <a:lstStyle/>
          <a:p>
            <a:pPr marL="0" indent="0">
              <a:buNone/>
            </a:pPr>
            <a:r>
              <a:rPr lang="en-US" sz="1600" dirty="0">
                <a:solidFill>
                  <a:srgbClr val="1A1A2E"/>
                </a:solidFill>
                <a:latin typeface="Calibri" pitchFamily="34" charset="0"/>
                <a:ea typeface="Calibri" pitchFamily="34" charset="-122"/>
                <a:cs typeface="Calibri" pitchFamily="34" charset="-120"/>
              </a:rPr>
              <a:t>En s'appuyant sur deux sous-échantillons tirés aléatoirement, on obtient une distribution similaire des caractéristiques observables et inobservables :</a:t>
            </a:r>
            <a:endParaRPr lang="en-US" sz="1600" dirty="0"/>
          </a:p>
        </p:txBody>
      </p:sp>
      <p:sp>
        <p:nvSpPr>
          <p:cNvPr id="8" name="Shape 6"/>
          <p:cNvSpPr/>
          <p:nvPr/>
        </p:nvSpPr>
        <p:spPr>
          <a:xfrm>
            <a:off x="365760" y="1952538"/>
            <a:ext cx="8412480" cy="1005840"/>
          </a:xfrm>
          <a:prstGeom prst="roundRect">
            <a:avLst>
              <a:gd name="adj" fmla="val 7273"/>
            </a:avLst>
          </a:prstGeom>
          <a:solidFill>
            <a:srgbClr val="F7F9FC"/>
          </a:solidFill>
          <a:ln w="12700">
            <a:solidFill>
              <a:srgbClr val="2E6DA4"/>
            </a:solidFill>
            <a:prstDash val="solid"/>
          </a:ln>
        </p:spPr>
      </p:sp>
      <p:sp>
        <p:nvSpPr>
          <p:cNvPr id="9" name="Text 7"/>
          <p:cNvSpPr/>
          <p:nvPr/>
        </p:nvSpPr>
        <p:spPr>
          <a:xfrm>
            <a:off x="548640" y="2198084"/>
            <a:ext cx="3840480" cy="457200"/>
          </a:xfrm>
          <a:prstGeom prst="rect">
            <a:avLst/>
          </a:prstGeom>
          <a:noFill/>
          <a:ln/>
        </p:spPr>
        <p:txBody>
          <a:bodyPr wrap="square" rtlCol="0" anchor="ctr"/>
          <a:lstStyle/>
          <a:p>
            <a:pPr marL="0" indent="0">
              <a:buNone/>
            </a:pPr>
            <a:r>
              <a:rPr lang="en-US" sz="1600" b="1" dirty="0">
                <a:solidFill>
                  <a:srgbClr val="2E6DA4"/>
                </a:solidFill>
                <a:latin typeface="Cambria" pitchFamily="34" charset="0"/>
                <a:ea typeface="Cambria" pitchFamily="34" charset="-122"/>
                <a:cs typeface="Cambria" pitchFamily="34" charset="-120"/>
              </a:rPr>
              <a:t>E(X | T=1) = E(X | T=0) = E(X)</a:t>
            </a:r>
            <a:endParaRPr lang="en-US" sz="1600" dirty="0"/>
          </a:p>
        </p:txBody>
      </p:sp>
      <p:sp>
        <p:nvSpPr>
          <p:cNvPr id="10" name="Text 8"/>
          <p:cNvSpPr/>
          <p:nvPr/>
        </p:nvSpPr>
        <p:spPr>
          <a:xfrm>
            <a:off x="4572000" y="2043978"/>
            <a:ext cx="4023360" cy="822960"/>
          </a:xfrm>
          <a:prstGeom prst="rect">
            <a:avLst/>
          </a:prstGeom>
          <a:noFill/>
          <a:ln/>
        </p:spPr>
        <p:txBody>
          <a:bodyPr wrap="square" rtlCol="0" anchor="ctr"/>
          <a:lstStyle/>
          <a:p>
            <a:pPr marL="0" indent="0">
              <a:buNone/>
            </a:pPr>
            <a:r>
              <a:rPr lang="en-US" sz="1600" dirty="0">
                <a:solidFill>
                  <a:srgbClr val="1A1A2E"/>
                </a:solidFill>
                <a:latin typeface="Calibri" pitchFamily="34" charset="0"/>
                <a:ea typeface="Calibri" pitchFamily="34" charset="-122"/>
                <a:cs typeface="Calibri" pitchFamily="34" charset="-120"/>
              </a:rPr>
              <a:t>Les caractéristiques </a:t>
            </a:r>
            <a:r>
              <a:rPr lang="en-US" sz="1600" b="1" dirty="0">
                <a:solidFill>
                  <a:srgbClr val="1A1A2E"/>
                </a:solidFill>
                <a:latin typeface="Calibri" pitchFamily="34" charset="0"/>
                <a:ea typeface="Calibri" pitchFamily="34" charset="-122"/>
                <a:cs typeface="Calibri" pitchFamily="34" charset="-120"/>
              </a:rPr>
              <a:t>moyennes</a:t>
            </a:r>
            <a:r>
              <a:rPr lang="en-US" sz="1600" dirty="0">
                <a:solidFill>
                  <a:srgbClr val="1A1A2E"/>
                </a:solidFill>
                <a:latin typeface="Calibri" pitchFamily="34" charset="0"/>
                <a:ea typeface="Calibri" pitchFamily="34" charset="-122"/>
                <a:cs typeface="Calibri" pitchFamily="34" charset="-120"/>
              </a:rPr>
              <a:t> sont identiques dans les deux groupes.</a:t>
            </a:r>
            <a:endParaRPr lang="en-US" sz="1600" dirty="0"/>
          </a:p>
        </p:txBody>
      </p:sp>
      <p:sp>
        <p:nvSpPr>
          <p:cNvPr id="11" name="Shape 9"/>
          <p:cNvSpPr/>
          <p:nvPr/>
        </p:nvSpPr>
        <p:spPr>
          <a:xfrm>
            <a:off x="365760" y="3020037"/>
            <a:ext cx="8412480" cy="1005840"/>
          </a:xfrm>
          <a:prstGeom prst="roundRect">
            <a:avLst>
              <a:gd name="adj" fmla="val 7273"/>
            </a:avLst>
          </a:prstGeom>
          <a:solidFill>
            <a:srgbClr val="F7F9FC"/>
          </a:solidFill>
          <a:ln w="12700">
            <a:solidFill>
              <a:srgbClr val="2E6DA4"/>
            </a:solidFill>
            <a:prstDash val="solid"/>
          </a:ln>
        </p:spPr>
      </p:sp>
      <p:sp>
        <p:nvSpPr>
          <p:cNvPr id="12" name="Text 10"/>
          <p:cNvSpPr/>
          <p:nvPr/>
        </p:nvSpPr>
        <p:spPr>
          <a:xfrm>
            <a:off x="548640" y="3047469"/>
            <a:ext cx="3840480" cy="457200"/>
          </a:xfrm>
          <a:prstGeom prst="rect">
            <a:avLst/>
          </a:prstGeom>
          <a:noFill/>
          <a:ln/>
        </p:spPr>
        <p:txBody>
          <a:bodyPr wrap="square" rtlCol="0" anchor="ctr"/>
          <a:lstStyle/>
          <a:p>
            <a:pPr marL="0" indent="0">
              <a:buNone/>
            </a:pPr>
            <a:r>
              <a:rPr lang="en-US" sz="1600" b="1" dirty="0">
                <a:solidFill>
                  <a:srgbClr val="2E6DA4"/>
                </a:solidFill>
                <a:latin typeface="Cambria" pitchFamily="34" charset="0"/>
                <a:ea typeface="Cambria" pitchFamily="34" charset="-122"/>
                <a:cs typeface="Cambria" pitchFamily="34" charset="-120"/>
              </a:rPr>
              <a:t>E(Y₀ | T=0) = E(Y₀ | T=1) = E(Y₀)</a:t>
            </a:r>
            <a:endParaRPr lang="en-US" sz="1600" dirty="0"/>
          </a:p>
        </p:txBody>
      </p:sp>
      <p:sp>
        <p:nvSpPr>
          <p:cNvPr id="13" name="Text 11"/>
          <p:cNvSpPr/>
          <p:nvPr/>
        </p:nvSpPr>
        <p:spPr>
          <a:xfrm>
            <a:off x="4572000" y="3106192"/>
            <a:ext cx="4023360" cy="822960"/>
          </a:xfrm>
          <a:prstGeom prst="rect">
            <a:avLst/>
          </a:prstGeom>
          <a:noFill/>
          <a:ln/>
        </p:spPr>
        <p:txBody>
          <a:bodyPr wrap="square" rtlCol="0" anchor="ctr"/>
          <a:lstStyle/>
          <a:p>
            <a:pPr marL="0" indent="0">
              <a:buNone/>
            </a:pPr>
            <a:r>
              <a:rPr lang="en-US" sz="1600" dirty="0">
                <a:solidFill>
                  <a:srgbClr val="1A1A2E"/>
                </a:solidFill>
                <a:latin typeface="Calibri" pitchFamily="34" charset="0"/>
                <a:ea typeface="Calibri" pitchFamily="34" charset="-122"/>
                <a:cs typeface="Calibri" pitchFamily="34" charset="-120"/>
              </a:rPr>
              <a:t>En l'absence du programme, les résultats auraient </a:t>
            </a:r>
            <a:r>
              <a:rPr lang="en-US" sz="1600" dirty="0" err="1">
                <a:solidFill>
                  <a:srgbClr val="1A1A2E"/>
                </a:solidFill>
                <a:latin typeface="Calibri" pitchFamily="34" charset="0"/>
                <a:ea typeface="Calibri" pitchFamily="34" charset="-122"/>
                <a:cs typeface="Calibri" pitchFamily="34" charset="-120"/>
              </a:rPr>
              <a:t>été</a:t>
            </a:r>
            <a:r>
              <a:rPr lang="en-US" sz="1600" dirty="0">
                <a:solidFill>
                  <a:srgbClr val="1A1A2E"/>
                </a:solidFill>
                <a:latin typeface="Calibri" pitchFamily="34" charset="0"/>
                <a:ea typeface="Calibri" pitchFamily="34" charset="-122"/>
                <a:cs typeface="Calibri" pitchFamily="34" charset="-120"/>
              </a:rPr>
              <a:t> </a:t>
            </a:r>
            <a:r>
              <a:rPr lang="en-US" sz="1600" dirty="0" err="1">
                <a:solidFill>
                  <a:srgbClr val="1A1A2E"/>
                </a:solidFill>
                <a:latin typeface="Calibri" pitchFamily="34" charset="0"/>
                <a:ea typeface="Calibri" pitchFamily="34" charset="-122"/>
                <a:cs typeface="Calibri" pitchFamily="34" charset="-120"/>
              </a:rPr>
              <a:t>identiques</a:t>
            </a:r>
            <a:r>
              <a:rPr lang="en-US" sz="1600" dirty="0">
                <a:solidFill>
                  <a:srgbClr val="1A1A2E"/>
                </a:solidFill>
                <a:latin typeface="Calibri" pitchFamily="34" charset="0"/>
                <a:ea typeface="Calibri" pitchFamily="34" charset="-122"/>
                <a:cs typeface="Calibri" pitchFamily="34" charset="-120"/>
              </a:rPr>
              <a:t>, </a:t>
            </a:r>
            <a:r>
              <a:rPr lang="en-US" sz="1600" b="1" dirty="0" err="1">
                <a:solidFill>
                  <a:srgbClr val="1A1A2E"/>
                </a:solidFill>
                <a:latin typeface="Calibri" pitchFamily="34" charset="0"/>
                <a:ea typeface="Calibri" pitchFamily="34" charset="-122"/>
                <a:cs typeface="Calibri" pitchFamily="34" charset="-120"/>
              </a:rPr>
              <a:t>en</a:t>
            </a:r>
            <a:r>
              <a:rPr lang="en-US" sz="1600" b="1" dirty="0">
                <a:solidFill>
                  <a:srgbClr val="1A1A2E"/>
                </a:solidFill>
                <a:latin typeface="Calibri" pitchFamily="34" charset="0"/>
                <a:ea typeface="Calibri" pitchFamily="34" charset="-122"/>
                <a:cs typeface="Calibri" pitchFamily="34" charset="-120"/>
              </a:rPr>
              <a:t> </a:t>
            </a:r>
            <a:r>
              <a:rPr lang="en-US" sz="1600" b="1" dirty="0" err="1">
                <a:solidFill>
                  <a:srgbClr val="1A1A2E"/>
                </a:solidFill>
                <a:latin typeface="Calibri" pitchFamily="34" charset="0"/>
                <a:ea typeface="Calibri" pitchFamily="34" charset="-122"/>
                <a:cs typeface="Calibri" pitchFamily="34" charset="-120"/>
              </a:rPr>
              <a:t>moyenne</a:t>
            </a:r>
            <a:r>
              <a:rPr lang="en-US" sz="1600" dirty="0">
                <a:solidFill>
                  <a:srgbClr val="1A1A2E"/>
                </a:solidFill>
                <a:latin typeface="Calibri" pitchFamily="34" charset="0"/>
                <a:ea typeface="Calibri" pitchFamily="34" charset="-122"/>
                <a:cs typeface="Calibri" pitchFamily="34" charset="-120"/>
              </a:rPr>
              <a:t>, dans les deux groupes (absence de biais de sélection).</a:t>
            </a:r>
            <a:endParaRPr lang="en-US" sz="1600" dirty="0"/>
          </a:p>
        </p:txBody>
      </p:sp>
      <p:sp>
        <p:nvSpPr>
          <p:cNvPr id="14" name="Shape 12"/>
          <p:cNvSpPr/>
          <p:nvPr/>
        </p:nvSpPr>
        <p:spPr>
          <a:xfrm>
            <a:off x="365760" y="4082083"/>
            <a:ext cx="8412480" cy="640080"/>
          </a:xfrm>
          <a:prstGeom prst="roundRect">
            <a:avLst>
              <a:gd name="adj" fmla="val 11429"/>
            </a:avLst>
          </a:prstGeom>
          <a:solidFill>
            <a:srgbClr val="D6E4F0"/>
          </a:solidFill>
          <a:ln w="12700">
            <a:solidFill>
              <a:srgbClr val="1A3A5C"/>
            </a:solidFill>
            <a:prstDash val="solid"/>
          </a:ln>
        </p:spPr>
      </p:sp>
      <p:sp>
        <p:nvSpPr>
          <p:cNvPr id="15" name="Text 13"/>
          <p:cNvSpPr/>
          <p:nvPr/>
        </p:nvSpPr>
        <p:spPr>
          <a:xfrm>
            <a:off x="548640" y="4082083"/>
            <a:ext cx="8229600" cy="640080"/>
          </a:xfrm>
          <a:prstGeom prst="rect">
            <a:avLst/>
          </a:prstGeom>
          <a:noFill/>
          <a:ln/>
        </p:spPr>
        <p:txBody>
          <a:bodyPr wrap="square" rtlCol="0" anchor="ctr"/>
          <a:lstStyle/>
          <a:p>
            <a:pPr marL="0" indent="0">
              <a:buNone/>
            </a:pPr>
            <a:r>
              <a:rPr lang="en-US" sz="1600" b="1" dirty="0">
                <a:solidFill>
                  <a:srgbClr val="1A3A5C"/>
                </a:solidFill>
                <a:latin typeface="Cambria" pitchFamily="34" charset="0"/>
                <a:ea typeface="Cambria" pitchFamily="34" charset="-122"/>
                <a:cs typeface="Cambria" pitchFamily="34" charset="-120"/>
              </a:rPr>
              <a:t>→ Le groupe de contrôle devient un contrefactuel pertinent. L'effet moyen se mesure par : E(Yᵢ | Tᵢ=1) − E(Yᵢ | Tᵢ=0)</a:t>
            </a:r>
            <a:endParaRPr lang="en-US" sz="1600" dirty="0"/>
          </a:p>
        </p:txBody>
      </p:sp>
      <p:sp>
        <p:nvSpPr>
          <p:cNvPr id="16" name="ZoneTexte 15">
            <a:extLst>
              <a:ext uri="{FF2B5EF4-FFF2-40B4-BE49-F238E27FC236}">
                <a16:creationId xmlns:a16="http://schemas.microsoft.com/office/drawing/2014/main" id="{3E573B6F-D95B-7004-DCE8-A65386B1DD5A}"/>
              </a:ext>
            </a:extLst>
          </p:cNvPr>
          <p:cNvSpPr txBox="1"/>
          <p:nvPr/>
        </p:nvSpPr>
        <p:spPr>
          <a:xfrm>
            <a:off x="332204" y="607864"/>
            <a:ext cx="8479592" cy="584775"/>
          </a:xfrm>
          <a:prstGeom prst="rect">
            <a:avLst/>
          </a:prstGeom>
          <a:noFill/>
        </p:spPr>
        <p:txBody>
          <a:bodyPr wrap="square" rtlCol="0">
            <a:spAutoFit/>
          </a:bodyPr>
          <a:lstStyle/>
          <a:p>
            <a:r>
              <a:rPr lang="fr-FR" sz="1600" dirty="0"/>
              <a:t>Economistes qui ont contribué à introduire le RCT pour mesurer l’impact de politiques de développement: </a:t>
            </a:r>
            <a:r>
              <a:rPr lang="fr-FR" sz="1600" b="1" dirty="0"/>
              <a:t>Michael Kremer, Esther Duflo, Abhijit Banerjee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0" grpId="0" animBg="1"/>
      <p:bldP spid="12" grpId="0" animBg="1"/>
      <p:bldP spid="13"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Text 1"/>
          <p:cNvSpPr/>
          <p:nvPr/>
        </p:nvSpPr>
        <p:spPr>
          <a:xfrm>
            <a:off x="365760" y="0"/>
            <a:ext cx="8412480" cy="6400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Estimation de l'effet moyen du traitement</a:t>
            </a:r>
            <a:endParaRPr lang="en-US" sz="2000" dirty="0"/>
          </a:p>
        </p:txBody>
      </p:sp>
      <p:sp>
        <p:nvSpPr>
          <p:cNvPr id="4" name="Shape 2"/>
          <p:cNvSpPr/>
          <p:nvPr/>
        </p:nvSpPr>
        <p:spPr>
          <a:xfrm>
            <a:off x="365760" y="4777740"/>
            <a:ext cx="8412480" cy="0"/>
          </a:xfrm>
          <a:prstGeom prst="line">
            <a:avLst/>
          </a:prstGeom>
          <a:noFill/>
          <a:ln w="12700">
            <a:solidFill>
              <a:srgbClr val="1A3A5C"/>
            </a:solidFill>
            <a:prstDash val="solid"/>
          </a:ln>
        </p:spPr>
      </p:sp>
      <p:sp>
        <p:nvSpPr>
          <p:cNvPr id="6" name="Text 4"/>
          <p:cNvSpPr/>
          <p:nvPr/>
        </p:nvSpPr>
        <p:spPr>
          <a:xfrm>
            <a:off x="7772400" y="4823460"/>
            <a:ext cx="1005840" cy="32004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 / 9</a:t>
            </a:r>
            <a:endParaRPr lang="en-US" sz="900" dirty="0"/>
          </a:p>
        </p:txBody>
      </p:sp>
      <p:sp>
        <p:nvSpPr>
          <p:cNvPr id="7" name="Text 5"/>
          <p:cNvSpPr/>
          <p:nvPr/>
        </p:nvSpPr>
        <p:spPr>
          <a:xfrm>
            <a:off x="365760" y="822960"/>
            <a:ext cx="8412480" cy="365760"/>
          </a:xfrm>
          <a:prstGeom prst="rect">
            <a:avLst/>
          </a:prstGeom>
          <a:noFill/>
          <a:ln/>
        </p:spPr>
        <p:txBody>
          <a:bodyPr wrap="square" rtlCol="0" anchor="ctr"/>
          <a:lstStyle/>
          <a:p>
            <a:pPr marL="0" indent="0">
              <a:buNone/>
            </a:pPr>
            <a:r>
              <a:rPr lang="en-US" sz="1400" b="1" dirty="0">
                <a:solidFill>
                  <a:srgbClr val="1A3A5C"/>
                </a:solidFill>
                <a:latin typeface="Cambria" pitchFamily="34" charset="0"/>
                <a:ea typeface="Cambria" pitchFamily="34" charset="-122"/>
                <a:cs typeface="Cambria" pitchFamily="34" charset="-120"/>
              </a:rPr>
              <a:t>Deux méthodes équivalentes :</a:t>
            </a:r>
            <a:endParaRPr lang="en-US" sz="1400" dirty="0"/>
          </a:p>
        </p:txBody>
      </p:sp>
      <p:sp>
        <p:nvSpPr>
          <p:cNvPr id="8" name="Shape 6"/>
          <p:cNvSpPr/>
          <p:nvPr/>
        </p:nvSpPr>
        <p:spPr>
          <a:xfrm>
            <a:off x="365760" y="1280160"/>
            <a:ext cx="4023360" cy="1828800"/>
          </a:xfrm>
          <a:prstGeom prst="roundRect">
            <a:avLst>
              <a:gd name="adj" fmla="val 4000"/>
            </a:avLst>
          </a:prstGeom>
          <a:solidFill>
            <a:srgbClr val="F7F9FC"/>
          </a:solidFill>
          <a:ln w="12700">
            <a:solidFill>
              <a:srgbClr val="2E6DA4"/>
            </a:solidFill>
            <a:prstDash val="solid"/>
          </a:ln>
        </p:spPr>
      </p:sp>
      <p:sp>
        <p:nvSpPr>
          <p:cNvPr id="9" name="Text 7"/>
          <p:cNvSpPr/>
          <p:nvPr/>
        </p:nvSpPr>
        <p:spPr>
          <a:xfrm>
            <a:off x="548640" y="1371600"/>
            <a:ext cx="3657600" cy="365760"/>
          </a:xfrm>
          <a:prstGeom prst="rect">
            <a:avLst/>
          </a:prstGeom>
          <a:noFill/>
          <a:ln/>
        </p:spPr>
        <p:txBody>
          <a:bodyPr wrap="square" rtlCol="0" anchor="ctr"/>
          <a:lstStyle/>
          <a:p>
            <a:pPr marL="0" indent="0">
              <a:buNone/>
            </a:pPr>
            <a:r>
              <a:rPr lang="en-US" sz="1600" b="1" dirty="0">
                <a:solidFill>
                  <a:srgbClr val="1A3A5C"/>
                </a:solidFill>
                <a:latin typeface="Cambria" pitchFamily="34" charset="0"/>
                <a:ea typeface="Cambria" pitchFamily="34" charset="-122"/>
                <a:cs typeface="Cambria" pitchFamily="34" charset="-120"/>
              </a:rPr>
              <a:t>① Différence de moyennes</a:t>
            </a:r>
            <a:endParaRPr lang="en-US" sz="1600" dirty="0"/>
          </a:p>
        </p:txBody>
      </p:sp>
      <p:sp>
        <p:nvSpPr>
          <p:cNvPr id="10" name="Text 8"/>
          <p:cNvSpPr/>
          <p:nvPr/>
        </p:nvSpPr>
        <p:spPr>
          <a:xfrm>
            <a:off x="548640" y="1828800"/>
            <a:ext cx="3657600" cy="502920"/>
          </a:xfrm>
          <a:prstGeom prst="rect">
            <a:avLst/>
          </a:prstGeom>
          <a:noFill/>
          <a:ln/>
        </p:spPr>
        <p:txBody>
          <a:bodyPr wrap="square" rtlCol="0" anchor="ctr"/>
          <a:lstStyle/>
          <a:p>
            <a:pPr marL="0" indent="0" algn="ctr">
              <a:buNone/>
            </a:pPr>
            <a:r>
              <a:rPr lang="en-US" sz="1600" b="1" dirty="0">
                <a:solidFill>
                  <a:srgbClr val="1A3A5C"/>
                </a:solidFill>
                <a:latin typeface="Cambria" pitchFamily="34" charset="0"/>
                <a:ea typeface="Cambria" pitchFamily="34" charset="-122"/>
                <a:cs typeface="Cambria" pitchFamily="34" charset="-120"/>
              </a:rPr>
              <a:t>E(Yᵢ | Tᵢ=1) − E(Yᵢ | Tᵢ=0)  -&gt; </a:t>
            </a:r>
            <a:r>
              <a:rPr lang="en-US" b="1" dirty="0">
                <a:solidFill>
                  <a:srgbClr val="2E6DA4"/>
                </a:solidFill>
                <a:latin typeface="Cambria" pitchFamily="34" charset="0"/>
                <a:ea typeface="Cambria" pitchFamily="34" charset="-122"/>
                <a:cs typeface="Cambria" pitchFamily="34" charset="-120"/>
              </a:rPr>
              <a:t>Ȳ₁ − Ȳ₀</a:t>
            </a:r>
            <a:endParaRPr lang="en-US" dirty="0"/>
          </a:p>
        </p:txBody>
      </p:sp>
      <p:sp>
        <p:nvSpPr>
          <p:cNvPr id="11" name="Text 9"/>
          <p:cNvSpPr/>
          <p:nvPr/>
        </p:nvSpPr>
        <p:spPr>
          <a:xfrm>
            <a:off x="548640" y="2331720"/>
            <a:ext cx="3657600" cy="640080"/>
          </a:xfrm>
          <a:prstGeom prst="rect">
            <a:avLst/>
          </a:prstGeom>
          <a:noFill/>
          <a:ln/>
        </p:spPr>
        <p:txBody>
          <a:bodyPr wrap="square" rtlCol="0" anchor="ctr"/>
          <a:lstStyle/>
          <a:p>
            <a:pPr marL="0" indent="0">
              <a:buNone/>
            </a:pPr>
            <a:r>
              <a:rPr lang="en-US" sz="1600" dirty="0">
                <a:solidFill>
                  <a:srgbClr val="1A1A2E"/>
                </a:solidFill>
                <a:latin typeface="Calibri" pitchFamily="34" charset="0"/>
                <a:ea typeface="Calibri" pitchFamily="34" charset="-122"/>
                <a:cs typeface="Calibri" pitchFamily="34" charset="-120"/>
              </a:rPr>
              <a:t>Différence entre la moyenne du groupe traité et celle du groupe de contrôle.</a:t>
            </a:r>
            <a:endParaRPr lang="en-US" sz="1600" dirty="0"/>
          </a:p>
        </p:txBody>
      </p:sp>
      <p:sp>
        <p:nvSpPr>
          <p:cNvPr id="12" name="Shape 10"/>
          <p:cNvSpPr/>
          <p:nvPr/>
        </p:nvSpPr>
        <p:spPr>
          <a:xfrm>
            <a:off x="4754880" y="1280160"/>
            <a:ext cx="4023360" cy="1828800"/>
          </a:xfrm>
          <a:prstGeom prst="roundRect">
            <a:avLst>
              <a:gd name="adj" fmla="val 4000"/>
            </a:avLst>
          </a:prstGeom>
          <a:solidFill>
            <a:srgbClr val="F7F9FC"/>
          </a:solidFill>
          <a:ln w="12700">
            <a:solidFill>
              <a:srgbClr val="2E6DA4"/>
            </a:solidFill>
            <a:prstDash val="solid"/>
          </a:ln>
        </p:spPr>
      </p:sp>
      <p:sp>
        <p:nvSpPr>
          <p:cNvPr id="13" name="Text 11"/>
          <p:cNvSpPr/>
          <p:nvPr/>
        </p:nvSpPr>
        <p:spPr>
          <a:xfrm>
            <a:off x="4937760" y="1371600"/>
            <a:ext cx="3657600" cy="365760"/>
          </a:xfrm>
          <a:prstGeom prst="rect">
            <a:avLst/>
          </a:prstGeom>
          <a:noFill/>
          <a:ln/>
        </p:spPr>
        <p:txBody>
          <a:bodyPr wrap="square" rtlCol="0" anchor="ctr"/>
          <a:lstStyle/>
          <a:p>
            <a:pPr marL="0" indent="0">
              <a:buNone/>
            </a:pPr>
            <a:r>
              <a:rPr lang="en-US" sz="1600" b="1" dirty="0">
                <a:solidFill>
                  <a:srgbClr val="1A3A5C"/>
                </a:solidFill>
                <a:latin typeface="Cambria" pitchFamily="34" charset="0"/>
                <a:ea typeface="Cambria" pitchFamily="34" charset="-122"/>
                <a:cs typeface="Cambria" pitchFamily="34" charset="-120"/>
              </a:rPr>
              <a:t>② Régression linéaire</a:t>
            </a:r>
            <a:endParaRPr lang="en-US" sz="1600" dirty="0"/>
          </a:p>
        </p:txBody>
      </p:sp>
      <p:sp>
        <p:nvSpPr>
          <p:cNvPr id="14" name="Text 12"/>
          <p:cNvSpPr/>
          <p:nvPr/>
        </p:nvSpPr>
        <p:spPr>
          <a:xfrm>
            <a:off x="4937760" y="1828800"/>
            <a:ext cx="3657600" cy="502920"/>
          </a:xfrm>
          <a:prstGeom prst="rect">
            <a:avLst/>
          </a:prstGeom>
          <a:noFill/>
          <a:ln/>
        </p:spPr>
        <p:txBody>
          <a:bodyPr wrap="square" rtlCol="0" anchor="ctr"/>
          <a:lstStyle/>
          <a:p>
            <a:pPr marL="0" indent="0" algn="ctr">
              <a:buNone/>
            </a:pPr>
            <a:r>
              <a:rPr lang="en-US" sz="1800" b="1" dirty="0">
                <a:solidFill>
                  <a:srgbClr val="2E6DA4"/>
                </a:solidFill>
                <a:latin typeface="Cambria" pitchFamily="34" charset="0"/>
                <a:ea typeface="Cambria" pitchFamily="34" charset="-122"/>
                <a:cs typeface="Cambria" pitchFamily="34" charset="-120"/>
              </a:rPr>
              <a:t>Yᵢ = α + β·Tᵢ + εᵢ</a:t>
            </a:r>
            <a:endParaRPr lang="en-US" sz="1800" dirty="0"/>
          </a:p>
        </p:txBody>
      </p:sp>
      <p:sp>
        <p:nvSpPr>
          <p:cNvPr id="15" name="Text 13"/>
          <p:cNvSpPr/>
          <p:nvPr/>
        </p:nvSpPr>
        <p:spPr>
          <a:xfrm>
            <a:off x="4937760" y="2331720"/>
            <a:ext cx="3657600" cy="685800"/>
          </a:xfrm>
          <a:prstGeom prst="rect">
            <a:avLst/>
          </a:prstGeom>
          <a:noFill/>
          <a:ln/>
        </p:spPr>
        <p:txBody>
          <a:bodyPr wrap="square" rtlCol="0" anchor="ctr"/>
          <a:lstStyle/>
          <a:p>
            <a:pPr marL="0" indent="0">
              <a:buNone/>
            </a:pPr>
            <a:r>
              <a:rPr lang="en-US" sz="1600" b="1" dirty="0">
                <a:solidFill>
                  <a:srgbClr val="1A1A2E"/>
                </a:solidFill>
                <a:latin typeface="Calibri" pitchFamily="34" charset="0"/>
                <a:ea typeface="Calibri" pitchFamily="34" charset="-122"/>
                <a:cs typeface="Calibri" pitchFamily="34" charset="-120"/>
              </a:rPr>
              <a:t>β</a:t>
            </a:r>
            <a:r>
              <a:rPr lang="en-US" sz="1600" dirty="0">
                <a:solidFill>
                  <a:srgbClr val="1A1A2E"/>
                </a:solidFill>
                <a:latin typeface="Calibri" pitchFamily="34" charset="0"/>
                <a:ea typeface="Calibri" pitchFamily="34" charset="-122"/>
                <a:cs typeface="Calibri" pitchFamily="34" charset="-120"/>
              </a:rPr>
              <a:t> : effet moyen du traitement
</a:t>
            </a:r>
            <a:r>
              <a:rPr lang="en-US" sz="1600" b="1" dirty="0">
                <a:solidFill>
                  <a:srgbClr val="1A1A2E"/>
                </a:solidFill>
                <a:latin typeface="Calibri" pitchFamily="34" charset="0"/>
                <a:ea typeface="Calibri" pitchFamily="34" charset="-122"/>
                <a:cs typeface="Calibri" pitchFamily="34" charset="-120"/>
              </a:rPr>
              <a:t>α</a:t>
            </a:r>
            <a:r>
              <a:rPr lang="en-US" sz="1600" dirty="0">
                <a:solidFill>
                  <a:srgbClr val="1A1A2E"/>
                </a:solidFill>
                <a:latin typeface="Calibri" pitchFamily="34" charset="0"/>
                <a:ea typeface="Calibri" pitchFamily="34" charset="-122"/>
                <a:cs typeface="Calibri" pitchFamily="34" charset="-120"/>
              </a:rPr>
              <a:t> : moyenne de Y pour les non-traités
</a:t>
            </a:r>
            <a:r>
              <a:rPr lang="en-US" sz="1600" b="1" dirty="0">
                <a:solidFill>
                  <a:srgbClr val="1A1A2E"/>
                </a:solidFill>
                <a:latin typeface="Calibri" pitchFamily="34" charset="0"/>
                <a:ea typeface="Calibri" pitchFamily="34" charset="-122"/>
                <a:cs typeface="Calibri" pitchFamily="34" charset="-120"/>
              </a:rPr>
              <a:t>εᵢ</a:t>
            </a:r>
            <a:r>
              <a:rPr lang="en-US" sz="1600" dirty="0">
                <a:solidFill>
                  <a:srgbClr val="1A1A2E"/>
                </a:solidFill>
                <a:latin typeface="Calibri" pitchFamily="34" charset="0"/>
                <a:ea typeface="Calibri" pitchFamily="34" charset="-122"/>
                <a:cs typeface="Calibri" pitchFamily="34" charset="-120"/>
              </a:rPr>
              <a:t> : terme d'erreur</a:t>
            </a:r>
            <a:endParaRPr lang="en-US" sz="1600" dirty="0"/>
          </a:p>
        </p:txBody>
      </p:sp>
      <p:sp>
        <p:nvSpPr>
          <p:cNvPr id="16" name="Text 14"/>
          <p:cNvSpPr/>
          <p:nvPr/>
        </p:nvSpPr>
        <p:spPr>
          <a:xfrm>
            <a:off x="365760" y="3337560"/>
            <a:ext cx="8412480" cy="502920"/>
          </a:xfrm>
          <a:prstGeom prst="rect">
            <a:avLst/>
          </a:prstGeom>
          <a:noFill/>
          <a:ln/>
        </p:spPr>
        <p:txBody>
          <a:bodyPr wrap="square" rtlCol="0" anchor="ctr"/>
          <a:lstStyle/>
          <a:p>
            <a:pPr marL="0" indent="0">
              <a:buNone/>
            </a:pPr>
            <a:r>
              <a:rPr lang="en-US" sz="1600" i="1" dirty="0">
                <a:solidFill>
                  <a:srgbClr val="1A3A5C"/>
                </a:solidFill>
                <a:latin typeface="Calibri" pitchFamily="34" charset="0"/>
                <a:ea typeface="Calibri" pitchFamily="34" charset="-122"/>
                <a:cs typeface="Calibri" pitchFamily="34" charset="-120"/>
              </a:rPr>
              <a:t>Les deux approches donnent le même résultat dans le cadre d'un ERC bien conduit.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40080"/>
          </a:xfrm>
          <a:prstGeom prst="rect">
            <a:avLst/>
          </a:prstGeom>
          <a:solidFill>
            <a:srgbClr val="1A3A5C"/>
          </a:solidFill>
          <a:ln w="12700">
            <a:solidFill>
              <a:srgbClr val="1A3A5C"/>
            </a:solidFill>
            <a:prstDash val="solid"/>
          </a:ln>
        </p:spPr>
      </p:sp>
      <p:sp>
        <p:nvSpPr>
          <p:cNvPr id="3" name="Text 1"/>
          <p:cNvSpPr/>
          <p:nvPr/>
        </p:nvSpPr>
        <p:spPr>
          <a:xfrm>
            <a:off x="365760" y="0"/>
            <a:ext cx="8412480" cy="64008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Comment randomiser ? — Processus d'échantillonnage</a:t>
            </a:r>
            <a:endParaRPr lang="en-US" sz="2000" dirty="0"/>
          </a:p>
        </p:txBody>
      </p:sp>
      <p:sp>
        <p:nvSpPr>
          <p:cNvPr id="4" name="Shape 2"/>
          <p:cNvSpPr/>
          <p:nvPr/>
        </p:nvSpPr>
        <p:spPr>
          <a:xfrm>
            <a:off x="365760" y="4777740"/>
            <a:ext cx="8412480" cy="0"/>
          </a:xfrm>
          <a:prstGeom prst="line">
            <a:avLst/>
          </a:prstGeom>
          <a:noFill/>
          <a:ln w="12700">
            <a:solidFill>
              <a:srgbClr val="1A3A5C"/>
            </a:solidFill>
            <a:prstDash val="solid"/>
          </a:ln>
        </p:spPr>
      </p:sp>
      <p:sp>
        <p:nvSpPr>
          <p:cNvPr id="6" name="Text 4"/>
          <p:cNvSpPr/>
          <p:nvPr/>
        </p:nvSpPr>
        <p:spPr>
          <a:xfrm>
            <a:off x="7772400" y="4823460"/>
            <a:ext cx="1005840" cy="32004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 / 9</a:t>
            </a:r>
            <a:endParaRPr lang="en-US" sz="900" dirty="0"/>
          </a:p>
        </p:txBody>
      </p:sp>
      <p:sp>
        <p:nvSpPr>
          <p:cNvPr id="30" name="Text 28"/>
          <p:cNvSpPr/>
          <p:nvPr/>
        </p:nvSpPr>
        <p:spPr>
          <a:xfrm>
            <a:off x="731520" y="4306280"/>
            <a:ext cx="8412480" cy="502920"/>
          </a:xfrm>
          <a:prstGeom prst="rect">
            <a:avLst/>
          </a:prstGeom>
          <a:noFill/>
          <a:ln/>
        </p:spPr>
        <p:txBody>
          <a:bodyPr wrap="square" rtlCol="0" anchor="ctr"/>
          <a:lstStyle/>
          <a:p>
            <a:pPr marL="0" indent="0">
              <a:buNone/>
            </a:pPr>
            <a:r>
              <a:rPr lang="en-US" sz="1400" i="1" dirty="0">
                <a:solidFill>
                  <a:srgbClr val="1A3A5C"/>
                </a:solidFill>
                <a:latin typeface="Calibri" pitchFamily="34" charset="0"/>
                <a:ea typeface="Calibri" pitchFamily="34" charset="-122"/>
                <a:cs typeface="Calibri" pitchFamily="34" charset="-120"/>
              </a:rPr>
              <a:t>Le niveau de randomisation ne peut être inférieur au niveau auquel est assigné le programme.</a:t>
            </a:r>
            <a:endParaRPr lang="en-US" sz="1400" dirty="0"/>
          </a:p>
        </p:txBody>
      </p:sp>
      <p:pic>
        <p:nvPicPr>
          <p:cNvPr id="32" name="Image 31">
            <a:extLst>
              <a:ext uri="{FF2B5EF4-FFF2-40B4-BE49-F238E27FC236}">
                <a16:creationId xmlns:a16="http://schemas.microsoft.com/office/drawing/2014/main" id="{8DA6F9FB-8B90-11B7-ED02-2DBD894C9D22}"/>
              </a:ext>
            </a:extLst>
          </p:cNvPr>
          <p:cNvPicPr>
            <a:picLocks noChangeAspect="1"/>
          </p:cNvPicPr>
          <p:nvPr/>
        </p:nvPicPr>
        <p:blipFill>
          <a:blip r:embed="rId3"/>
          <a:srcRect t="21096"/>
          <a:stretch/>
        </p:blipFill>
        <p:spPr>
          <a:xfrm>
            <a:off x="1809608" y="1442910"/>
            <a:ext cx="5524784" cy="3081565"/>
          </a:xfrm>
          <a:prstGeom prst="rect">
            <a:avLst/>
          </a:prstGeom>
        </p:spPr>
      </p:pic>
      <p:pic>
        <p:nvPicPr>
          <p:cNvPr id="34" name="Image 33">
            <a:extLst>
              <a:ext uri="{FF2B5EF4-FFF2-40B4-BE49-F238E27FC236}">
                <a16:creationId xmlns:a16="http://schemas.microsoft.com/office/drawing/2014/main" id="{CDF7D9AC-D99D-F576-242E-90F845AE3B59}"/>
              </a:ext>
            </a:extLst>
          </p:cNvPr>
          <p:cNvPicPr>
            <a:picLocks noChangeAspect="1"/>
          </p:cNvPicPr>
          <p:nvPr/>
        </p:nvPicPr>
        <p:blipFill>
          <a:blip r:embed="rId4"/>
          <a:stretch>
            <a:fillRect/>
          </a:stretch>
        </p:blipFill>
        <p:spPr>
          <a:xfrm>
            <a:off x="1482437" y="893345"/>
            <a:ext cx="5988358" cy="615982"/>
          </a:xfrm>
          <a:prstGeom prst="rect">
            <a:avLst/>
          </a:prstGeom>
        </p:spPr>
      </p:pic>
      <p:pic>
        <p:nvPicPr>
          <p:cNvPr id="36" name="Image 35">
            <a:extLst>
              <a:ext uri="{FF2B5EF4-FFF2-40B4-BE49-F238E27FC236}">
                <a16:creationId xmlns:a16="http://schemas.microsoft.com/office/drawing/2014/main" id="{0CBFBAF9-F6BC-B126-9920-59EF1E431697}"/>
              </a:ext>
            </a:extLst>
          </p:cNvPr>
          <p:cNvPicPr>
            <a:picLocks noChangeAspect="1"/>
          </p:cNvPicPr>
          <p:nvPr/>
        </p:nvPicPr>
        <p:blipFill>
          <a:blip r:embed="rId5"/>
          <a:stretch>
            <a:fillRect/>
          </a:stretch>
        </p:blipFill>
        <p:spPr>
          <a:xfrm>
            <a:off x="2691471" y="3554013"/>
            <a:ext cx="3257717" cy="361969"/>
          </a:xfrm>
          <a:prstGeom prst="rect">
            <a:avLst/>
          </a:prstGeom>
        </p:spPr>
      </p:pic>
    </p:spTree>
    <p:extLst>
      <p:ext uri="{BB962C8B-B14F-4D97-AF65-F5344CB8AC3E}">
        <p14:creationId xmlns:p14="http://schemas.microsoft.com/office/powerpoint/2010/main" val="25859796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411</TotalTime>
  <Words>2030</Words>
  <Application>Microsoft Office PowerPoint</Application>
  <PresentationFormat>Affichage à l'écran (16:9)</PresentationFormat>
  <Paragraphs>82</Paragraphs>
  <Slides>9</Slides>
  <Notes>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9</vt:i4>
      </vt:variant>
    </vt:vector>
  </HeadingPairs>
  <TitlesOfParts>
    <vt:vector size="13" baseType="lpstr">
      <vt:lpstr>Arial</vt:lpstr>
      <vt:lpstr>Calibri</vt:lpstr>
      <vt:lpstr>Cambria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Expérimentations par assignation aléatoire</dc:title>
  <dc:subject>PptxGenJS Presentation</dc:subject>
  <dc:creator>Florent Bédécarrats &amp; Thomas Thivillon</dc:creator>
  <cp:lastModifiedBy>DALLMANN Ingrid</cp:lastModifiedBy>
  <cp:revision>13</cp:revision>
  <dcterms:created xsi:type="dcterms:W3CDTF">2026-06-16T16:15:08Z</dcterms:created>
  <dcterms:modified xsi:type="dcterms:W3CDTF">2026-06-17T07:10:54Z</dcterms:modified>
</cp:coreProperties>
</file>